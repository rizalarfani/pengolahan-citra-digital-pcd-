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18"/>
  </p:notesMasterIdLst>
  <p:sldIdLst>
    <p:sldId id="256" r:id="rId5"/>
    <p:sldId id="273" r:id="rId6"/>
    <p:sldId id="274" r:id="rId7"/>
    <p:sldId id="275" r:id="rId8"/>
    <p:sldId id="276" r:id="rId9"/>
    <p:sldId id="277" r:id="rId10"/>
    <p:sldId id="278" r:id="rId11"/>
    <p:sldId id="279" r:id="rId12"/>
    <p:sldId id="283" r:id="rId13"/>
    <p:sldId id="280" r:id="rId14"/>
    <p:sldId id="281" r:id="rId15"/>
    <p:sldId id="282" r:id="rId16"/>
    <p:sldId id="272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Welcome" id="{E75E278A-FF0E-49A4-B170-79828D63BBAD}">
          <p14:sldIdLst>
            <p14:sldId id="256"/>
            <p14:sldId id="273"/>
            <p14:sldId id="274"/>
            <p14:sldId id="275"/>
            <p14:sldId id="276"/>
            <p14:sldId id="277"/>
            <p14:sldId id="278"/>
            <p14:sldId id="279"/>
            <p14:sldId id="283"/>
            <p14:sldId id="280"/>
            <p14:sldId id="281"/>
            <p14:sldId id="282"/>
            <p14:sldId id="272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uthor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24726"/>
    <a:srgbClr val="D2B4A6"/>
    <a:srgbClr val="734F29"/>
    <a:srgbClr val="DD462F"/>
    <a:srgbClr val="AEB785"/>
    <a:srgbClr val="EFD5A2"/>
    <a:srgbClr val="3B3026"/>
    <a:srgbClr val="ECE1CA"/>
    <a:srgbClr val="795531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280" autoAdjust="0"/>
  </p:normalViewPr>
  <p:slideViewPr>
    <p:cSldViewPr snapToGrid="0">
      <p:cViewPr varScale="1">
        <p:scale>
          <a:sx n="70" d="100"/>
          <a:sy n="70" d="100"/>
        </p:scale>
        <p:origin x="508" y="4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commentAuthors" Target="comment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C13577B-6902-467D-A26C-08A0DD5E4E03}" type="datetimeFigureOut">
              <a:rPr lang="en-US" smtClean="0"/>
              <a:t>5/17/2022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F61EA0F-A667-4B49-8422-0062BC55E2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19102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61EA0F-A667-4B49-8422-0062BC55E249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17698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12192000" cy="4866468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38200" y="2061006"/>
            <a:ext cx="10515600" cy="2387600"/>
          </a:xfrm>
        </p:spPr>
        <p:txBody>
          <a:bodyPr anchor="b">
            <a:normAutofit/>
          </a:bodyPr>
          <a:lstStyle>
            <a:lvl1pPr algn="l">
              <a:defRPr sz="54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38202" y="5110609"/>
            <a:ext cx="6705599" cy="1137793"/>
          </a:xfrm>
        </p:spPr>
        <p:txBody>
          <a:bodyPr>
            <a:normAutofit/>
          </a:bodyPr>
          <a:lstStyle>
            <a:lvl1pPr marL="0" indent="0" algn="l">
              <a:lnSpc>
                <a:spcPct val="150000"/>
              </a:lnSpc>
              <a:spcBef>
                <a:spcPts val="600"/>
              </a:spcBef>
              <a:buNone/>
              <a:defRPr sz="2800">
                <a:solidFill>
                  <a:srgbClr val="D24726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5/17/2022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0" y="0"/>
            <a:ext cx="12192000" cy="4866468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17185494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4434" y="0"/>
            <a:ext cx="10749367" cy="1208868"/>
          </a:xfrm>
        </p:spPr>
        <p:txBody>
          <a:bodyPr anchor="b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1" y="1825625"/>
            <a:ext cx="4167753" cy="435133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spcAft>
                <a:spcPts val="1200"/>
              </a:spcAft>
              <a:buNone/>
              <a:defRPr sz="1600">
                <a:solidFill>
                  <a:schemeClr val="bg1">
                    <a:lumMod val="50000"/>
                  </a:schemeClr>
                </a:solidFill>
              </a:defRPr>
            </a:lvl1pPr>
            <a:lvl2pPr>
              <a:lnSpc>
                <a:spcPct val="150000"/>
              </a:lnSpc>
              <a:spcAft>
                <a:spcPts val="1200"/>
              </a:spcAft>
              <a:defRPr sz="1400">
                <a:solidFill>
                  <a:schemeClr val="bg1">
                    <a:lumMod val="50000"/>
                  </a:schemeClr>
                </a:solidFill>
              </a:defRPr>
            </a:lvl2pPr>
            <a:lvl3pPr>
              <a:lnSpc>
                <a:spcPct val="150000"/>
              </a:lnSpc>
              <a:spcAft>
                <a:spcPts val="1200"/>
              </a:spcAft>
              <a:defRPr sz="1200">
                <a:solidFill>
                  <a:schemeClr val="bg1">
                    <a:lumMod val="50000"/>
                  </a:schemeClr>
                </a:solidFill>
              </a:defRPr>
            </a:lvl3pPr>
            <a:lvl4pPr>
              <a:lnSpc>
                <a:spcPct val="150000"/>
              </a:lnSpc>
              <a:spcAft>
                <a:spcPts val="1200"/>
              </a:spcAft>
              <a:defRPr sz="1100">
                <a:solidFill>
                  <a:schemeClr val="bg1">
                    <a:lumMod val="50000"/>
                  </a:schemeClr>
                </a:solidFill>
              </a:defRPr>
            </a:lvl4pPr>
            <a:lvl5pPr>
              <a:lnSpc>
                <a:spcPct val="150000"/>
              </a:lnSpc>
              <a:spcAft>
                <a:spcPts val="1200"/>
              </a:spcAft>
              <a:defRPr sz="1100"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5/17/2022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21858365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5656882" y="1709738"/>
            <a:ext cx="6535119" cy="357518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1" y="2402238"/>
            <a:ext cx="4508715" cy="2187227"/>
          </a:xfrm>
        </p:spPr>
        <p:txBody>
          <a:bodyPr anchor="ctr">
            <a:noAutofit/>
          </a:bodyPr>
          <a:lstStyle>
            <a:lvl1pPr algn="l">
              <a:defRPr sz="4800">
                <a:solidFill>
                  <a:srgbClr val="D24726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3308" y="2402237"/>
            <a:ext cx="5269424" cy="2187226"/>
          </a:xfrm>
        </p:spPr>
        <p:txBody>
          <a:bodyPr anchor="ctr">
            <a:normAutofit/>
          </a:bodyPr>
          <a:lstStyle>
            <a:lvl1pPr marL="0" indent="0">
              <a:lnSpc>
                <a:spcPct val="150000"/>
              </a:lnSpc>
              <a:buNone/>
              <a:defRPr sz="280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5/17/2022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5656882" y="1709738"/>
            <a:ext cx="6535119" cy="357518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13356555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"/>
            <a:ext cx="10744200" cy="1228436"/>
          </a:xfrm>
        </p:spPr>
        <p:txBody>
          <a:bodyPr anchor="b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600" smtClean="0">
                <a:solidFill>
                  <a:schemeClr val="bg1">
                    <a:lumMod val="50000"/>
                  </a:schemeClr>
                </a:solidFill>
              </a:defRPr>
            </a:lvl1pPr>
            <a:lvl2pPr>
              <a:defRPr lang="en-US" sz="1400" smtClean="0">
                <a:solidFill>
                  <a:schemeClr val="bg1">
                    <a:lumMod val="50000"/>
                  </a:schemeClr>
                </a:solidFill>
              </a:defRPr>
            </a:lvl2pPr>
            <a:lvl3pPr>
              <a:defRPr lang="en-US" sz="1200" smtClean="0">
                <a:solidFill>
                  <a:schemeClr val="bg1">
                    <a:lumMod val="50000"/>
                  </a:schemeClr>
                </a:solidFill>
              </a:defRPr>
            </a:lvl3pPr>
            <a:lvl4pPr>
              <a:defRPr lang="en-US" sz="1100" smtClean="0">
                <a:solidFill>
                  <a:schemeClr val="bg1">
                    <a:lumMod val="50000"/>
                  </a:schemeClr>
                </a:solidFill>
              </a:defRPr>
            </a:lvl4pPr>
            <a:lvl5pPr>
              <a:defRPr lang="en-US" sz="1100"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marL="0" lvl="0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Click to edit Master text styles</a:t>
            </a:r>
          </a:p>
          <a:p>
            <a:pPr marL="0" lvl="1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Second level</a:t>
            </a:r>
          </a:p>
          <a:p>
            <a:pPr marL="0" lvl="2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Third level</a:t>
            </a:r>
          </a:p>
          <a:p>
            <a:pPr marL="0" lvl="3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Fourth level</a:t>
            </a:r>
          </a:p>
          <a:p>
            <a:pPr marL="0" lvl="4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600" smtClean="0">
                <a:solidFill>
                  <a:schemeClr val="bg1">
                    <a:lumMod val="50000"/>
                  </a:schemeClr>
                </a:solidFill>
              </a:defRPr>
            </a:lvl1pPr>
            <a:lvl2pPr>
              <a:defRPr lang="en-US" sz="1400" smtClean="0">
                <a:solidFill>
                  <a:schemeClr val="bg1">
                    <a:lumMod val="50000"/>
                  </a:schemeClr>
                </a:solidFill>
              </a:defRPr>
            </a:lvl2pPr>
            <a:lvl3pPr>
              <a:defRPr lang="en-US" sz="1200" smtClean="0">
                <a:solidFill>
                  <a:schemeClr val="bg1">
                    <a:lumMod val="50000"/>
                  </a:schemeClr>
                </a:solidFill>
              </a:defRPr>
            </a:lvl3pPr>
            <a:lvl4pPr>
              <a:defRPr lang="en-US" sz="1100" smtClean="0">
                <a:solidFill>
                  <a:schemeClr val="bg1">
                    <a:lumMod val="50000"/>
                  </a:schemeClr>
                </a:solidFill>
              </a:defRPr>
            </a:lvl4pPr>
            <a:lvl5pPr>
              <a:defRPr lang="en-US" sz="1100"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marL="0" lvl="0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Click to edit Master text styles</a:t>
            </a:r>
          </a:p>
          <a:p>
            <a:pPr marL="0" lvl="1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Second level</a:t>
            </a:r>
          </a:p>
          <a:p>
            <a:pPr marL="0" lvl="2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Third level</a:t>
            </a:r>
          </a:p>
          <a:p>
            <a:pPr marL="0" lvl="3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Fourth level</a:t>
            </a:r>
          </a:p>
          <a:p>
            <a:pPr marL="0" lvl="4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5/17/2022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/>
          <p:cNvSpPr/>
          <p:nvPr userDrawn="1"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33282238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0"/>
            <a:ext cx="10737851" cy="1228436"/>
          </a:xfrm>
        </p:spPr>
        <p:txBody>
          <a:bodyPr anchor="b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1489075"/>
            <a:ext cx="5156200" cy="64135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1851" y="2193927"/>
            <a:ext cx="5156200" cy="3978275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600" smtClean="0">
                <a:solidFill>
                  <a:schemeClr val="bg1">
                    <a:lumMod val="50000"/>
                  </a:schemeClr>
                </a:solidFill>
              </a:defRPr>
            </a:lvl1pPr>
            <a:lvl2pPr>
              <a:defRPr lang="en-US" sz="1400" smtClean="0">
                <a:solidFill>
                  <a:schemeClr val="bg1">
                    <a:lumMod val="50000"/>
                  </a:schemeClr>
                </a:solidFill>
              </a:defRPr>
            </a:lvl2pPr>
            <a:lvl3pPr>
              <a:defRPr lang="en-US" sz="1200" smtClean="0">
                <a:solidFill>
                  <a:schemeClr val="bg1">
                    <a:lumMod val="50000"/>
                  </a:schemeClr>
                </a:solidFill>
              </a:defRPr>
            </a:lvl3pPr>
            <a:lvl4pPr>
              <a:defRPr lang="en-US" sz="1100" smtClean="0">
                <a:solidFill>
                  <a:schemeClr val="bg1">
                    <a:lumMod val="50000"/>
                  </a:schemeClr>
                </a:solidFill>
              </a:defRPr>
            </a:lvl4pPr>
            <a:lvl5pPr>
              <a:defRPr lang="en-US" sz="1100"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marL="0" lvl="0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Click to edit Master text styles</a:t>
            </a:r>
          </a:p>
          <a:p>
            <a:pPr marL="0" lvl="1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Second level</a:t>
            </a:r>
          </a:p>
          <a:p>
            <a:pPr marL="0" lvl="2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Third level</a:t>
            </a:r>
          </a:p>
          <a:p>
            <a:pPr marL="0" lvl="3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Fourth level</a:t>
            </a:r>
          </a:p>
          <a:p>
            <a:pPr marL="0" lvl="4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9664" y="1489075"/>
            <a:ext cx="5157787" cy="64135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9664" y="2193927"/>
            <a:ext cx="5157787" cy="3978275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600" smtClean="0">
                <a:solidFill>
                  <a:schemeClr val="bg1">
                    <a:lumMod val="50000"/>
                  </a:schemeClr>
                </a:solidFill>
              </a:defRPr>
            </a:lvl1pPr>
            <a:lvl2pPr>
              <a:defRPr lang="en-US" sz="1400" smtClean="0">
                <a:solidFill>
                  <a:schemeClr val="bg1">
                    <a:lumMod val="50000"/>
                  </a:schemeClr>
                </a:solidFill>
              </a:defRPr>
            </a:lvl2pPr>
            <a:lvl3pPr>
              <a:defRPr lang="en-US" sz="1200" smtClean="0">
                <a:solidFill>
                  <a:schemeClr val="bg1">
                    <a:lumMod val="50000"/>
                  </a:schemeClr>
                </a:solidFill>
              </a:defRPr>
            </a:lvl3pPr>
            <a:lvl4pPr>
              <a:defRPr lang="en-US" sz="1100" smtClean="0">
                <a:solidFill>
                  <a:schemeClr val="bg1">
                    <a:lumMod val="50000"/>
                  </a:schemeClr>
                </a:solidFill>
              </a:defRPr>
            </a:lvl4pPr>
            <a:lvl5pPr>
              <a:defRPr lang="en-US" sz="1100"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marL="0" lvl="0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Click to edit Master text styles</a:t>
            </a:r>
          </a:p>
          <a:p>
            <a:pPr marL="0" lvl="1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Second level</a:t>
            </a:r>
          </a:p>
          <a:p>
            <a:pPr marL="0" lvl="2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Third level</a:t>
            </a:r>
          </a:p>
          <a:p>
            <a:pPr marL="0" lvl="3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Fourth level</a:t>
            </a:r>
          </a:p>
          <a:p>
            <a:pPr marL="0" lvl="4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5/17/2022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Rectangle 10"/>
          <p:cNvSpPr/>
          <p:nvPr userDrawn="1"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36060298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"/>
            <a:ext cx="10744200" cy="1228436"/>
          </a:xfrm>
        </p:spPr>
        <p:txBody>
          <a:bodyPr anchor="b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5/17/2022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 userDrawn="1"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1008144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5/17/2022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74320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7"/>
            <a:ext cx="6172200" cy="4873625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600" smtClean="0">
                <a:solidFill>
                  <a:schemeClr val="bg1">
                    <a:lumMod val="50000"/>
                  </a:schemeClr>
                </a:solidFill>
              </a:defRPr>
            </a:lvl1pPr>
            <a:lvl2pPr>
              <a:defRPr lang="en-US" sz="1400" smtClean="0">
                <a:solidFill>
                  <a:schemeClr val="bg1">
                    <a:lumMod val="50000"/>
                  </a:schemeClr>
                </a:solidFill>
              </a:defRPr>
            </a:lvl2pPr>
            <a:lvl3pPr>
              <a:defRPr lang="en-US" sz="1200" smtClean="0">
                <a:solidFill>
                  <a:schemeClr val="bg1">
                    <a:lumMod val="50000"/>
                  </a:schemeClr>
                </a:solidFill>
              </a:defRPr>
            </a:lvl3pPr>
            <a:lvl4pPr>
              <a:defRPr lang="en-US" sz="1100" smtClean="0">
                <a:solidFill>
                  <a:schemeClr val="bg1">
                    <a:lumMod val="50000"/>
                  </a:schemeClr>
                </a:solidFill>
              </a:defRPr>
            </a:lvl4pPr>
            <a:lvl5pPr>
              <a:defRPr lang="en-US" sz="1100"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marL="0" lvl="0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Click to edit Master text styles</a:t>
            </a:r>
          </a:p>
          <a:p>
            <a:pPr marL="0" lvl="1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Second level</a:t>
            </a:r>
          </a:p>
          <a:p>
            <a:pPr marL="0" lvl="2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Third level</a:t>
            </a:r>
          </a:p>
          <a:p>
            <a:pPr marL="0" lvl="3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Fourth level</a:t>
            </a:r>
          </a:p>
          <a:p>
            <a:pPr marL="0" lvl="4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101850"/>
            <a:ext cx="3932237" cy="37592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5/17/2022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41938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101850"/>
            <a:ext cx="3932237" cy="37592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5/17/2022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10953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"/>
            <a:ext cx="10744200" cy="1228436"/>
          </a:xfrm>
        </p:spPr>
        <p:txBody>
          <a:bodyPr anchor="b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5/17/2022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5969213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0095346" y="0"/>
            <a:ext cx="2096655" cy="6858000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215419" y="365125"/>
            <a:ext cx="1819564" cy="5811838"/>
          </a:xfrm>
        </p:spPr>
        <p:txBody>
          <a:bodyPr vert="eaVert" anchor="b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5/17/2022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10095346" y="0"/>
            <a:ext cx="2096655" cy="6858000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13022666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EEBAAA-29B5-4AF5-BC5F-7E580C29002D}" type="datetimeFigureOut">
              <a:rPr lang="en-US" smtClean="0"/>
              <a:t>5/17/2022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648200" y="63563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077200" y="63563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67549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rizalarfani/Pengolahan-Citra-Digital-PCD-/blob/master/Latihan/Spiting%20vidio%20per%20frame.ipynb" TargetMode="Externa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38202" y="1474041"/>
            <a:ext cx="10515600" cy="2387600"/>
          </a:xfrm>
        </p:spPr>
        <p:txBody>
          <a:bodyPr/>
          <a:lstStyle/>
          <a:p>
            <a:r>
              <a:rPr lang="en-US" b="1" dirty="0" err="1" smtClean="0"/>
              <a:t>Pengolahan</a:t>
            </a:r>
            <a:r>
              <a:rPr lang="en-US" b="1" dirty="0" smtClean="0"/>
              <a:t> Citra Digital</a:t>
            </a:r>
            <a:endParaRPr lang="en-US" b="1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38202" y="5110609"/>
            <a:ext cx="6705599" cy="1588955"/>
          </a:xfrm>
        </p:spPr>
        <p:txBody>
          <a:bodyPr>
            <a:normAutofit/>
          </a:bodyPr>
          <a:lstStyle/>
          <a:p>
            <a:r>
              <a:rPr lang="en-US" dirty="0" err="1" smtClean="0"/>
              <a:t>Oleh</a:t>
            </a:r>
            <a:r>
              <a:rPr lang="en-US" dirty="0" smtClean="0"/>
              <a:t> :</a:t>
            </a:r>
          </a:p>
          <a:p>
            <a:r>
              <a:rPr lang="en-US" dirty="0" smtClean="0"/>
              <a:t>Very </a:t>
            </a:r>
            <a:r>
              <a:rPr lang="en-US" dirty="0" err="1" smtClean="0"/>
              <a:t>Kurnia</a:t>
            </a:r>
            <a:r>
              <a:rPr lang="en-US" dirty="0" smtClean="0"/>
              <a:t> </a:t>
            </a:r>
            <a:r>
              <a:rPr lang="en-US" dirty="0" err="1" smtClean="0"/>
              <a:t>Bakti</a:t>
            </a:r>
            <a:r>
              <a:rPr lang="en-US" dirty="0" smtClean="0"/>
              <a:t>, </a:t>
            </a:r>
            <a:r>
              <a:rPr lang="en-US" dirty="0" err="1" smtClean="0"/>
              <a:t>M.Kom</a:t>
            </a:r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964952" y="3857452"/>
            <a:ext cx="535965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err="1" smtClean="0">
                <a:solidFill>
                  <a:schemeClr val="bg1"/>
                </a:solidFill>
              </a:rPr>
              <a:t>Pengambilan</a:t>
            </a:r>
            <a:r>
              <a:rPr lang="en-US" sz="2400" dirty="0" smtClean="0">
                <a:solidFill>
                  <a:schemeClr val="bg1"/>
                </a:solidFill>
              </a:rPr>
              <a:t> </a:t>
            </a:r>
            <a:r>
              <a:rPr lang="en-US" sz="2400" dirty="0" err="1" smtClean="0">
                <a:solidFill>
                  <a:schemeClr val="bg1"/>
                </a:solidFill>
              </a:rPr>
              <a:t>sampel</a:t>
            </a:r>
            <a:r>
              <a:rPr lang="en-US" sz="2400" dirty="0" smtClean="0">
                <a:solidFill>
                  <a:schemeClr val="bg1"/>
                </a:solidFill>
              </a:rPr>
              <a:t> </a:t>
            </a:r>
            <a:r>
              <a:rPr lang="en-US" sz="2400" i="1" dirty="0" err="1" smtClean="0">
                <a:solidFill>
                  <a:schemeClr val="bg1"/>
                </a:solidFill>
              </a:rPr>
              <a:t>citra</a:t>
            </a:r>
            <a:r>
              <a:rPr lang="en-US" sz="2400" dirty="0" smtClean="0">
                <a:solidFill>
                  <a:schemeClr val="bg1"/>
                </a:solidFill>
              </a:rPr>
              <a:t> </a:t>
            </a:r>
            <a:r>
              <a:rPr lang="en-US" sz="2400" dirty="0" err="1" smtClean="0">
                <a:solidFill>
                  <a:schemeClr val="bg1"/>
                </a:solidFill>
              </a:rPr>
              <a:t>untuk</a:t>
            </a:r>
            <a:r>
              <a:rPr lang="en-US" sz="2400" dirty="0" smtClean="0">
                <a:solidFill>
                  <a:schemeClr val="bg1"/>
                </a:solidFill>
              </a:rPr>
              <a:t> </a:t>
            </a:r>
            <a:r>
              <a:rPr lang="en-US" sz="2400" i="1" dirty="0" err="1" smtClean="0">
                <a:solidFill>
                  <a:schemeClr val="bg1"/>
                </a:solidFill>
              </a:rPr>
              <a:t>Preprosessing</a:t>
            </a:r>
            <a:endParaRPr lang="en-US" sz="2400" i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718077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-18106"/>
            <a:ext cx="10744200" cy="1228436"/>
          </a:xfrm>
        </p:spPr>
        <p:txBody>
          <a:bodyPr/>
          <a:lstStyle/>
          <a:p>
            <a:r>
              <a:rPr lang="en-US" b="1" dirty="0" err="1" smtClean="0">
                <a:latin typeface="+mn-lt"/>
              </a:rPr>
              <a:t>Sudut</a:t>
            </a:r>
            <a:r>
              <a:rPr lang="en-US" b="1" dirty="0" smtClean="0">
                <a:latin typeface="+mn-lt"/>
              </a:rPr>
              <a:t> </a:t>
            </a:r>
            <a:r>
              <a:rPr lang="en-US" b="1" dirty="0" err="1" smtClean="0">
                <a:latin typeface="+mn-lt"/>
              </a:rPr>
              <a:t>pengabilan</a:t>
            </a:r>
            <a:r>
              <a:rPr lang="en-US" b="1" dirty="0">
                <a:latin typeface="+mn-lt"/>
              </a:rPr>
              <a:t> </a:t>
            </a:r>
            <a:r>
              <a:rPr lang="en-US" b="1" dirty="0" err="1" smtClean="0">
                <a:latin typeface="+mn-lt"/>
              </a:rPr>
              <a:t>citra</a:t>
            </a:r>
            <a:endParaRPr lang="en-US" b="1" dirty="0">
              <a:latin typeface="+mn-lt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609600" y="1634661"/>
            <a:ext cx="9711350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sz="2800" i="1" dirty="0" err="1" smtClean="0">
                <a:solidFill>
                  <a:srgbClr val="D2472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Subyektif</a:t>
            </a:r>
            <a:r>
              <a:rPr lang="en-US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 : </a:t>
            </a:r>
            <a:r>
              <a:rPr lang="en-US" sz="28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kamera</a:t>
            </a:r>
            <a:r>
              <a:rPr lang="en-US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dari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sudut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pandang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penonton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yang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dilibatkan</a:t>
            </a:r>
            <a:endParaRPr lang="en-US" sz="28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sz="2800" i="1" dirty="0" err="1" smtClean="0">
                <a:solidFill>
                  <a:srgbClr val="D24726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Obyektif</a:t>
            </a:r>
            <a:r>
              <a:rPr lang="en-US" sz="2800" i="1" dirty="0" smtClean="0">
                <a:solidFill>
                  <a:srgbClr val="D24726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smtClean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: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kamera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dari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sudut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pandang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penonton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outsider,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tidak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dari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sudut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pandang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pemain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tertentu</a:t>
            </a:r>
            <a:endParaRPr lang="en-US" sz="2800" dirty="0" smtClean="0">
              <a:effectLst/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sz="2800" i="1" dirty="0" smtClean="0">
                <a:solidFill>
                  <a:srgbClr val="D24726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Point of view </a:t>
            </a:r>
            <a:r>
              <a:rPr lang="en-US" sz="2800" dirty="0" smtClean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: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gabungan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antara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obyektif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dan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subyektif</a:t>
            </a:r>
            <a:endParaRPr lang="en-US" sz="2800" dirty="0">
              <a:effectLst/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479060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 smtClean="0">
                <a:latin typeface="+mn-lt"/>
              </a:rPr>
              <a:t>Sudut</a:t>
            </a:r>
            <a:r>
              <a:rPr lang="en-US" b="1" dirty="0" smtClean="0">
                <a:latin typeface="+mn-lt"/>
              </a:rPr>
              <a:t> </a:t>
            </a:r>
            <a:r>
              <a:rPr lang="en-US" b="1" dirty="0" err="1" smtClean="0">
                <a:latin typeface="+mn-lt"/>
              </a:rPr>
              <a:t>Kamera</a:t>
            </a:r>
            <a:r>
              <a:rPr lang="en-US" b="1" dirty="0" smtClean="0">
                <a:latin typeface="+mn-lt"/>
              </a:rPr>
              <a:t> </a:t>
            </a:r>
            <a:r>
              <a:rPr lang="en-US" b="1" dirty="0" err="1" smtClean="0">
                <a:latin typeface="+mn-lt"/>
              </a:rPr>
              <a:t>Obyektif</a:t>
            </a:r>
            <a:endParaRPr lang="en-US" b="1" dirty="0">
              <a:latin typeface="+mn-lt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899311" y="2764598"/>
            <a:ext cx="3164562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14350" indent="-514350" algn="just">
              <a:buFont typeface="+mj-lt"/>
              <a:buAutoNum type="arabicPeriod"/>
            </a:pPr>
            <a:r>
              <a:rPr lang="en-US" sz="2800" dirty="0" smtClean="0"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Bird eye view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n-US" sz="2800" dirty="0" smtClean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High angle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n-US" sz="2800" dirty="0" smtClean="0"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Low angle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n-US" sz="2800" dirty="0" smtClean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Eye level 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n-US" sz="2800" dirty="0" smtClean="0"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Frog eye</a:t>
            </a:r>
            <a:endParaRPr lang="en-US" sz="28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09600" y="1696007"/>
            <a:ext cx="841972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/>
              <a:t>Ada </a:t>
            </a:r>
            <a:r>
              <a:rPr lang="en-US" sz="2800" dirty="0" err="1" smtClean="0"/>
              <a:t>beberapa</a:t>
            </a:r>
            <a:r>
              <a:rPr lang="en-US" sz="2800" dirty="0" smtClean="0"/>
              <a:t> macam2 </a:t>
            </a:r>
            <a:r>
              <a:rPr lang="en-US" sz="2800" dirty="0" err="1" smtClean="0"/>
              <a:t>pengambilan</a:t>
            </a:r>
            <a:r>
              <a:rPr lang="en-US" sz="2800" dirty="0" smtClean="0"/>
              <a:t> </a:t>
            </a:r>
            <a:r>
              <a:rPr lang="en-US" sz="2800" dirty="0" err="1" smtClean="0"/>
              <a:t>dari</a:t>
            </a:r>
            <a:r>
              <a:rPr lang="en-US" sz="2800" dirty="0" smtClean="0"/>
              <a:t> </a:t>
            </a:r>
            <a:r>
              <a:rPr lang="en-US" sz="2800" dirty="0" err="1" smtClean="0"/>
              <a:t>sudut</a:t>
            </a:r>
            <a:r>
              <a:rPr lang="en-US" sz="2800" dirty="0" smtClean="0"/>
              <a:t> </a:t>
            </a:r>
            <a:r>
              <a:rPr lang="en-US" sz="2800" dirty="0" err="1" smtClean="0"/>
              <a:t>kamera</a:t>
            </a:r>
            <a:r>
              <a:rPr lang="en-US" sz="2800" dirty="0" smtClean="0"/>
              <a:t> </a:t>
            </a:r>
            <a:r>
              <a:rPr lang="en-US" sz="2800" dirty="0" err="1" smtClean="0"/>
              <a:t>Obyektif</a:t>
            </a:r>
            <a:r>
              <a:rPr lang="en-US" sz="2800" dirty="0" smtClean="0"/>
              <a:t>: 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40879317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+mn-lt"/>
              </a:rPr>
              <a:t>BIRD EYE VIEW</a:t>
            </a:r>
            <a:endParaRPr lang="id-ID" b="1" dirty="0">
              <a:latin typeface="+mn-lt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609600" y="1600622"/>
            <a:ext cx="6688969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 err="1" smtClean="0">
                <a:latin typeface="Arial" panose="020B0604020202020204" pitchFamily="34" charset="0"/>
                <a:ea typeface="Times New Roman" panose="02020603050405020304" pitchFamily="18" charset="0"/>
              </a:rPr>
              <a:t>Ketinggian</a:t>
            </a:r>
            <a:r>
              <a:rPr lang="en-US" sz="2800" dirty="0" smtClean="0"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</a:rPr>
              <a:t>kamera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</a:rPr>
              <a:t>berada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</a:rPr>
              <a:t> di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</a:rPr>
              <a:t>atas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</a:rPr>
              <a:t>ketinggian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</a:rPr>
              <a:t>objek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</a:rPr>
              <a:t>. </a:t>
            </a:r>
            <a:endParaRPr lang="en-US" sz="2800" dirty="0"/>
          </a:p>
        </p:txBody>
      </p:sp>
      <p:pic>
        <p:nvPicPr>
          <p:cNvPr id="7" name="Picture 6" descr="http://yorkphotoblog.files.wordpress.com/2013/01/birds-eye.jpg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72788" y="2691524"/>
            <a:ext cx="6562591" cy="30483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8941806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+mn-lt"/>
                <a:ea typeface="Times New Roman" panose="02020603050405020304" pitchFamily="18" charset="0"/>
                <a:cs typeface="Times New Roman" panose="02020603050405020304" pitchFamily="18" charset="0"/>
              </a:rPr>
              <a:t>Low </a:t>
            </a:r>
            <a:r>
              <a:rPr lang="en-US" b="1" dirty="0" smtClean="0">
                <a:latin typeface="+mn-lt"/>
                <a:ea typeface="Times New Roman" panose="02020603050405020304" pitchFamily="18" charset="0"/>
                <a:cs typeface="Times New Roman" panose="02020603050405020304" pitchFamily="18" charset="0"/>
              </a:rPr>
              <a:t>angle</a:t>
            </a:r>
            <a:endParaRPr lang="id-ID" b="1" dirty="0">
              <a:latin typeface="+mn-lt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26642" y="1477812"/>
            <a:ext cx="8074149" cy="8925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600" dirty="0" err="1">
                <a:latin typeface="Arial" panose="020B0604020202020204" pitchFamily="34" charset="0"/>
                <a:cs typeface="Arial" panose="020B0604020202020204" pitchFamily="34" charset="0"/>
              </a:rPr>
              <a:t>Sudut</a:t>
            </a:r>
            <a:r>
              <a:rPr lang="en-US" sz="2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600" dirty="0" err="1">
                <a:latin typeface="Arial" panose="020B0604020202020204" pitchFamily="34" charset="0"/>
                <a:cs typeface="Arial" panose="020B0604020202020204" pitchFamily="34" charset="0"/>
              </a:rPr>
              <a:t>pengambilan</a:t>
            </a:r>
            <a:r>
              <a:rPr lang="en-US" sz="2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600" dirty="0" err="1">
                <a:latin typeface="Arial" panose="020B0604020202020204" pitchFamily="34" charset="0"/>
                <a:cs typeface="Arial" panose="020B0604020202020204" pitchFamily="34" charset="0"/>
              </a:rPr>
              <a:t>dari</a:t>
            </a:r>
            <a:r>
              <a:rPr lang="en-US" sz="2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600" dirty="0" err="1">
                <a:latin typeface="Arial" panose="020B0604020202020204" pitchFamily="34" charset="0"/>
                <a:cs typeface="Arial" panose="020B0604020202020204" pitchFamily="34" charset="0"/>
              </a:rPr>
              <a:t>arah</a:t>
            </a:r>
            <a:r>
              <a:rPr lang="en-US" sz="2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600" dirty="0" err="1">
                <a:latin typeface="Arial" panose="020B0604020202020204" pitchFamily="34" charset="0"/>
                <a:cs typeface="Arial" panose="020B0604020202020204" pitchFamily="34" charset="0"/>
              </a:rPr>
              <a:t>bawah</a:t>
            </a:r>
            <a:r>
              <a:rPr lang="en-US" sz="2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600" dirty="0" err="1">
                <a:latin typeface="Arial" panose="020B0604020202020204" pitchFamily="34" charset="0"/>
                <a:cs typeface="Arial" panose="020B0604020202020204" pitchFamily="34" charset="0"/>
              </a:rPr>
              <a:t>objek</a:t>
            </a:r>
            <a:r>
              <a:rPr lang="en-US" sz="2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600" dirty="0" err="1">
                <a:latin typeface="Arial" panose="020B0604020202020204" pitchFamily="34" charset="0"/>
                <a:cs typeface="Arial" panose="020B0604020202020204" pitchFamily="34" charset="0"/>
              </a:rPr>
              <a:t>sehingga</a:t>
            </a:r>
            <a:r>
              <a:rPr lang="en-US" sz="2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600" dirty="0" err="1">
                <a:latin typeface="Arial" panose="020B0604020202020204" pitchFamily="34" charset="0"/>
                <a:cs typeface="Arial" panose="020B0604020202020204" pitchFamily="34" charset="0"/>
              </a:rPr>
              <a:t>mengesankan</a:t>
            </a:r>
            <a:r>
              <a:rPr lang="en-US" sz="2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600" dirty="0" err="1">
                <a:latin typeface="Arial" panose="020B0604020202020204" pitchFamily="34" charset="0"/>
                <a:cs typeface="Arial" panose="020B0604020202020204" pitchFamily="34" charset="0"/>
              </a:rPr>
              <a:t>objek</a:t>
            </a:r>
            <a:r>
              <a:rPr lang="en-US" sz="2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600" dirty="0" err="1">
                <a:latin typeface="Arial" panose="020B0604020202020204" pitchFamily="34" charset="0"/>
                <a:cs typeface="Arial" panose="020B0604020202020204" pitchFamily="34" charset="0"/>
              </a:rPr>
              <a:t>jadi</a:t>
            </a:r>
            <a:r>
              <a:rPr lang="en-US" sz="2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600" dirty="0" err="1">
                <a:latin typeface="Arial" panose="020B0604020202020204" pitchFamily="34" charset="0"/>
                <a:cs typeface="Arial" panose="020B0604020202020204" pitchFamily="34" charset="0"/>
              </a:rPr>
              <a:t>terlihat</a:t>
            </a:r>
            <a:r>
              <a:rPr lang="en-US" sz="2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600" dirty="0" err="1">
                <a:latin typeface="Arial" panose="020B0604020202020204" pitchFamily="34" charset="0"/>
                <a:cs typeface="Arial" panose="020B0604020202020204" pitchFamily="34" charset="0"/>
              </a:rPr>
              <a:t>besar</a:t>
            </a:r>
            <a:endParaRPr lang="en-US" sz="2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8" name="Picture 7" descr="http://1.bp.blogspot.com/-rgMWLwykEFo/T-GPHKnyapI/AAAAAAAAAHI/DSWhTN9iR-8/s1600/low_wide.jpg"/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09600" y="2619739"/>
            <a:ext cx="3875029" cy="3409869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1693414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Eye level</a:t>
            </a:r>
            <a:endParaRPr lang="id-ID" b="1" dirty="0">
              <a:latin typeface="+mn-lt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609600" y="1774647"/>
            <a:ext cx="5995568" cy="8925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600" dirty="0" err="1">
                <a:latin typeface="Arial" panose="020B0604020202020204" pitchFamily="34" charset="0"/>
                <a:cs typeface="Arial" panose="020B0604020202020204" pitchFamily="34" charset="0"/>
              </a:rPr>
              <a:t>Sudut</a:t>
            </a:r>
            <a:r>
              <a:rPr lang="en-US" sz="2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600" dirty="0" err="1">
                <a:latin typeface="Arial" panose="020B0604020202020204" pitchFamily="34" charset="0"/>
                <a:cs typeface="Arial" panose="020B0604020202020204" pitchFamily="34" charset="0"/>
              </a:rPr>
              <a:t>pengambilan</a:t>
            </a:r>
            <a:r>
              <a:rPr lang="en-US" sz="2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600" dirty="0" err="1">
                <a:latin typeface="Arial" panose="020B0604020202020204" pitchFamily="34" charset="0"/>
                <a:cs typeface="Arial" panose="020B0604020202020204" pitchFamily="34" charset="0"/>
              </a:rPr>
              <a:t>gambar</a:t>
            </a:r>
            <a:r>
              <a:rPr lang="en-US" sz="2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600" dirty="0" err="1">
                <a:latin typeface="Arial" panose="020B0604020202020204" pitchFamily="34" charset="0"/>
                <a:cs typeface="Arial" panose="020B0604020202020204" pitchFamily="34" charset="0"/>
              </a:rPr>
              <a:t>sejajar</a:t>
            </a:r>
            <a:r>
              <a:rPr lang="en-US" sz="2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600" dirty="0" err="1">
                <a:latin typeface="Arial" panose="020B0604020202020204" pitchFamily="34" charset="0"/>
                <a:cs typeface="Arial" panose="020B0604020202020204" pitchFamily="34" charset="0"/>
              </a:rPr>
              <a:t>dengan</a:t>
            </a:r>
            <a:r>
              <a:rPr lang="en-US" sz="2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600" dirty="0" err="1">
                <a:latin typeface="Arial" panose="020B0604020202020204" pitchFamily="34" charset="0"/>
                <a:cs typeface="Arial" panose="020B0604020202020204" pitchFamily="34" charset="0"/>
              </a:rPr>
              <a:t>objek</a:t>
            </a:r>
            <a:r>
              <a:rPr lang="en-US" sz="26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pic>
        <p:nvPicPr>
          <p:cNvPr id="7" name="Picture 6" descr="http://letthekids.com/wp-content/uploads/2013/01/siouscaphotography1.jpg"/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09600" y="3023287"/>
            <a:ext cx="4786346" cy="26432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4349918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just"/>
            <a:r>
              <a:rPr lang="en-US" b="1" dirty="0"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Frog eye</a:t>
            </a:r>
            <a:endParaRPr lang="en-US" b="1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09599" y="1641233"/>
            <a:ext cx="7610947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Sudut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pengambilan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gambar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dengan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ketinggian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kamera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sejajar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dengan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alas/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dasar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kedudukan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objek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atau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lebih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rendah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8" name="Picture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9599" y="3028021"/>
            <a:ext cx="3997424" cy="23477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24915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just"/>
            <a:r>
              <a:rPr lang="en-US" b="1" dirty="0"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Frog eye</a:t>
            </a:r>
            <a:endParaRPr lang="en-US" b="1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609600" y="1710944"/>
            <a:ext cx="7457038" cy="8925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600" dirty="0" err="1">
                <a:latin typeface="Arial" panose="020B0604020202020204" pitchFamily="34" charset="0"/>
                <a:cs typeface="Arial" panose="020B0604020202020204" pitchFamily="34" charset="0"/>
              </a:rPr>
              <a:t>Sudut</a:t>
            </a:r>
            <a:r>
              <a:rPr lang="en-US" sz="2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600" dirty="0" err="1">
                <a:latin typeface="Arial" panose="020B0604020202020204" pitchFamily="34" charset="0"/>
                <a:cs typeface="Arial" panose="020B0604020202020204" pitchFamily="34" charset="0"/>
              </a:rPr>
              <a:t>pengambilan</a:t>
            </a:r>
            <a:r>
              <a:rPr lang="en-US" sz="2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600" dirty="0" err="1">
                <a:latin typeface="Arial" panose="020B0604020202020204" pitchFamily="34" charset="0"/>
                <a:cs typeface="Arial" panose="020B0604020202020204" pitchFamily="34" charset="0"/>
              </a:rPr>
              <a:t>dari</a:t>
            </a:r>
            <a:r>
              <a:rPr lang="en-US" sz="2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600" dirty="0" err="1">
                <a:latin typeface="Arial" panose="020B0604020202020204" pitchFamily="34" charset="0"/>
                <a:cs typeface="Arial" panose="020B0604020202020204" pitchFamily="34" charset="0"/>
              </a:rPr>
              <a:t>atas</a:t>
            </a:r>
            <a:r>
              <a:rPr lang="en-US" sz="2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600" dirty="0" err="1">
                <a:latin typeface="Arial" panose="020B0604020202020204" pitchFamily="34" charset="0"/>
                <a:cs typeface="Arial" panose="020B0604020202020204" pitchFamily="34" charset="0"/>
              </a:rPr>
              <a:t>objek</a:t>
            </a:r>
            <a:r>
              <a:rPr lang="en-US" sz="2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600" dirty="0" err="1">
                <a:latin typeface="Arial" panose="020B0604020202020204" pitchFamily="34" charset="0"/>
                <a:cs typeface="Arial" panose="020B0604020202020204" pitchFamily="34" charset="0"/>
              </a:rPr>
              <a:t>sehingga</a:t>
            </a:r>
            <a:r>
              <a:rPr lang="en-US" sz="2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600" dirty="0" err="1">
                <a:latin typeface="Arial" panose="020B0604020202020204" pitchFamily="34" charset="0"/>
                <a:cs typeface="Arial" panose="020B0604020202020204" pitchFamily="34" charset="0"/>
              </a:rPr>
              <a:t>mengesankan</a:t>
            </a:r>
            <a:r>
              <a:rPr lang="en-US" sz="2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600" dirty="0" err="1">
                <a:latin typeface="Arial" panose="020B0604020202020204" pitchFamily="34" charset="0"/>
                <a:cs typeface="Arial" panose="020B0604020202020204" pitchFamily="34" charset="0"/>
              </a:rPr>
              <a:t>objek</a:t>
            </a:r>
            <a:r>
              <a:rPr lang="en-US" sz="2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600" dirty="0" err="1">
                <a:latin typeface="Arial" panose="020B0604020202020204" pitchFamily="34" charset="0"/>
                <a:cs typeface="Arial" panose="020B0604020202020204" pitchFamily="34" charset="0"/>
              </a:rPr>
              <a:t>jadi</a:t>
            </a:r>
            <a:r>
              <a:rPr lang="en-US" sz="2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600" dirty="0" err="1">
                <a:latin typeface="Arial" panose="020B0604020202020204" pitchFamily="34" charset="0"/>
                <a:cs typeface="Arial" panose="020B0604020202020204" pitchFamily="34" charset="0"/>
              </a:rPr>
              <a:t>terlihat</a:t>
            </a:r>
            <a:r>
              <a:rPr lang="en-US" sz="2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600" dirty="0" err="1">
                <a:latin typeface="Arial" panose="020B0604020202020204" pitchFamily="34" charset="0"/>
                <a:cs typeface="Arial" panose="020B0604020202020204" pitchFamily="34" charset="0"/>
              </a:rPr>
              <a:t>kecil</a:t>
            </a:r>
            <a:endParaRPr lang="en-US" sz="2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Picture 6" descr="http://us.123rf.com/450wm/piksel/piksel1202/piksel120200105/12378404-high-angle-view-of-student-writing.jpg"/>
          <p:cNvPicPr/>
          <p:nvPr/>
        </p:nvPicPr>
        <p:blipFill>
          <a:blip r:embed="rId2"/>
          <a:srcRect t="12444" b="6889"/>
          <a:stretch>
            <a:fillRect/>
          </a:stretch>
        </p:blipFill>
        <p:spPr bwMode="auto">
          <a:xfrm>
            <a:off x="609600" y="2825211"/>
            <a:ext cx="2824105" cy="2495271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9570441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Splitting video </a:t>
            </a:r>
            <a:r>
              <a:rPr lang="en-US" dirty="0" err="1" smtClean="0"/>
              <a:t>ke</a:t>
            </a:r>
            <a:r>
              <a:rPr lang="en-US" dirty="0" smtClean="0"/>
              <a:t> </a:t>
            </a:r>
            <a:r>
              <a:rPr lang="en-US" dirty="0" err="1" smtClean="0"/>
              <a:t>gambar</a:t>
            </a:r>
            <a:r>
              <a:rPr lang="en-US" dirty="0" smtClean="0"/>
              <a:t> per frame</a:t>
            </a:r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2357299"/>
            <a:ext cx="10578045" cy="26673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05719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Splitting video </a:t>
            </a:r>
            <a:r>
              <a:rPr lang="en-US" dirty="0" err="1" smtClean="0"/>
              <a:t>ke</a:t>
            </a:r>
            <a:r>
              <a:rPr lang="en-US" dirty="0" smtClean="0"/>
              <a:t> </a:t>
            </a:r>
            <a:r>
              <a:rPr lang="en-US" dirty="0" err="1" smtClean="0"/>
              <a:t>gambar</a:t>
            </a:r>
            <a:r>
              <a:rPr lang="en-US" dirty="0" smtClean="0"/>
              <a:t> per frame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2426078"/>
            <a:ext cx="9412586" cy="28364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14280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Splitting video </a:t>
            </a:r>
            <a:r>
              <a:rPr lang="en-US" dirty="0" err="1" smtClean="0"/>
              <a:t>ke</a:t>
            </a:r>
            <a:r>
              <a:rPr lang="en-US" dirty="0" smtClean="0"/>
              <a:t> </a:t>
            </a:r>
            <a:r>
              <a:rPr lang="en-US" dirty="0" err="1" smtClean="0"/>
              <a:t>gambar</a:t>
            </a:r>
            <a:r>
              <a:rPr lang="en-US" dirty="0" smtClean="0"/>
              <a:t> per frame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2484520"/>
            <a:ext cx="9428067" cy="24682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87806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Splitting video </a:t>
            </a:r>
            <a:r>
              <a:rPr lang="en-US" dirty="0" err="1" smtClean="0"/>
              <a:t>ke</a:t>
            </a:r>
            <a:r>
              <a:rPr lang="en-US" dirty="0" smtClean="0"/>
              <a:t> </a:t>
            </a:r>
            <a:r>
              <a:rPr lang="en-US" dirty="0" err="1" smtClean="0"/>
              <a:t>gambar</a:t>
            </a:r>
            <a:r>
              <a:rPr lang="en-US" dirty="0" smtClean="0"/>
              <a:t> per frame</a:t>
            </a:r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6162" y="2013777"/>
            <a:ext cx="7323438" cy="38912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005989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 smtClean="0"/>
              <a:t>TERIMAH KASIH</a:t>
            </a:r>
            <a:endParaRPr lang="en-US" b="1" dirty="0"/>
          </a:p>
        </p:txBody>
      </p:sp>
      <p:sp>
        <p:nvSpPr>
          <p:cNvPr id="3" name="Rectangle 2"/>
          <p:cNvSpPr/>
          <p:nvPr/>
        </p:nvSpPr>
        <p:spPr>
          <a:xfrm>
            <a:off x="621670" y="5879854"/>
            <a:ext cx="7372539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hlinkClick r:id="rId2"/>
              </a:rPr>
              <a:t>https://github.com/rizalarfani/Pengolahan-Citra-Digital-PCD-/blob/master/Latihan/Spiting%20vidio%20per%20frame.ipynb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621670" y="5223849"/>
            <a:ext cx="360327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Link </a:t>
            </a:r>
            <a:r>
              <a:rPr lang="en-US" sz="2400" dirty="0" err="1" smtClean="0"/>
              <a:t>Latihan</a:t>
            </a:r>
            <a:r>
              <a:rPr lang="en-US" sz="2400" smtClean="0"/>
              <a:t> code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828634948"/>
      </p:ext>
    </p:extLst>
  </p:cSld>
  <p:clrMapOvr>
    <a:masterClrMapping/>
  </p:clrMapOvr>
</p:sld>
</file>

<file path=ppt/theme/theme1.xml><?xml version="1.0" encoding="utf-8"?>
<a:theme xmlns:a="http://schemas.openxmlformats.org/drawingml/2006/main" name="WelcomeDoc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Segoe UI">
      <a:majorFont>
        <a:latin typeface="Segoe UI Light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elcome to PowerPoint.potx" id="{43699C43-EC89-4A55-9A99-3FD944590577}" vid="{3C36ED3A-1C33-4ECB-8650-37D568EF454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AssetEditForm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DirectSourceMarket xmlns="4873beb7-5857-4685-be1f-d57550cc96cc" xsi:nil="true"/>
    <ApprovalStatus xmlns="4873beb7-5857-4685-be1f-d57550cc96cc">InProgress</ApprovalStatus>
    <MarketSpecific xmlns="4873beb7-5857-4685-be1f-d57550cc96cc">false</MarketSpecific>
    <LocComments xmlns="4873beb7-5857-4685-be1f-d57550cc96cc" xsi:nil="true"/>
    <ThumbnailAssetId xmlns="4873beb7-5857-4685-be1f-d57550cc96cc" xsi:nil="true"/>
    <PrimaryImageGen xmlns="4873beb7-5857-4685-be1f-d57550cc96cc">true</PrimaryImageGen>
    <LegacyData xmlns="4873beb7-5857-4685-be1f-d57550cc96cc" xsi:nil="true"/>
    <LocRecommendedHandoff xmlns="4873beb7-5857-4685-be1f-d57550cc96cc" xsi:nil="true"/>
    <BusinessGroup xmlns="4873beb7-5857-4685-be1f-d57550cc96cc" xsi:nil="true"/>
    <BlockPublish xmlns="4873beb7-5857-4685-be1f-d57550cc96cc">false</BlockPublish>
    <TPFriendlyName xmlns="4873beb7-5857-4685-be1f-d57550cc96cc" xsi:nil="true"/>
    <NumericId xmlns="4873beb7-5857-4685-be1f-d57550cc96cc" xsi:nil="true"/>
    <APEditor xmlns="4873beb7-5857-4685-be1f-d57550cc96cc">
      <UserInfo>
        <DisplayName/>
        <AccountId xsi:nil="true"/>
        <AccountType/>
      </UserInfo>
    </APEditor>
    <SourceTitle xmlns="4873beb7-5857-4685-be1f-d57550cc96cc" xsi:nil="true"/>
    <OpenTemplate xmlns="4873beb7-5857-4685-be1f-d57550cc96cc">true</OpenTemplate>
    <UALocComments xmlns="4873beb7-5857-4685-be1f-d57550cc96cc" xsi:nil="true"/>
    <ParentAssetId xmlns="4873beb7-5857-4685-be1f-d57550cc96cc" xsi:nil="true"/>
    <IntlLangReviewDate xmlns="4873beb7-5857-4685-be1f-d57550cc96cc" xsi:nil="true"/>
    <FeatureTagsTaxHTField0 xmlns="4873beb7-5857-4685-be1f-d57550cc96cc">
      <Terms xmlns="http://schemas.microsoft.com/office/infopath/2007/PartnerControls"/>
    </FeatureTagsTaxHTField0>
    <PublishStatusLookup xmlns="4873beb7-5857-4685-be1f-d57550cc96cc">
      <Value>1584528</Value>
    </PublishStatusLookup>
    <Providers xmlns="4873beb7-5857-4685-be1f-d57550cc96cc" xsi:nil="true"/>
    <MachineTranslated xmlns="4873beb7-5857-4685-be1f-d57550cc96cc">false</MachineTranslated>
    <OriginalSourceMarket xmlns="4873beb7-5857-4685-be1f-d57550cc96cc" xsi:nil="true"/>
    <APDescription xmlns="4873beb7-5857-4685-be1f-d57550cc96cc" xsi:nil="true"/>
    <ClipArtFilename xmlns="4873beb7-5857-4685-be1f-d57550cc96cc" xsi:nil="true"/>
    <ContentItem xmlns="4873beb7-5857-4685-be1f-d57550cc96cc" xsi:nil="true"/>
    <TPInstallLocation xmlns="4873beb7-5857-4685-be1f-d57550cc96cc" xsi:nil="true"/>
    <PublishTargets xmlns="4873beb7-5857-4685-be1f-d57550cc96cc">OfficeOnlineVNext</PublishTargets>
    <TimesCloned xmlns="4873beb7-5857-4685-be1f-d57550cc96cc" xsi:nil="true"/>
    <AssetStart xmlns="4873beb7-5857-4685-be1f-d57550cc96cc">2012-06-20T23:39:00+00:00</AssetStart>
    <Provider xmlns="4873beb7-5857-4685-be1f-d57550cc96cc" xsi:nil="true"/>
    <AcquiredFrom xmlns="4873beb7-5857-4685-be1f-d57550cc96cc">Internal MS</AcquiredFrom>
    <FriendlyTitle xmlns="4873beb7-5857-4685-be1f-d57550cc96cc" xsi:nil="true"/>
    <LastHandOff xmlns="4873beb7-5857-4685-be1f-d57550cc96cc" xsi:nil="true"/>
    <TPClientViewer xmlns="4873beb7-5857-4685-be1f-d57550cc96cc" xsi:nil="true"/>
    <UACurrentWords xmlns="4873beb7-5857-4685-be1f-d57550cc96cc" xsi:nil="true"/>
    <ArtSampleDocs xmlns="4873beb7-5857-4685-be1f-d57550cc96cc" xsi:nil="true"/>
    <UALocRecommendation xmlns="4873beb7-5857-4685-be1f-d57550cc96cc">Localize</UALocRecommendation>
    <Manager xmlns="4873beb7-5857-4685-be1f-d57550cc96cc" xsi:nil="true"/>
    <ShowIn xmlns="4873beb7-5857-4685-be1f-d57550cc96cc">Show everywhere</ShowIn>
    <UANotes xmlns="4873beb7-5857-4685-be1f-d57550cc96cc" xsi:nil="true"/>
    <TemplateStatus xmlns="4873beb7-5857-4685-be1f-d57550cc96cc">Complete</TemplateStatus>
    <InternalTagsTaxHTField0 xmlns="4873beb7-5857-4685-be1f-d57550cc96cc">
      <Terms xmlns="http://schemas.microsoft.com/office/infopath/2007/PartnerControls"/>
    </InternalTagsTaxHTField0>
    <CSXHash xmlns="4873beb7-5857-4685-be1f-d57550cc96cc" xsi:nil="true"/>
    <Downloads xmlns="4873beb7-5857-4685-be1f-d57550cc96cc">0</Downloads>
    <VoteCount xmlns="4873beb7-5857-4685-be1f-d57550cc96cc" xsi:nil="true"/>
    <OOCacheId xmlns="4873beb7-5857-4685-be1f-d57550cc96cc" xsi:nil="true"/>
    <IsDeleted xmlns="4873beb7-5857-4685-be1f-d57550cc96cc">false</IsDeleted>
    <AssetExpire xmlns="4873beb7-5857-4685-be1f-d57550cc96cc">2029-01-01T08:00:00+00:00</AssetExpire>
    <DSATActionTaken xmlns="4873beb7-5857-4685-be1f-d57550cc96cc" xsi:nil="true"/>
    <CSXSubmissionMarket xmlns="4873beb7-5857-4685-be1f-d57550cc96cc" xsi:nil="true"/>
    <TPExecutable xmlns="4873beb7-5857-4685-be1f-d57550cc96cc" xsi:nil="true"/>
    <SubmitterId xmlns="4873beb7-5857-4685-be1f-d57550cc96cc" xsi:nil="true"/>
    <EditorialTags xmlns="4873beb7-5857-4685-be1f-d57550cc96cc" xsi:nil="true"/>
    <ApprovalLog xmlns="4873beb7-5857-4685-be1f-d57550cc96cc" xsi:nil="true"/>
    <AssetType xmlns="4873beb7-5857-4685-be1f-d57550cc96cc">TP</AssetType>
    <BugNumber xmlns="4873beb7-5857-4685-be1f-d57550cc96cc" xsi:nil="true"/>
    <CSXSubmissionDate xmlns="4873beb7-5857-4685-be1f-d57550cc96cc" xsi:nil="true"/>
    <CSXUpdate xmlns="4873beb7-5857-4685-be1f-d57550cc96cc">false</CSXUpdate>
    <Milestone xmlns="4873beb7-5857-4685-be1f-d57550cc96cc" xsi:nil="true"/>
    <RecommendationsModifier xmlns="4873beb7-5857-4685-be1f-d57550cc96cc" xsi:nil="true"/>
    <OriginAsset xmlns="4873beb7-5857-4685-be1f-d57550cc96cc" xsi:nil="true"/>
    <TPComponent xmlns="4873beb7-5857-4685-be1f-d57550cc96cc" xsi:nil="true"/>
    <AssetId xmlns="4873beb7-5857-4685-be1f-d57550cc96cc">TP102923943</AssetId>
    <IntlLocPriority xmlns="4873beb7-5857-4685-be1f-d57550cc96cc" xsi:nil="true"/>
    <PolicheckWords xmlns="4873beb7-5857-4685-be1f-d57550cc96cc" xsi:nil="true"/>
    <TPLaunchHelpLink xmlns="4873beb7-5857-4685-be1f-d57550cc96cc" xsi:nil="true"/>
    <TPApplication xmlns="4873beb7-5857-4685-be1f-d57550cc96cc" xsi:nil="true"/>
    <CrawlForDependencies xmlns="4873beb7-5857-4685-be1f-d57550cc96cc">false</CrawlForDependencies>
    <HandoffToMSDN xmlns="4873beb7-5857-4685-be1f-d57550cc96cc" xsi:nil="true"/>
    <PlannedPubDate xmlns="4873beb7-5857-4685-be1f-d57550cc96cc" xsi:nil="true"/>
    <IntlLangReviewer xmlns="4873beb7-5857-4685-be1f-d57550cc96cc" xsi:nil="true"/>
    <TrustLevel xmlns="4873beb7-5857-4685-be1f-d57550cc96cc">1 Microsoft Managed Content</TrustLevel>
    <LocLastLocAttemptVersionLookup xmlns="4873beb7-5857-4685-be1f-d57550cc96cc">843282</LocLastLocAttemptVersionLookup>
    <IsSearchable xmlns="4873beb7-5857-4685-be1f-d57550cc96cc">true</IsSearchable>
    <TemplateTemplateType xmlns="4873beb7-5857-4685-be1f-d57550cc96cc">PowerPoint Template - Slideshow Launch</TemplateTemplateType>
    <CampaignTagsTaxHTField0 xmlns="4873beb7-5857-4685-be1f-d57550cc96cc">
      <Terms xmlns="http://schemas.microsoft.com/office/infopath/2007/PartnerControls"/>
    </CampaignTagsTaxHTField0>
    <TPNamespace xmlns="4873beb7-5857-4685-be1f-d57550cc96cc" xsi:nil="true"/>
    <TaxCatchAll xmlns="4873beb7-5857-4685-be1f-d57550cc96cc"/>
    <Markets xmlns="4873beb7-5857-4685-be1f-d57550cc96cc"/>
    <UAProjectedTotalWords xmlns="4873beb7-5857-4685-be1f-d57550cc96cc" xsi:nil="true"/>
    <IntlLangReview xmlns="4873beb7-5857-4685-be1f-d57550cc96cc">false</IntlLangReview>
    <OutputCachingOn xmlns="4873beb7-5857-4685-be1f-d57550cc96cc">false</OutputCachingOn>
    <AverageRating xmlns="4873beb7-5857-4685-be1f-d57550cc96cc" xsi:nil="true"/>
    <LocMarketGroupTiers2 xmlns="4873beb7-5857-4685-be1f-d57550cc96cc" xsi:nil="true"/>
    <APAuthor xmlns="4873beb7-5857-4685-be1f-d57550cc96cc">
      <UserInfo>
        <DisplayName>REDMOND\v-sa</DisplayName>
        <AccountId>2467</AccountId>
        <AccountType/>
      </UserInfo>
    </APAuthor>
    <LocManualTestRequired xmlns="4873beb7-5857-4685-be1f-d57550cc96cc">false</LocManualTestRequired>
    <TPCommandLine xmlns="4873beb7-5857-4685-be1f-d57550cc96cc" xsi:nil="true"/>
    <TPAppVersion xmlns="4873beb7-5857-4685-be1f-d57550cc96cc" xsi:nil="true"/>
    <EditorialStatus xmlns="4873beb7-5857-4685-be1f-d57550cc96cc">Complete</EditorialStatus>
    <LastModifiedDateTime xmlns="4873beb7-5857-4685-be1f-d57550cc96cc" xsi:nil="true"/>
    <ScenarioTagsTaxHTField0 xmlns="4873beb7-5857-4685-be1f-d57550cc96cc">
      <Terms xmlns="http://schemas.microsoft.com/office/infopath/2007/PartnerControls"/>
    </ScenarioTagsTaxHTField0>
    <OriginalRelease xmlns="4873beb7-5857-4685-be1f-d57550cc96cc">15</OriginalRelease>
    <TPLaunchHelpLinkType xmlns="4873beb7-5857-4685-be1f-d57550cc96cc">Template</TPLaunchHelpLinkType>
    <LocalizationTagsTaxHTField0 xmlns="4873beb7-5857-4685-be1f-d57550cc96cc">
      <Terms xmlns="http://schemas.microsoft.com/office/infopath/2007/PartnerControls"/>
    </LocalizationTagsTaxHTField0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TemplateFile" ma:contentTypeID="0x0101006EDDDB5EE6D98C44930B742096920B300400F5B6D36B3EF94B4E9A635CDF2A18F5B8" ma:contentTypeVersion="72" ma:contentTypeDescription="Create a new document." ma:contentTypeScope="" ma:versionID="a23e56308344d904b51738559c3d67c9">
  <xsd:schema xmlns:xsd="http://www.w3.org/2001/XMLSchema" xmlns:xs="http://www.w3.org/2001/XMLSchema" xmlns:p="http://schemas.microsoft.com/office/2006/metadata/properties" xmlns:ns2="4873beb7-5857-4685-be1f-d57550cc96cc" targetNamespace="http://schemas.microsoft.com/office/2006/metadata/properties" ma:root="true" ma:fieldsID="cd0908cc4600e77bf5da051303e00c8d" ns2:_="">
    <xsd:import namespace="4873beb7-5857-4685-be1f-d57550cc96cc"/>
    <xsd:element name="properties">
      <xsd:complexType>
        <xsd:sequence>
          <xsd:element name="documentManagement">
            <xsd:complexType>
              <xsd:all>
                <xsd:element ref="ns2:AcquiredFrom" minOccurs="0"/>
                <xsd:element ref="ns2:UACurrentWords" minOccurs="0"/>
                <xsd:element ref="ns2:TPApplication" minOccurs="0"/>
                <xsd:element ref="ns2:ApprovalLog" minOccurs="0"/>
                <xsd:element ref="ns2:ApprovalStatus" minOccurs="0"/>
                <xsd:element ref="ns2:AssetStart" minOccurs="0"/>
                <xsd:element ref="ns2:AssetExpire" minOccurs="0"/>
                <xsd:element ref="ns2:AssetId" minOccurs="0"/>
                <xsd:element ref="ns2:IsSearchable" minOccurs="0"/>
                <xsd:element ref="ns2:AssetType" minOccurs="0"/>
                <xsd:element ref="ns2:APAuthor" minOccurs="0"/>
                <xsd:element ref="ns2:AverageRating" minOccurs="0"/>
                <xsd:element ref="ns2:BlockPublish" minOccurs="0"/>
                <xsd:element ref="ns2:BugNumber" minOccurs="0"/>
                <xsd:element ref="ns2:CampaignTagsTaxHTField0" minOccurs="0"/>
                <xsd:element ref="ns2:TPClientViewer" minOccurs="0"/>
                <xsd:element ref="ns2:ClipArtFilename" minOccurs="0"/>
                <xsd:element ref="ns2:TPCommandLine" minOccurs="0"/>
                <xsd:element ref="ns2:TPComponent" minOccurs="0"/>
                <xsd:element ref="ns2:ContentItem" minOccurs="0"/>
                <xsd:element ref="ns2:CrawlForDependencies" minOccurs="0"/>
                <xsd:element ref="ns2:CSXHash" minOccurs="0"/>
                <xsd:element ref="ns2:CSXSubmissionMarket" minOccurs="0"/>
                <xsd:element ref="ns2:CSXUpdate" minOccurs="0"/>
                <xsd:element ref="ns2:IntlLangReviewDate" minOccurs="0"/>
                <xsd:element ref="ns2:IsDeleted" minOccurs="0"/>
                <xsd:element ref="ns2:APDescription" minOccurs="0"/>
                <xsd:element ref="ns2:DirectSourceMarket" minOccurs="0"/>
                <xsd:element ref="ns2:Downloads" minOccurs="0"/>
                <xsd:element ref="ns2:DSATActionTaken" minOccurs="0"/>
                <xsd:element ref="ns2:APEditor" minOccurs="0"/>
                <xsd:element ref="ns2:EditorialStatus" minOccurs="0"/>
                <xsd:element ref="ns2:EditorialTags" minOccurs="0"/>
                <xsd:element ref="ns2:TPExecutable" minOccurs="0"/>
                <xsd:element ref="ns2:FeatureTagsTaxHTField0" minOccurs="0"/>
                <xsd:element ref="ns2:TPFriendlyName" minOccurs="0"/>
                <xsd:element ref="ns2:FriendlyTitle" minOccurs="0"/>
                <xsd:element ref="ns2:PrimaryImageGen" minOccurs="0"/>
                <xsd:element ref="ns2:HandoffToMSDN" minOccurs="0"/>
                <xsd:element ref="ns2:InProjectListLookup" minOccurs="0"/>
                <xsd:element ref="ns2:TPInstallLocation" minOccurs="0"/>
                <xsd:element ref="ns2:InternalTagsTaxHTField0" minOccurs="0"/>
                <xsd:element ref="ns2:IntlLangReview" minOccurs="0"/>
                <xsd:element ref="ns2:IntlLangReviewer" minOccurs="0"/>
                <xsd:element ref="ns2:MarketSpecific" minOccurs="0"/>
                <xsd:element ref="ns2:LastCompleteVersionLookup" minOccurs="0"/>
                <xsd:element ref="ns2:LastHandOff" minOccurs="0"/>
                <xsd:element ref="ns2:LastModifiedDateTime" minOccurs="0"/>
                <xsd:element ref="ns2:LastPreviewErrorLookup" minOccurs="0"/>
                <xsd:element ref="ns2:LastPreviewResultLookup" minOccurs="0"/>
                <xsd:element ref="ns2:LastPreviewAttemptDateLookup" minOccurs="0"/>
                <xsd:element ref="ns2:LastPreviewedByLookup" minOccurs="0"/>
                <xsd:element ref="ns2:LastPreviewTimeLookup" minOccurs="0"/>
                <xsd:element ref="ns2:LastPreviewVersionLookup" minOccurs="0"/>
                <xsd:element ref="ns2:LastPublishErrorLookup" minOccurs="0"/>
                <xsd:element ref="ns2:LastPublishResultLookup" minOccurs="0"/>
                <xsd:element ref="ns2:LastPublishAttemptDateLookup" minOccurs="0"/>
                <xsd:element ref="ns2:LastPublishedByLookup" minOccurs="0"/>
                <xsd:element ref="ns2:LastPublishTimeLookup" minOccurs="0"/>
                <xsd:element ref="ns2:LastPublishVersionLookup" minOccurs="0"/>
                <xsd:element ref="ns2:TPLaunchHelpLinkType" minOccurs="0"/>
                <xsd:element ref="ns2:LegacyData" minOccurs="0"/>
                <xsd:element ref="ns2:TPLaunchHelpLink" minOccurs="0"/>
                <xsd:element ref="ns2:LocComments" minOccurs="0"/>
                <xsd:element ref="ns2:LocLastLocAttemptVersionLookup" minOccurs="0"/>
                <xsd:element ref="ns2:LocLastLocAttemptVersionTypeLookup" minOccurs="0"/>
                <xsd:element ref="ns2:LocManualTestRequired" minOccurs="0"/>
                <xsd:element ref="ns2:LocMarketGroupTiers2" minOccurs="0"/>
                <xsd:element ref="ns2:LocNewPublishedVersionLookup" minOccurs="0"/>
                <xsd:element ref="ns2:LocOverallHandbackStatusLookup" minOccurs="0"/>
                <xsd:element ref="ns2:LocOverallLocStatusLookup" minOccurs="0"/>
                <xsd:element ref="ns2:LocOverallPreviewStatusLookup" minOccurs="0"/>
                <xsd:element ref="ns2:LocOverallPublishStatusLookup" minOccurs="0"/>
                <xsd:element ref="ns2:IntlLocPriority" minOccurs="0"/>
                <xsd:element ref="ns2:LocProcessedForHandoffsLookup" minOccurs="0"/>
                <xsd:element ref="ns2:LocProcessedForMarketsLookup" minOccurs="0"/>
                <xsd:element ref="ns2:LocPublishedDependentAssetsLookup" minOccurs="0"/>
                <xsd:element ref="ns2:LocPublishedLinkedAssetsLookup" minOccurs="0"/>
                <xsd:element ref="ns2:LocRecommendedHandoff" minOccurs="0"/>
                <xsd:element ref="ns2:LocalizationTagsTaxHTField0" minOccurs="0"/>
                <xsd:element ref="ns2:MachineTranslated" minOccurs="0"/>
                <xsd:element ref="ns2:Manager" minOccurs="0"/>
                <xsd:element ref="ns2:Markets" minOccurs="0"/>
                <xsd:element ref="ns2:Milestone" minOccurs="0"/>
                <xsd:element ref="ns2:TPNamespace" minOccurs="0"/>
                <xsd:element ref="ns2:NumericId" minOccurs="0"/>
                <xsd:element ref="ns2:NumOfRatingsLookup" minOccurs="0"/>
                <xsd:element ref="ns2:OOCacheId" minOccurs="0"/>
                <xsd:element ref="ns2:OpenTemplate" minOccurs="0"/>
                <xsd:element ref="ns2:OriginAsset" minOccurs="0"/>
                <xsd:element ref="ns2:OriginalRelease" minOccurs="0"/>
                <xsd:element ref="ns2:OriginalSourceMarket" minOccurs="0"/>
                <xsd:element ref="ns2:OutputCachingOn" minOccurs="0"/>
                <xsd:element ref="ns2:ParentAssetId" minOccurs="0"/>
                <xsd:element ref="ns2:PlannedPubDate" minOccurs="0"/>
                <xsd:element ref="ns2:PolicheckWords" minOccurs="0"/>
                <xsd:element ref="ns2:BusinessGroup" minOccurs="0"/>
                <xsd:element ref="ns2:UAProjectedTotalWords" minOccurs="0"/>
                <xsd:element ref="ns2:Provider" minOccurs="0"/>
                <xsd:element ref="ns2:Providers" minOccurs="0"/>
                <xsd:element ref="ns2:PublishStatusLookup" minOccurs="0"/>
                <xsd:element ref="ns2:PublishTargets" minOccurs="0"/>
                <xsd:element ref="ns2:RecommendationsModifier" minOccurs="0"/>
                <xsd:element ref="ns2:ArtSampleDocs" minOccurs="0"/>
                <xsd:element ref="ns2:ScenarioTagsTaxHTField0" minOccurs="0"/>
                <xsd:element ref="ns2:ShowIn" minOccurs="0"/>
                <xsd:element ref="ns2:SourceTitle" minOccurs="0"/>
                <xsd:element ref="ns2:CSXSubmissionDate" minOccurs="0"/>
                <xsd:element ref="ns2:SubmitterId" minOccurs="0"/>
                <xsd:element ref="ns2:TaxCatchAll" minOccurs="0"/>
                <xsd:element ref="ns2:TaxCatchAllLabel" minOccurs="0"/>
                <xsd:element ref="ns2:TemplateStatus" minOccurs="0"/>
                <xsd:element ref="ns2:TemplateTemplateType" minOccurs="0"/>
                <xsd:element ref="ns2:ThumbnailAssetId" minOccurs="0"/>
                <xsd:element ref="ns2:TimesCloned" minOccurs="0"/>
                <xsd:element ref="ns2:TrustLevel" minOccurs="0"/>
                <xsd:element ref="ns2:UALocComments" minOccurs="0"/>
                <xsd:element ref="ns2:UALocRecommendation" minOccurs="0"/>
                <xsd:element ref="ns2:UANotes" minOccurs="0"/>
                <xsd:element ref="ns2:TPAppVersion" minOccurs="0"/>
                <xsd:element ref="ns2:VoteCount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873beb7-5857-4685-be1f-d57550cc96cc" elementFormDefault="qualified">
    <xsd:import namespace="http://schemas.microsoft.com/office/2006/documentManagement/types"/>
    <xsd:import namespace="http://schemas.microsoft.com/office/infopath/2007/PartnerControls"/>
    <xsd:element name="AcquiredFrom" ma:index="1" nillable="true" ma:displayName="Acquired From" ma:default="Internal MS" ma:internalName="AcquiredFrom" ma:readOnly="false">
      <xsd:simpleType>
        <xsd:restriction base="dms:Choice">
          <xsd:enumeration value="Internal MS"/>
          <xsd:enumeration value="Community"/>
          <xsd:enumeration value="MVP"/>
          <xsd:enumeration value="Publisher"/>
          <xsd:enumeration value="Partner"/>
          <xsd:enumeration value="None"/>
        </xsd:restriction>
      </xsd:simpleType>
    </xsd:element>
    <xsd:element name="UACurrentWords" ma:index="2" nillable="true" ma:displayName="Actual Word Count" ma:default="" ma:internalName="UACurrentWords" ma:readOnly="false">
      <xsd:simpleType>
        <xsd:restriction base="dms:Unknown"/>
      </xsd:simpleType>
    </xsd:element>
    <xsd:element name="TPApplication" ma:index="3" nillable="true" ma:displayName="Application to Open Template With" ma:default="" ma:internalName="TPApplication">
      <xsd:simpleType>
        <xsd:restriction base="dms:Text"/>
      </xsd:simpleType>
    </xsd:element>
    <xsd:element name="ApprovalLog" ma:index="4" nillable="true" ma:displayName="Approval Log" ma:default="" ma:hidden="true" ma:internalName="ApprovalLog" ma:readOnly="false">
      <xsd:simpleType>
        <xsd:restriction base="dms:Note"/>
      </xsd:simpleType>
    </xsd:element>
    <xsd:element name="ApprovalStatus" ma:index="5" nillable="true" ma:displayName="Approval Status" ma:default="InProgress" ma:internalName="ApprovalStatus" ma:readOnly="false">
      <xsd:simpleType>
        <xsd:restriction base="dms:Choice">
          <xsd:enumeration value="InProgress"/>
          <xsd:enumeration value="Rejected"/>
          <xsd:enumeration value="Questionable"/>
          <xsd:enumeration value="ApprovedAutomatic"/>
          <xsd:enumeration value="ApprovedManual"/>
          <xsd:enumeration value="On Hold"/>
          <xsd:enumeration value="Needs Review"/>
          <xsd:enumeration value="A Violation"/>
          <xsd:enumeration value="Unpublished Violation"/>
        </xsd:restriction>
      </xsd:simpleType>
    </xsd:element>
    <xsd:element name="AssetStart" ma:index="6" nillable="true" ma:displayName="Asset Begin Date" ma:default="[Today]" ma:internalName="AssetStart" ma:readOnly="false">
      <xsd:simpleType>
        <xsd:restriction base="dms:DateTime"/>
      </xsd:simpleType>
    </xsd:element>
    <xsd:element name="AssetExpire" ma:index="7" nillable="true" ma:displayName="Asset End Date" ma:default="2029-01-01T08:00:00Z" ma:format="DateTime" ma:internalName="AssetExpire" ma:readOnly="false">
      <xsd:simpleType>
        <xsd:restriction base="dms:DateTime"/>
      </xsd:simpleType>
    </xsd:element>
    <xsd:element name="AssetId" ma:index="8" nillable="true" ma:displayName="Asset ID" ma:default="" ma:indexed="true" ma:internalName="AssetId" ma:readOnly="false">
      <xsd:simpleType>
        <xsd:restriction base="dms:Text">
          <xsd:maxLength value="255"/>
        </xsd:restriction>
      </xsd:simpleType>
    </xsd:element>
    <xsd:element name="IsSearchable" ma:index="9" nillable="true" ma:displayName="Asset Searchable?" ma:default="true" ma:internalName="IsSearchable" ma:readOnly="false">
      <xsd:simpleType>
        <xsd:restriction base="dms:Boolean"/>
      </xsd:simpleType>
    </xsd:element>
    <xsd:element name="AssetType" ma:index="10" nillable="true" ma:displayName="Asset Type" ma:default="" ma:internalName="AssetType" ma:readOnly="false">
      <xsd:simpleType>
        <xsd:restriction base="dms:Unknown"/>
      </xsd:simpleType>
    </xsd:element>
    <xsd:element name="APAuthor" ma:index="11" nillable="true" ma:displayName="Author" ma:default="" ma:list="UserInfo" ma:internalName="APAuth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AverageRating" ma:index="12" nillable="true" ma:displayName="Average Rating" ma:internalName="AverageRating" ma:readOnly="false">
      <xsd:simpleType>
        <xsd:restriction base="dms:Text"/>
      </xsd:simpleType>
    </xsd:element>
    <xsd:element name="BlockPublish" ma:index="13" nillable="true" ma:displayName="Block from Publishing?" ma:default="" ma:internalName="BlockPublish" ma:readOnly="false">
      <xsd:simpleType>
        <xsd:restriction base="dms:Boolean"/>
      </xsd:simpleType>
    </xsd:element>
    <xsd:element name="BugNumber" ma:index="14" nillable="true" ma:displayName="Bug Number" ma:default="" ma:internalName="BugNumber" ma:readOnly="false">
      <xsd:simpleType>
        <xsd:restriction base="dms:Text"/>
      </xsd:simpleType>
    </xsd:element>
    <xsd:element name="CampaignTagsTaxHTField0" ma:index="16" nillable="true" ma:taxonomy="true" ma:internalName="CampaignTagsTaxHTField0" ma:taxonomyFieldName="CampaignTags" ma:displayName="Campaigns" ma:readOnly="false" ma:default="" ma:fieldId="{1df42cc3-2301-4f11-a52a-6ead923c29ed}" ma:taxonomyMulti="true" ma:sspId="8f79753a-75d3-41f5-8ca3-40b843941b4f" ma:termSetId="ca0e50d4-faa1-44ce-961e-bb1441c60e6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ClientViewer" ma:index="17" nillable="true" ma:displayName="Client Viewer" ma:default="" ma:internalName="TPClientViewer">
      <xsd:simpleType>
        <xsd:restriction base="dms:Text"/>
      </xsd:simpleType>
    </xsd:element>
    <xsd:element name="ClipArtFilename" ma:index="18" nillable="true" ma:displayName="Clip Art Name" ma:default="" ma:internalName="ClipArtFilename" ma:readOnly="false">
      <xsd:simpleType>
        <xsd:restriction base="dms:Text"/>
      </xsd:simpleType>
    </xsd:element>
    <xsd:element name="TPCommandLine" ma:index="19" nillable="true" ma:displayName="Command Line" ma:default="" ma:internalName="TPCommandLine">
      <xsd:simpleType>
        <xsd:restriction base="dms:Text"/>
      </xsd:simpleType>
    </xsd:element>
    <xsd:element name="TPComponent" ma:index="20" nillable="true" ma:displayName="Component" ma:default="" ma:internalName="TPComponent">
      <xsd:simpleType>
        <xsd:restriction base="dms:Text"/>
      </xsd:simpleType>
    </xsd:element>
    <xsd:element name="ContentItem" ma:index="21" nillable="true" ma:displayName="Content Item" ma:default="" ma:hidden="true" ma:internalName="ContentItem" ma:readOnly="false">
      <xsd:simpleType>
        <xsd:restriction base="dms:Unknown"/>
      </xsd:simpleType>
    </xsd:element>
    <xsd:element name="CrawlForDependencies" ma:index="23" nillable="true" ma:displayName="Crawl for Dependencies?" ma:default="true" ma:internalName="CrawlForDependencies" ma:readOnly="false">
      <xsd:simpleType>
        <xsd:restriction base="dms:Boolean"/>
      </xsd:simpleType>
    </xsd:element>
    <xsd:element name="CSXHash" ma:index="26" nillable="true" ma:displayName="CSX Hash" ma:default="" ma:indexed="true" ma:internalName="CSXHash" ma:readOnly="false">
      <xsd:simpleType>
        <xsd:restriction base="dms:Text"/>
      </xsd:simpleType>
    </xsd:element>
    <xsd:element name="CSXSubmissionMarket" ma:index="27" nillable="true" ma:displayName="CSX Submission Market" ma:default="" ma:list="{2FBD1B11-2ACE-4FDC-B5A3-635D4ADF6F1B}" ma:internalName="CSXSubmissionMarket" ma:readOnly="false" ma:showField="MarketName" ma:web="4873beb7-5857-4685-be1f-d57550cc96cc">
      <xsd:simpleType>
        <xsd:restriction base="dms:Lookup"/>
      </xsd:simpleType>
    </xsd:element>
    <xsd:element name="CSXUpdate" ma:index="28" nillable="true" ma:displayName="CSX Updated?" ma:default="false" ma:internalName="CSXUpdate" ma:readOnly="false">
      <xsd:simpleType>
        <xsd:restriction base="dms:Boolean"/>
      </xsd:simpleType>
    </xsd:element>
    <xsd:element name="IntlLangReviewDate" ma:index="29" nillable="true" ma:displayName="Date to Complete Intl QA" ma:default="" ma:internalName="IntlLangReviewDate" ma:readOnly="false">
      <xsd:simpleType>
        <xsd:restriction base="dms:DateTime"/>
      </xsd:simpleType>
    </xsd:element>
    <xsd:element name="IsDeleted" ma:index="30" nillable="true" ma:displayName="Deleted?" ma:default="" ma:internalName="IsDeleted" ma:readOnly="false">
      <xsd:simpleType>
        <xsd:restriction base="dms:Boolean"/>
      </xsd:simpleType>
    </xsd:element>
    <xsd:element name="APDescription" ma:index="31" nillable="true" ma:displayName="Description" ma:default="" ma:internalName="APDescription" ma:readOnly="false">
      <xsd:simpleType>
        <xsd:restriction base="dms:Note"/>
      </xsd:simpleType>
    </xsd:element>
    <xsd:element name="DirectSourceMarket" ma:index="32" nillable="true" ma:displayName="Direct Source Market Group" ma:default="" ma:internalName="DirectSourceMarket" ma:readOnly="false">
      <xsd:simpleType>
        <xsd:restriction base="dms:Text"/>
      </xsd:simpleType>
    </xsd:element>
    <xsd:element name="Downloads" ma:index="33" nillable="true" ma:displayName="Downloads" ma:default="0" ma:hidden="true" ma:internalName="Downloads" ma:readOnly="false">
      <xsd:simpleType>
        <xsd:restriction base="dms:Unknown"/>
      </xsd:simpleType>
    </xsd:element>
    <xsd:element name="DSATActionTaken" ma:index="34" nillable="true" ma:displayName="DSAT Action Taken" ma:default="" ma:internalName="DSATActionTaken" ma:readOnly="false">
      <xsd:simpleType>
        <xsd:restriction base="dms:Choice">
          <xsd:enumeration value="Best Bets"/>
          <xsd:enumeration value="Expire"/>
          <xsd:enumeration value="Hide"/>
          <xsd:enumeration value="None"/>
        </xsd:restriction>
      </xsd:simpleType>
    </xsd:element>
    <xsd:element name="APEditor" ma:index="35" nillable="true" ma:displayName="Editor" ma:default="" ma:list="UserInfo" ma:internalName="APEdit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EditorialStatus" ma:index="36" nillable="true" ma:displayName="Editorial Status" ma:default="" ma:internalName="EditorialStatus" ma:readOnly="false">
      <xsd:simpleType>
        <xsd:restriction base="dms:Unknown"/>
      </xsd:simpleType>
    </xsd:element>
    <xsd:element name="EditorialTags" ma:index="37" nillable="true" ma:displayName="Editorial Tags" ma:default="" ma:internalName="EditorialTags">
      <xsd:simpleType>
        <xsd:restriction base="dms:Unknown"/>
      </xsd:simpleType>
    </xsd:element>
    <xsd:element name="TPExecutable" ma:index="38" nillable="true" ma:displayName="Executable" ma:default="" ma:internalName="TPExecutable">
      <xsd:simpleType>
        <xsd:restriction base="dms:Text"/>
      </xsd:simpleType>
    </xsd:element>
    <xsd:element name="FeatureTagsTaxHTField0" ma:index="40" nillable="true" ma:taxonomy="true" ma:internalName="FeatureTagsTaxHTField0" ma:taxonomyFieldName="FeatureTags" ma:displayName="Features" ma:readOnly="false" ma:default="" ma:fieldId="{7fc0d542-15c6-4882-a8e3-13bca44403fb}" ma:taxonomyMulti="true" ma:sspId="8f79753a-75d3-41f5-8ca3-40b843941b4f" ma:termSetId="f1ab6845-967d-4854-a0ba-4ec07f0f811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FriendlyName" ma:index="41" nillable="true" ma:displayName="Friendly Name" ma:default="" ma:internalName="TPFriendlyName">
      <xsd:simpleType>
        <xsd:restriction base="dms:Text"/>
      </xsd:simpleType>
    </xsd:element>
    <xsd:element name="FriendlyTitle" ma:index="42" nillable="true" ma:displayName="Friendly Title" ma:default="" ma:description="Shorter title to be used when displaying search results" ma:internalName="FriendlyTitle" ma:readOnly="false">
      <xsd:simpleType>
        <xsd:restriction base="dms:Text"/>
      </xsd:simpleType>
    </xsd:element>
    <xsd:element name="PrimaryImageGen" ma:index="43" nillable="true" ma:displayName="Generate Images?" ma:default="true" ma:internalName="PrimaryImageGen">
      <xsd:simpleType>
        <xsd:restriction base="dms:Boolean"/>
      </xsd:simpleType>
    </xsd:element>
    <xsd:element name="HandoffToMSDN" ma:index="44" nillable="true" ma:displayName="Handoff To MSDN Date" ma:default="" ma:internalName="HandoffToMSDN" ma:readOnly="false">
      <xsd:simpleType>
        <xsd:restriction base="dms:DateTime"/>
      </xsd:simpleType>
    </xsd:element>
    <xsd:element name="InProjectListLookup" ma:index="45" nillable="true" ma:displayName="InProjectListLookup" ma:list="{9E343742-310B-4684-A24C-1D137CB4B230}" ma:internalName="InProjectListLookup" ma:readOnly="true" ma:showField="InProjectLis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InstallLocation" ma:index="46" nillable="true" ma:displayName="Install Location" ma:default="" ma:internalName="TPInstallLocation">
      <xsd:simpleType>
        <xsd:restriction base="dms:Text"/>
      </xsd:simpleType>
    </xsd:element>
    <xsd:element name="InternalTagsTaxHTField0" ma:index="48" nillable="true" ma:taxonomy="true" ma:internalName="InternalTagsTaxHTField0" ma:taxonomyFieldName="InternalTags" ma:displayName="Internal Tags" ma:readOnly="false" ma:default="" ma:fieldId="{1490b8a4-2706-41ec-b5e3-73176dccf34e}" ma:taxonomyMulti="true" ma:sspId="8f79753a-75d3-41f5-8ca3-40b843941b4f" ma:termSetId="82b6639e-f7fc-4c18-ad2d-003a6e707765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IntlLangReview" ma:index="49" nillable="true" ma:displayName="Intl Lang QA Review Required?" ma:default="" ma:internalName="IntlLangReview" ma:readOnly="false">
      <xsd:simpleType>
        <xsd:restriction base="dms:Boolean"/>
      </xsd:simpleType>
    </xsd:element>
    <xsd:element name="IntlLangReviewer" ma:index="50" nillable="true" ma:displayName="Intl Lang QA Reviewer" ma:default="" ma:internalName="IntlLangReviewer" ma:readOnly="false">
      <xsd:simpleType>
        <xsd:restriction base="dms:Text"/>
      </xsd:simpleType>
    </xsd:element>
    <xsd:element name="MarketSpecific" ma:index="51" nillable="true" ma:displayName="Is Market Specific?" ma:default="" ma:internalName="MarketSpecific" ma:readOnly="false">
      <xsd:simpleType>
        <xsd:restriction base="dms:Boolean"/>
      </xsd:simpleType>
    </xsd:element>
    <xsd:element name="LastCompleteVersionLookup" ma:index="52" nillable="true" ma:displayName="Last Complete Version Lookup" ma:default="" ma:list="{9E343742-310B-4684-A24C-1D137CB4B230}" ma:internalName="LastCompleteVersionLookup" ma:readOnly="true" ma:showField="LastComplete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HandOff" ma:index="53" nillable="true" ma:displayName="Last Hand-off" ma:default="" ma:internalName="LastHandOff" ma:readOnly="false">
      <xsd:simpleType>
        <xsd:restriction base="dms:DateTime"/>
      </xsd:simpleType>
    </xsd:element>
    <xsd:element name="LastModifiedDateTime" ma:index="54" nillable="true" ma:displayName="Last Modified Date" ma:default="" ma:internalName="LastModifiedDateTime" ma:readOnly="false">
      <xsd:simpleType>
        <xsd:restriction base="dms:DateTime"/>
      </xsd:simpleType>
    </xsd:element>
    <xsd:element name="LastPreviewErrorLookup" ma:index="55" nillable="true" ma:displayName="Last Preview Attempt Error" ma:default="" ma:list="{9E343742-310B-4684-A24C-1D137CB4B230}" ma:internalName="LastPreviewErrorLookup" ma:readOnly="true" ma:showField="LastPreviewError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ResultLookup" ma:index="56" nillable="true" ma:displayName="Last Preview Attempt Result" ma:default="" ma:list="{9E343742-310B-4684-A24C-1D137CB4B230}" ma:internalName="LastPreviewResultLookup" ma:readOnly="true" ma:showField="LastPreviewResul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AttemptDateLookup" ma:index="57" nillable="true" ma:displayName="Last Preview Attempted On" ma:default="" ma:list="{9E343742-310B-4684-A24C-1D137CB4B230}" ma:internalName="LastPreviewAttemptDateLookup" ma:readOnly="true" ma:showField="LastPreviewAttemptDat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edByLookup" ma:index="58" nillable="true" ma:displayName="Last Previewed By" ma:default="" ma:list="{9E343742-310B-4684-A24C-1D137CB4B230}" ma:internalName="LastPreviewedByLookup" ma:readOnly="true" ma:showField="LastPreviewedBy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TimeLookup" ma:index="59" nillable="true" ma:displayName="Last Previewed Date" ma:default="" ma:list="{9E343742-310B-4684-A24C-1D137CB4B230}" ma:internalName="LastPreviewTimeLookup" ma:readOnly="true" ma:showField="LastPreviewTi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VersionLookup" ma:index="60" nillable="true" ma:displayName="Last Previewed Version" ma:default="" ma:list="{9E343742-310B-4684-A24C-1D137CB4B230}" ma:internalName="LastPreviewVersionLookup" ma:readOnly="true" ma:showField="LastPreview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rrorLookup" ma:index="61" nillable="true" ma:displayName="Last Publish Attempt Error" ma:default="" ma:list="{9E343742-310B-4684-A24C-1D137CB4B230}" ma:internalName="LastPublishErrorLookup" ma:readOnly="true" ma:showField="LastPublishError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ResultLookup" ma:index="62" nillable="true" ma:displayName="Last Publish Attempt Result" ma:default="" ma:list="{9E343742-310B-4684-A24C-1D137CB4B230}" ma:internalName="LastPublishResultLookup" ma:readOnly="true" ma:showField="LastPublishResul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AttemptDateLookup" ma:index="63" nillable="true" ma:displayName="Last Publish Attempted On" ma:default="" ma:list="{9E343742-310B-4684-A24C-1D137CB4B230}" ma:internalName="LastPublishAttemptDateLookup" ma:readOnly="true" ma:showField="LastPublishAttemptDat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dByLookup" ma:index="64" nillable="true" ma:displayName="Last Published By" ma:default="" ma:list="{9E343742-310B-4684-A24C-1D137CB4B230}" ma:internalName="LastPublishedByLookup" ma:readOnly="true" ma:showField="LastPublishedBy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TimeLookup" ma:index="65" nillable="true" ma:displayName="Last Published Date" ma:default="" ma:list="{9E343742-310B-4684-A24C-1D137CB4B230}" ma:internalName="LastPublishTimeLookup" ma:readOnly="true" ma:showField="LastPublishTi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VersionLookup" ma:index="66" nillable="true" ma:displayName="Last Published Version" ma:default="" ma:list="{9E343742-310B-4684-A24C-1D137CB4B230}" ma:internalName="LastPublishVersionLookup" ma:readOnly="true" ma:showField="LastPublish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LaunchHelpLinkType" ma:index="67" nillable="true" ma:displayName="Launch Help Link Type" ma:default="Template" ma:internalName="TPLaunchHelpLinkType">
      <xsd:simpleType>
        <xsd:restriction base="dms:Choice">
          <xsd:enumeration value="Template"/>
          <xsd:enumeration value="Training"/>
          <xsd:enumeration value="URL"/>
          <xsd:enumeration value="None"/>
        </xsd:restriction>
      </xsd:simpleType>
    </xsd:element>
    <xsd:element name="LegacyData" ma:index="68" nillable="true" ma:displayName="Legacy Data" ma:default="" ma:internalName="LegacyData" ma:readOnly="false">
      <xsd:simpleType>
        <xsd:restriction base="dms:Note"/>
      </xsd:simpleType>
    </xsd:element>
    <xsd:element name="TPLaunchHelpLink" ma:index="69" nillable="true" ma:displayName="Link to Launch Help Topic" ma:default="" ma:internalName="TPLaunchHelpLink">
      <xsd:simpleType>
        <xsd:restriction base="dms:Text"/>
      </xsd:simpleType>
    </xsd:element>
    <xsd:element name="LocComments" ma:index="70" nillable="true" ma:displayName="Loc Approval Comments" ma:default="" ma:internalName="LocComments" ma:readOnly="false">
      <xsd:simpleType>
        <xsd:restriction base="dms:Note"/>
      </xsd:simpleType>
    </xsd:element>
    <xsd:element name="LocLastLocAttemptVersionLookup" ma:index="71" nillable="true" ma:displayName="Loc Last Loc Attempt Version" ma:default="" ma:list="{7DD1DCEC-E449-43D3-891F-7DC62F62AD21}" ma:internalName="LocLastLocAttemptVersionLookup" ma:readOnly="false" ma:showField="LastLocAttemptVersion" ma:web="4873beb7-5857-4685-be1f-d57550cc96cc">
      <xsd:simpleType>
        <xsd:restriction base="dms:Lookup"/>
      </xsd:simpleType>
    </xsd:element>
    <xsd:element name="LocLastLocAttemptVersionTypeLookup" ma:index="72" nillable="true" ma:displayName="Loc Last Loc Attempt Version Type" ma:default="" ma:list="{7DD1DCEC-E449-43D3-891F-7DC62F62AD21}" ma:internalName="LocLastLocAttemptVersionTypeLookup" ma:readOnly="true" ma:showField="LastLocAttemptVersionType" ma:web="4873beb7-5857-4685-be1f-d57550cc96cc">
      <xsd:simpleType>
        <xsd:restriction base="dms:Lookup"/>
      </xsd:simpleType>
    </xsd:element>
    <xsd:element name="LocManualTestRequired" ma:index="73" nillable="true" ma:displayName="Loc Manual Test Required" ma:default="" ma:internalName="LocManualTestRequired" ma:readOnly="false">
      <xsd:simpleType>
        <xsd:restriction base="dms:Boolean"/>
      </xsd:simpleType>
    </xsd:element>
    <xsd:element name="LocMarketGroupTiers2" ma:index="74" nillable="true" ma:displayName="Loc Market Group Tiers" ma:internalName="LocMarketGroupTiers2" ma:readOnly="false">
      <xsd:simpleType>
        <xsd:restriction base="dms:Unknown"/>
      </xsd:simpleType>
    </xsd:element>
    <xsd:element name="LocNewPublishedVersionLookup" ma:index="75" nillable="true" ma:displayName="Loc New Published Version Lookup" ma:default="" ma:list="{7DD1DCEC-E449-43D3-891F-7DC62F62AD21}" ma:internalName="LocNewPublishedVersionLookup" ma:readOnly="true" ma:showField="NewPublishedVersion" ma:web="4873beb7-5857-4685-be1f-d57550cc96cc">
      <xsd:simpleType>
        <xsd:restriction base="dms:Lookup"/>
      </xsd:simpleType>
    </xsd:element>
    <xsd:element name="LocOverallHandbackStatusLookup" ma:index="76" nillable="true" ma:displayName="Loc Overall Handback Status" ma:default="" ma:list="{7DD1DCEC-E449-43D3-891F-7DC62F62AD21}" ma:internalName="LocOverallHandbackStatusLookup" ma:readOnly="true" ma:showField="OverallHandbackStatus" ma:web="4873beb7-5857-4685-be1f-d57550cc96cc">
      <xsd:simpleType>
        <xsd:restriction base="dms:Lookup"/>
      </xsd:simpleType>
    </xsd:element>
    <xsd:element name="LocOverallLocStatusLookup" ma:index="77" nillable="true" ma:displayName="Loc Overall Localize Status" ma:default="" ma:list="{7DD1DCEC-E449-43D3-891F-7DC62F62AD21}" ma:internalName="LocOverallLocStatusLookup" ma:readOnly="true" ma:showField="OverallLocStatus" ma:web="4873beb7-5857-4685-be1f-d57550cc96cc">
      <xsd:simpleType>
        <xsd:restriction base="dms:Lookup"/>
      </xsd:simpleType>
    </xsd:element>
    <xsd:element name="LocOverallPreviewStatusLookup" ma:index="78" nillable="true" ma:displayName="Loc Overall Preview Status" ma:default="" ma:list="{7DD1DCEC-E449-43D3-891F-7DC62F62AD21}" ma:internalName="LocOverallPreviewStatusLookup" ma:readOnly="true" ma:showField="OverallPreviewStatus" ma:web="4873beb7-5857-4685-be1f-d57550cc96cc">
      <xsd:simpleType>
        <xsd:restriction base="dms:Lookup"/>
      </xsd:simpleType>
    </xsd:element>
    <xsd:element name="LocOverallPublishStatusLookup" ma:index="79" nillable="true" ma:displayName="Loc Overall Publish Status" ma:default="" ma:list="{7DD1DCEC-E449-43D3-891F-7DC62F62AD21}" ma:internalName="LocOverallPublishStatusLookup" ma:readOnly="true" ma:showField="OverallPublishStatus" ma:web="4873beb7-5857-4685-be1f-d57550cc96cc">
      <xsd:simpleType>
        <xsd:restriction base="dms:Lookup"/>
      </xsd:simpleType>
    </xsd:element>
    <xsd:element name="IntlLocPriority" ma:index="80" nillable="true" ma:displayName="Loc Priority" ma:default="" ma:internalName="IntlLocPriority" ma:readOnly="false">
      <xsd:simpleType>
        <xsd:restriction base="dms:Unknown"/>
      </xsd:simpleType>
    </xsd:element>
    <xsd:element name="LocProcessedForHandoffsLookup" ma:index="81" nillable="true" ma:displayName="Loc Processed For Handoffs" ma:default="" ma:list="{7DD1DCEC-E449-43D3-891F-7DC62F62AD21}" ma:internalName="LocProcessedForHandoffsLookup" ma:readOnly="true" ma:showField="ProcessedForHandoffs" ma:web="4873beb7-5857-4685-be1f-d57550cc96cc">
      <xsd:simpleType>
        <xsd:restriction base="dms:Lookup"/>
      </xsd:simpleType>
    </xsd:element>
    <xsd:element name="LocProcessedForMarketsLookup" ma:index="82" nillable="true" ma:displayName="Loc Processed For Markets" ma:default="" ma:list="{7DD1DCEC-E449-43D3-891F-7DC62F62AD21}" ma:internalName="LocProcessedForMarketsLookup" ma:readOnly="true" ma:showField="ProcessedForMarkets" ma:web="4873beb7-5857-4685-be1f-d57550cc96cc">
      <xsd:simpleType>
        <xsd:restriction base="dms:Lookup"/>
      </xsd:simpleType>
    </xsd:element>
    <xsd:element name="LocPublishedDependentAssetsLookup" ma:index="83" nillable="true" ma:displayName="Loc Published Dependent Assets" ma:default="" ma:list="{7DD1DCEC-E449-43D3-891F-7DC62F62AD21}" ma:internalName="LocPublishedDependentAssetsLookup" ma:readOnly="true" ma:showField="PublishedDependentAssets" ma:web="4873beb7-5857-4685-be1f-d57550cc96cc">
      <xsd:simpleType>
        <xsd:restriction base="dms:Lookup"/>
      </xsd:simpleType>
    </xsd:element>
    <xsd:element name="LocPublishedLinkedAssetsLookup" ma:index="84" nillable="true" ma:displayName="Loc Published Linked Assets" ma:default="" ma:list="{7DD1DCEC-E449-43D3-891F-7DC62F62AD21}" ma:internalName="LocPublishedLinkedAssetsLookup" ma:readOnly="true" ma:showField="PublishedLinkedAssets" ma:web="4873beb7-5857-4685-be1f-d57550cc96cc">
      <xsd:simpleType>
        <xsd:restriction base="dms:Lookup"/>
      </xsd:simpleType>
    </xsd:element>
    <xsd:element name="LocRecommendedHandoff" ma:index="85" nillable="true" ma:displayName="Loc Recommended Handoff" ma:default="" ma:indexed="true" ma:internalName="LocRecommendedHandoff" ma:readOnly="false">
      <xsd:simpleType>
        <xsd:restriction base="dms:Text"/>
      </xsd:simpleType>
    </xsd:element>
    <xsd:element name="LocalizationTagsTaxHTField0" ma:index="87" nillable="true" ma:taxonomy="true" ma:internalName="LocalizationTagsTaxHTField0" ma:taxonomyFieldName="LocalizationTags" ma:displayName="Localization Tags" ma:readOnly="false" ma:default="" ma:fieldId="{00f02cb3-2c7c-424a-9c61-10e9b6878429}" ma:taxonomyMulti="true" ma:sspId="8f79753a-75d3-41f5-8ca3-40b843941b4f" ma:termSetId="5b7703a5-8e8b-4b58-8b31-1cea35331da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MachineTranslated" ma:index="88" nillable="true" ma:displayName="Machine Translated" ma:default="" ma:internalName="MachineTranslated" ma:readOnly="false">
      <xsd:simpleType>
        <xsd:restriction base="dms:Boolean"/>
      </xsd:simpleType>
    </xsd:element>
    <xsd:element name="Manager" ma:index="89" nillable="true" ma:displayName="Manager" ma:hidden="true" ma:internalName="Manager" ma:readOnly="false">
      <xsd:simpleType>
        <xsd:restriction base="dms:Text"/>
      </xsd:simpleType>
    </xsd:element>
    <xsd:element name="Markets" ma:index="90" nillable="true" ma:displayName="Markets" ma:default="" ma:description="Leave blank to show in all markets" ma:list="{2FBD1B11-2ACE-4FDC-B5A3-635D4ADF6F1B}" ma:internalName="Markets" ma:readOnly="false" ma:showField="MarketNa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Milestone" ma:index="91" nillable="true" ma:displayName="Milestone" ma:default="" ma:internalName="Milestone" ma:readOnly="false">
      <xsd:simpleType>
        <xsd:restriction base="dms:Unknown"/>
      </xsd:simpleType>
    </xsd:element>
    <xsd:element name="TPNamespace" ma:index="94" nillable="true" ma:displayName="Namespace" ma:default="" ma:internalName="TPNamespace">
      <xsd:simpleType>
        <xsd:restriction base="dms:Text"/>
      </xsd:simpleType>
    </xsd:element>
    <xsd:element name="NumericId" ma:index="95" nillable="true" ma:displayName="Numeric ID" ma:default="" ma:indexed="true" ma:internalName="NumericId" ma:readOnly="false">
      <xsd:simpleType>
        <xsd:restriction base="dms:Number"/>
      </xsd:simpleType>
    </xsd:element>
    <xsd:element name="NumOfRatingsLookup" ma:index="96" nillable="true" ma:displayName="NumOfRatings" ma:default="" ma:list="{9E343742-310B-4684-A24C-1D137CB4B230}" ma:internalName="NumOfRatingsLookup" ma:readOnly="true" ma:showField="NumOfRatings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OOCacheId" ma:index="97" nillable="true" ma:displayName="OOCacheId" ma:internalName="OOCacheId" ma:readOnly="false">
      <xsd:simpleType>
        <xsd:restriction base="dms:Text"/>
      </xsd:simpleType>
    </xsd:element>
    <xsd:element name="OpenTemplate" ma:index="98" nillable="true" ma:displayName="Open Template" ma:default="true" ma:internalName="OpenTemplate">
      <xsd:simpleType>
        <xsd:restriction base="dms:Boolean"/>
      </xsd:simpleType>
    </xsd:element>
    <xsd:element name="OriginAsset" ma:index="99" nillable="true" ma:displayName="Origin Asset" ma:default="" ma:internalName="OriginAsset" ma:readOnly="false">
      <xsd:simpleType>
        <xsd:restriction base="dms:Text"/>
      </xsd:simpleType>
    </xsd:element>
    <xsd:element name="OriginalRelease" ma:index="100" nillable="true" ma:displayName="Original Release" ma:default="15" ma:internalName="OriginalRelease" ma:readOnly="false">
      <xsd:simpleType>
        <xsd:restriction base="dms:Choice">
          <xsd:enumeration value="14"/>
          <xsd:enumeration value="15"/>
          <xsd:enumeration value="16"/>
        </xsd:restriction>
      </xsd:simpleType>
    </xsd:element>
    <xsd:element name="OriginalSourceMarket" ma:index="101" nillable="true" ma:displayName="Original Source Market Group" ma:default="" ma:internalName="OriginalSourceMarket" ma:readOnly="false">
      <xsd:simpleType>
        <xsd:restriction base="dms:Text"/>
      </xsd:simpleType>
    </xsd:element>
    <xsd:element name="OutputCachingOn" ma:index="102" nillable="true" ma:displayName="Output Caching" ma:default="true" ma:hidden="true" ma:internalName="OutputCachingOn" ma:readOnly="false">
      <xsd:simpleType>
        <xsd:restriction base="dms:Boolean"/>
      </xsd:simpleType>
    </xsd:element>
    <xsd:element name="ParentAssetId" ma:index="103" nillable="true" ma:displayName="Parent Asset Id" ma:default="" ma:internalName="ParentAssetId" ma:readOnly="false">
      <xsd:simpleType>
        <xsd:restriction base="dms:Text"/>
      </xsd:simpleType>
    </xsd:element>
    <xsd:element name="PlannedPubDate" ma:index="104" nillable="true" ma:displayName="Planned Publish Date" ma:default="" ma:indexed="true" ma:internalName="PlannedPubDate" ma:readOnly="false">
      <xsd:simpleType>
        <xsd:restriction base="dms:DateTime"/>
      </xsd:simpleType>
    </xsd:element>
    <xsd:element name="PolicheckWords" ma:index="105" nillable="true" ma:displayName="Policheck Words" ma:default="" ma:internalName="PolicheckWords" ma:readOnly="false">
      <xsd:simpleType>
        <xsd:restriction base="dms:Text"/>
      </xsd:simpleType>
    </xsd:element>
    <xsd:element name="BusinessGroup" ma:index="106" nillable="true" ma:displayName="Product Division Owner" ma:default="" ma:internalName="BusinessGroup" ma:readOnly="false">
      <xsd:simpleType>
        <xsd:restriction base="dms:Unknown"/>
      </xsd:simpleType>
    </xsd:element>
    <xsd:element name="UAProjectedTotalWords" ma:index="107" nillable="true" ma:displayName="Projected Word Count" ma:default="" ma:internalName="UAProjectedTotalWords" ma:readOnly="false">
      <xsd:simpleType>
        <xsd:restriction base="dms:Unknown"/>
      </xsd:simpleType>
    </xsd:element>
    <xsd:element name="Provider" ma:index="108" nillable="true" ma:displayName="Provider" ma:default="" ma:internalName="Provider" ma:readOnly="false">
      <xsd:simpleType>
        <xsd:restriction base="dms:Unknown"/>
      </xsd:simpleType>
    </xsd:element>
    <xsd:element name="Providers" ma:index="109" nillable="true" ma:displayName="Providers" ma:default="" ma:internalName="Providers">
      <xsd:simpleType>
        <xsd:restriction base="dms:Unknown"/>
      </xsd:simpleType>
    </xsd:element>
    <xsd:element name="PublishStatusLookup" ma:index="110" nillable="true" ma:displayName="Publish Status" ma:default="" ma:list="{9E343742-310B-4684-A24C-1D137CB4B230}" ma:internalName="PublishStatusLookup" ma:readOnly="false" ma:showField="PublishStatus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PublishTargets" ma:index="111" nillable="true" ma:displayName="Publish Target" ma:default="OfficeOnlineVNext" ma:internalName="PublishTargets" ma:readOnly="false">
      <xsd:simpleType>
        <xsd:restriction base="dms:Unknown"/>
      </xsd:simpleType>
    </xsd:element>
    <xsd:element name="RecommendationsModifier" ma:index="112" nillable="true" ma:displayName="Recommendations Modifier" ma:default="" ma:internalName="RecommendationsModifier" ma:readOnly="false">
      <xsd:simpleType>
        <xsd:restriction base="dms:Number"/>
      </xsd:simpleType>
    </xsd:element>
    <xsd:element name="ArtSampleDocs" ma:index="113" nillable="true" ma:displayName="Sample Docs" ma:default="" ma:hidden="true" ma:internalName="ArtSampleDocs" ma:readOnly="false">
      <xsd:simpleType>
        <xsd:restriction base="dms:Text"/>
      </xsd:simpleType>
    </xsd:element>
    <xsd:element name="ScenarioTagsTaxHTField0" ma:index="115" nillable="true" ma:taxonomy="true" ma:internalName="ScenarioTagsTaxHTField0" ma:taxonomyFieldName="ScenarioTags" ma:displayName="Scenarios" ma:readOnly="false" ma:default="" ma:fieldId="{93aef74d-6c78-4815-8310-51477dceeccc}" ma:taxonomyMulti="true" ma:sspId="8f79753a-75d3-41f5-8ca3-40b843941b4f" ma:termSetId="4b7d5f16-e2f2-4fc0-bab3-6e8b931e57d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ShowIn" ma:index="117" nillable="true" ma:displayName="Show In" ma:default="Show everywhere" ma:internalName="ShowIn" ma:readOnly="false">
      <xsd:simpleType>
        <xsd:restriction base="dms:Choice">
          <xsd:enumeration value="Hide on web"/>
          <xsd:enumeration value="On Web no search"/>
          <xsd:enumeration value="Show everywhere"/>
          <xsd:enumeration value="Special use only"/>
        </xsd:restriction>
      </xsd:simpleType>
    </xsd:element>
    <xsd:element name="SourceTitle" ma:index="118" nillable="true" ma:displayName="Source Title" ma:default="" ma:indexed="true" ma:internalName="SourceTitle" ma:readOnly="false">
      <xsd:simpleType>
        <xsd:restriction base="dms:Text"/>
      </xsd:simpleType>
    </xsd:element>
    <xsd:element name="CSXSubmissionDate" ma:index="119" nillable="true" ma:displayName="Submission Date" ma:default="" ma:internalName="CSXSubmissionDate" ma:readOnly="false">
      <xsd:simpleType>
        <xsd:restriction base="dms:DateTime"/>
      </xsd:simpleType>
    </xsd:element>
    <xsd:element name="SubmitterId" ma:index="120" nillable="true" ma:displayName="Submitter ID" ma:default="" ma:internalName="SubmitterId" ma:readOnly="false">
      <xsd:simpleType>
        <xsd:restriction base="dms:Text"/>
      </xsd:simpleType>
    </xsd:element>
    <xsd:element name="TaxCatchAll" ma:index="121" nillable="true" ma:displayName="Taxonomy Catch All Column" ma:hidden="true" ma:list="{530f955b-6704-4601-bd83-f81d87f1e440}" ma:internalName="TaxCatchAll" ma:showField="CatchAllData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axCatchAllLabel" ma:index="122" nillable="true" ma:displayName="Taxonomy Catch All Column1" ma:hidden="true" ma:list="{530f955b-6704-4601-bd83-f81d87f1e440}" ma:internalName="TaxCatchAllLabel" ma:readOnly="true" ma:showField="CatchAllDataLabel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emplateStatus" ma:index="123" nillable="true" ma:displayName="Template Status" ma:default="" ma:internalName="TemplateStatus">
      <xsd:simpleType>
        <xsd:restriction base="dms:Unknown"/>
      </xsd:simpleType>
    </xsd:element>
    <xsd:element name="TemplateTemplateType" ma:index="124" nillable="true" ma:displayName="Template Type" ma:default="" ma:internalName="TemplateTemplateType">
      <xsd:simpleType>
        <xsd:restriction base="dms:Unknown"/>
      </xsd:simpleType>
    </xsd:element>
    <xsd:element name="ThumbnailAssetId" ma:index="125" nillable="true" ma:displayName="Thumbnail Image Asset" ma:default="" ma:internalName="ThumbnailAssetId" ma:readOnly="false">
      <xsd:simpleType>
        <xsd:restriction base="dms:Text"/>
      </xsd:simpleType>
    </xsd:element>
    <xsd:element name="TimesCloned" ma:index="126" nillable="true" ma:displayName="Times Cloned" ma:default="" ma:internalName="TimesCloned" ma:readOnly="false">
      <xsd:simpleType>
        <xsd:restriction base="dms:Number"/>
      </xsd:simpleType>
    </xsd:element>
    <xsd:element name="TrustLevel" ma:index="128" nillable="true" ma:displayName="Trust Level" ma:default="1 Microsoft Managed Content" ma:internalName="TrustLevel" ma:readOnly="false">
      <xsd:simpleType>
        <xsd:restriction base="dms:Unknown"/>
      </xsd:simpleType>
    </xsd:element>
    <xsd:element name="UALocComments" ma:index="129" nillable="true" ma:displayName="UA Loc Comments" ma:default="" ma:internalName="UALocComments" ma:readOnly="false">
      <xsd:simpleType>
        <xsd:restriction base="dms:Note"/>
      </xsd:simpleType>
    </xsd:element>
    <xsd:element name="UALocRecommendation" ma:index="130" nillable="true" ma:displayName="UA Loc Recommendation" ma:default="Localize" ma:internalName="UALocRecommendation" ma:readOnly="false">
      <xsd:simpleType>
        <xsd:restriction base="dms:Choice">
          <xsd:enumeration value="Localize"/>
          <xsd:enumeration value="Never Localize"/>
          <xsd:enumeration value="Priority Localize"/>
        </xsd:restriction>
      </xsd:simpleType>
    </xsd:element>
    <xsd:element name="UANotes" ma:index="131" nillable="true" ma:displayName="UA Notes" ma:default="" ma:internalName="UANotes" ma:readOnly="false">
      <xsd:simpleType>
        <xsd:restriction base="dms:Note"/>
      </xsd:simpleType>
    </xsd:element>
    <xsd:element name="TPAppVersion" ma:index="132" nillable="true" ma:displayName="Version" ma:default="" ma:internalName="TPAppVersion">
      <xsd:simpleType>
        <xsd:restriction base="dms:Text"/>
      </xsd:simpleType>
    </xsd:element>
    <xsd:element name="VoteCount" ma:index="133" nillable="true" ma:displayName="Vote Count" ma:default="" ma:internalName="VoteCount" ma:readOnly="fals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22" ma:displayName="Content Type"/>
        <xsd:element ref="dc:title" minOccurs="0" maxOccurs="1" ma:index="127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C3DEC53A-9DF1-4780-BE92-17E971B7A9ED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B970C04F-E7AC-41AB-9C6D-1B1BB88BFF7F}">
  <ds:schemaRefs>
    <ds:schemaRef ds:uri="http://schemas.microsoft.com/office/2006/documentManagement/types"/>
    <ds:schemaRef ds:uri="4873beb7-5857-4685-be1f-d57550cc96cc"/>
    <ds:schemaRef ds:uri="http://purl.org/dc/elements/1.1/"/>
    <ds:schemaRef ds:uri="http://schemas.microsoft.com/office/2006/metadata/properties"/>
    <ds:schemaRef ds:uri="http://schemas.microsoft.com/office/infopath/2007/PartnerControls"/>
    <ds:schemaRef ds:uri="http://purl.org/dc/terms/"/>
    <ds:schemaRef ds:uri="http://schemas.openxmlformats.org/package/2006/metadata/core-properties"/>
    <ds:schemaRef ds:uri="http://www.w3.org/XML/1998/namespace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63EE7759-C66F-4EA4-9863-7EBA32518D3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873beb7-5857-4685-be1f-d57550cc96c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Welcome to PowerPoint 2013</Template>
  <TotalTime>1065</TotalTime>
  <Words>172</Words>
  <Application>Microsoft Office PowerPoint</Application>
  <PresentationFormat>Widescreen</PresentationFormat>
  <Paragraphs>33</Paragraphs>
  <Slides>13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Arial</vt:lpstr>
      <vt:lpstr>Calibri</vt:lpstr>
      <vt:lpstr>Segoe UI</vt:lpstr>
      <vt:lpstr>Segoe UI Light</vt:lpstr>
      <vt:lpstr>Times New Roman</vt:lpstr>
      <vt:lpstr>WelcomeDoc</vt:lpstr>
      <vt:lpstr>Pengolahan Citra Digital</vt:lpstr>
      <vt:lpstr>Sudut pengabilan citra</vt:lpstr>
      <vt:lpstr>Sudut Kamera Obyektif</vt:lpstr>
      <vt:lpstr>BIRD EYE VIEW</vt:lpstr>
      <vt:lpstr>Low angle</vt:lpstr>
      <vt:lpstr>Eye level</vt:lpstr>
      <vt:lpstr>Frog eye</vt:lpstr>
      <vt:lpstr>Frog eye</vt:lpstr>
      <vt:lpstr>Splitting video ke gambar per frame</vt:lpstr>
      <vt:lpstr>Splitting video ke gambar per frame</vt:lpstr>
      <vt:lpstr>Splitting video ke gambar per frame</vt:lpstr>
      <vt:lpstr>Splitting video ke gambar per frame</vt:lpstr>
      <vt:lpstr>TERIMAH KASIH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Pengolahan Citra Digital</dc:title>
  <dc:creator>LENOVO</dc:creator>
  <cp:keywords/>
  <cp:lastModifiedBy>LENOVO</cp:lastModifiedBy>
  <cp:revision>145</cp:revision>
  <dcterms:created xsi:type="dcterms:W3CDTF">2022-03-01T01:11:31Z</dcterms:created>
  <dcterms:modified xsi:type="dcterms:W3CDTF">2022-05-17T02:59:55Z</dcterms:modified>
  <cp:version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nternalTags">
    <vt:lpwstr/>
  </property>
  <property fmtid="{D5CDD505-2E9C-101B-9397-08002B2CF9AE}" pid="3" name="_TemplateID">
    <vt:lpwstr>TC029239449991</vt:lpwstr>
  </property>
  <property fmtid="{D5CDD505-2E9C-101B-9397-08002B2CF9AE}" pid="4" name="ContentTypeId">
    <vt:lpwstr>0x0101006EDDDB5EE6D98C44930B742096920B300400F5B6D36B3EF94B4E9A635CDF2A18F5B8</vt:lpwstr>
  </property>
  <property fmtid="{D5CDD505-2E9C-101B-9397-08002B2CF9AE}" pid="5" name="FeatureTags">
    <vt:lpwstr/>
  </property>
  <property fmtid="{D5CDD505-2E9C-101B-9397-08002B2CF9AE}" pid="6" name="LocalizationTags">
    <vt:lpwstr/>
  </property>
  <property fmtid="{D5CDD505-2E9C-101B-9397-08002B2CF9AE}" pid="7" name="ScenarioTags">
    <vt:lpwstr/>
  </property>
  <property fmtid="{D5CDD505-2E9C-101B-9397-08002B2CF9AE}" pid="8" name="CampaignTags">
    <vt:lpwstr/>
  </property>
</Properties>
</file>