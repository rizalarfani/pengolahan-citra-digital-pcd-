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B4A6"/>
    <a:srgbClr val="734F29"/>
    <a:srgbClr val="D24726"/>
    <a:srgbClr val="DD462F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280" autoAdjust="0"/>
  </p:normalViewPr>
  <p:slideViewPr>
    <p:cSldViewPr snapToGrid="0">
      <p:cViewPr varScale="1">
        <p:scale>
          <a:sx n="70" d="100"/>
          <a:sy n="70" d="100"/>
        </p:scale>
        <p:origin x="508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061006"/>
            <a:ext cx="10515600" cy="2387600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13779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600"/>
              </a:spcBef>
              <a:buNone/>
              <a:defRPr sz="2800">
                <a:solidFill>
                  <a:srgbClr val="D24726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434" y="0"/>
            <a:ext cx="10749367" cy="120886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825625"/>
            <a:ext cx="4167753" cy="435133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Aft>
                <a:spcPts val="120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>
              <a:lnSpc>
                <a:spcPct val="150000"/>
              </a:lnSpc>
              <a:spcAft>
                <a:spcPts val="1200"/>
              </a:spcAft>
              <a:defRPr sz="1400">
                <a:solidFill>
                  <a:schemeClr val="bg1">
                    <a:lumMod val="50000"/>
                  </a:schemeClr>
                </a:solidFill>
              </a:defRPr>
            </a:lvl2pPr>
            <a:lvl3pPr>
              <a:lnSpc>
                <a:spcPct val="150000"/>
              </a:lnSpc>
              <a:spcAft>
                <a:spcPts val="1200"/>
              </a:spcAft>
              <a:defRPr sz="1200">
                <a:solidFill>
                  <a:schemeClr val="bg1">
                    <a:lumMod val="50000"/>
                  </a:schemeClr>
                </a:solidFill>
              </a:defRPr>
            </a:lvl3pPr>
            <a:lvl4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4pPr>
            <a:lvl5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1" y="2402238"/>
            <a:ext cx="4508715" cy="2187227"/>
          </a:xfrm>
        </p:spPr>
        <p:txBody>
          <a:bodyPr anchor="ctr">
            <a:noAutofit/>
          </a:bodyPr>
          <a:lstStyle>
            <a:lvl1pPr algn="l">
              <a:defRPr sz="4800">
                <a:solidFill>
                  <a:srgbClr val="D247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308" y="2402237"/>
            <a:ext cx="5269424" cy="2187226"/>
          </a:xfr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737851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0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1851" y="2193927"/>
            <a:ext cx="5156200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664" y="1489075"/>
            <a:ext cx="5157787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664" y="2193927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15419" y="365125"/>
            <a:ext cx="1819564" cy="5811838"/>
          </a:xfrm>
        </p:spPr>
        <p:txBody>
          <a:bodyPr vert="eaVert"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izalarfani/Pengolahan-Citra-Digital-PCD-/blob/master/Latihan/Morphological%20Image%20Proccessing.ipynb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2" y="1474041"/>
            <a:ext cx="10515600" cy="2387600"/>
          </a:xfrm>
        </p:spPr>
        <p:txBody>
          <a:bodyPr/>
          <a:lstStyle/>
          <a:p>
            <a:r>
              <a:rPr lang="en-US" b="1" dirty="0" err="1" smtClean="0"/>
              <a:t>Pengolahan</a:t>
            </a:r>
            <a:r>
              <a:rPr lang="en-US" b="1" dirty="0" smtClean="0"/>
              <a:t> Citra Digital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588955"/>
          </a:xfrm>
        </p:spPr>
        <p:txBody>
          <a:bodyPr>
            <a:normAutofit/>
          </a:bodyPr>
          <a:lstStyle/>
          <a:p>
            <a:r>
              <a:rPr lang="en-US" dirty="0" err="1" smtClean="0"/>
              <a:t>Oleh</a:t>
            </a:r>
            <a:r>
              <a:rPr lang="en-US" dirty="0" smtClean="0"/>
              <a:t> :</a:t>
            </a:r>
          </a:p>
          <a:p>
            <a:r>
              <a:rPr lang="en-US" dirty="0" smtClean="0"/>
              <a:t>Very </a:t>
            </a:r>
            <a:r>
              <a:rPr lang="en-US" dirty="0" err="1" smtClean="0"/>
              <a:t>Kurnia</a:t>
            </a:r>
            <a:r>
              <a:rPr lang="en-US" dirty="0" smtClean="0"/>
              <a:t> </a:t>
            </a:r>
            <a:r>
              <a:rPr lang="en-US" dirty="0" err="1" smtClean="0"/>
              <a:t>Bakti</a:t>
            </a:r>
            <a:r>
              <a:rPr lang="en-US" dirty="0" smtClean="0"/>
              <a:t>, </a:t>
            </a:r>
            <a:r>
              <a:rPr lang="en-US" dirty="0" err="1" smtClean="0"/>
              <a:t>M.Kom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964952" y="3857452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Morphological </a:t>
            </a:r>
            <a:r>
              <a:rPr lang="en-US" sz="2400" dirty="0">
                <a:solidFill>
                  <a:schemeClr val="bg1"/>
                </a:solidFill>
              </a:rPr>
              <a:t>Image </a:t>
            </a:r>
            <a:r>
              <a:rPr lang="en-US" sz="2400" dirty="0" err="1">
                <a:solidFill>
                  <a:schemeClr val="bg1"/>
                </a:solidFill>
              </a:rPr>
              <a:t>Proccessing</a:t>
            </a:r>
            <a:endParaRPr lang="en-US" sz="24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Morfologi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742384" y="1765426"/>
            <a:ext cx="84287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 smtClean="0"/>
              <a:t>morfologi</a:t>
            </a:r>
            <a:r>
              <a:rPr lang="en-US" b="1" dirty="0" smtClean="0"/>
              <a:t> </a:t>
            </a:r>
            <a:r>
              <a:rPr lang="sv-SE" dirty="0" smtClean="0"/>
              <a:t>merupakan </a:t>
            </a:r>
            <a:r>
              <a:rPr lang="sv-SE" dirty="0"/>
              <a:t>operasi yang umum dikenakan pada citra biner (hitam-putih) untuk mengubah struktur bentuk objek yang terkandung dalam citra.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42384" y="2688756"/>
            <a:ext cx="50156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Contoh</a:t>
            </a:r>
            <a:r>
              <a:rPr lang="en-US" dirty="0" smtClean="0"/>
              <a:t> </a:t>
            </a:r>
            <a:r>
              <a:rPr lang="en-US" dirty="0" err="1" smtClean="0"/>
              <a:t>aplikasi</a:t>
            </a:r>
            <a:r>
              <a:rPr lang="en-US" dirty="0"/>
              <a:t> </a:t>
            </a:r>
            <a:r>
              <a:rPr lang="en-US" dirty="0" smtClean="0"/>
              <a:t>/ </a:t>
            </a:r>
            <a:r>
              <a:rPr lang="en-US" dirty="0" err="1" smtClean="0"/>
              <a:t>operasi</a:t>
            </a:r>
            <a:r>
              <a:rPr lang="en-US" dirty="0" smtClean="0"/>
              <a:t> </a:t>
            </a:r>
            <a:r>
              <a:rPr lang="en-US" dirty="0" err="1" smtClean="0"/>
              <a:t>Morfologi</a:t>
            </a:r>
            <a:r>
              <a:rPr lang="en-US" dirty="0" smtClean="0"/>
              <a:t>: 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 smtClean="0"/>
              <a:t>Menutup</a:t>
            </a:r>
            <a:r>
              <a:rPr lang="en-US" dirty="0" smtClean="0"/>
              <a:t> </a:t>
            </a:r>
            <a:r>
              <a:rPr lang="en-US" dirty="0" err="1"/>
              <a:t>lubang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citra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Memisahkan</a:t>
            </a:r>
            <a:r>
              <a:rPr lang="en-US" dirty="0"/>
              <a:t> </a:t>
            </a:r>
            <a:r>
              <a:rPr lang="en-US" dirty="0" err="1"/>
              <a:t>objek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Membentuk</a:t>
            </a:r>
            <a:r>
              <a:rPr lang="en-US" dirty="0"/>
              <a:t> filter </a:t>
            </a:r>
            <a:r>
              <a:rPr lang="en-US" dirty="0" err="1"/>
              <a:t>spasial</a:t>
            </a:r>
            <a:r>
              <a:rPr lang="en-US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Memperoleh</a:t>
            </a:r>
            <a:r>
              <a:rPr lang="en-US" dirty="0"/>
              <a:t> skeleton (</a:t>
            </a:r>
            <a:r>
              <a:rPr lang="en-US" dirty="0" err="1"/>
              <a:t>rangka</a:t>
            </a:r>
            <a:r>
              <a:rPr lang="en-US" dirty="0"/>
              <a:t>) </a:t>
            </a:r>
            <a:r>
              <a:rPr lang="en-US" dirty="0" err="1"/>
              <a:t>objek</a:t>
            </a:r>
            <a:r>
              <a:rPr lang="en-US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letak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citra</a:t>
            </a:r>
            <a:r>
              <a:rPr lang="en-US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Memperoleh</a:t>
            </a:r>
            <a:r>
              <a:rPr lang="en-US" dirty="0"/>
              <a:t> </a:t>
            </a:r>
            <a:r>
              <a:rPr lang="en-US" dirty="0" err="1"/>
              <a:t>bentuk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972408" y="3244334"/>
            <a:ext cx="2471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 </a:t>
            </a:r>
          </a:p>
        </p:txBody>
      </p:sp>
      <p:pic>
        <p:nvPicPr>
          <p:cNvPr id="1028" name="Picture 4" descr="https://lh5.googleusercontent.com/_rv531h6yanfQB3ZWacYk7bYAQxzMtJXisAMQ9uNyZ-_zW1j1k3Can0DJupc9hcGz91Ry2vmfsU0csrc9P7Jrz-D0-5k75Uzj9zGHE59IMJlptn-2pmBP_smpaYNAeoOlf2EBrs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3031417"/>
            <a:ext cx="5600700" cy="2771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0299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/>
              <a:t>Morfologi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692998"/>
            <a:ext cx="9931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morfologi</a:t>
            </a:r>
            <a:r>
              <a:rPr lang="en-US" dirty="0"/>
              <a:t> </a:t>
            </a:r>
            <a:r>
              <a:rPr lang="en-US" dirty="0" err="1"/>
              <a:t>umumnya</a:t>
            </a:r>
            <a:r>
              <a:rPr lang="en-US" dirty="0"/>
              <a:t> </a:t>
            </a:r>
            <a:r>
              <a:rPr lang="en-US" dirty="0" err="1"/>
              <a:t>melibatkan</a:t>
            </a:r>
            <a:r>
              <a:rPr lang="en-US" dirty="0"/>
              <a:t> 2 (</a:t>
            </a:r>
            <a:r>
              <a:rPr lang="en-US" dirty="0" err="1"/>
              <a:t>dua</a:t>
            </a:r>
            <a:r>
              <a:rPr lang="en-US" dirty="0"/>
              <a:t>) </a:t>
            </a:r>
            <a:r>
              <a:rPr lang="en-US" dirty="0" err="1"/>
              <a:t>masukan</a:t>
            </a:r>
            <a:r>
              <a:rPr lang="en-US" dirty="0"/>
              <a:t>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561" y="2199992"/>
            <a:ext cx="6274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Citra </a:t>
            </a:r>
            <a:r>
              <a:rPr lang="en-US" dirty="0" err="1"/>
              <a:t>masukan</a:t>
            </a:r>
            <a:r>
              <a:rPr lang="en-US" dirty="0"/>
              <a:t>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dikenai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morfologi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Kernel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i="1" dirty="0"/>
              <a:t>structuring element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pusat</a:t>
            </a:r>
            <a:r>
              <a:rPr lang="en-US" dirty="0"/>
              <a:t> (</a:t>
            </a:r>
            <a:r>
              <a:rPr lang="en-US" i="1" dirty="0"/>
              <a:t>hotspot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pic>
        <p:nvPicPr>
          <p:cNvPr id="2050" name="Picture 2" descr="https://lh5.googleusercontent.com/Cp18a7zY1IyyL292xuftMDh38EfebvY3T7q3Qf0MMM3lisWeBi6ueo-L6_ADH9kxuFFqoBADZWGDe9gGkMl3cGhrG3hETnMkytF8rPG9qVpC7n6PGoxQFcvPNysE_UqjONn1kFoX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375" y="3468826"/>
            <a:ext cx="7197725" cy="265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09600" y="3249908"/>
            <a:ext cx="9931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Contoh</a:t>
            </a:r>
            <a:r>
              <a:rPr lang="en-US" dirty="0" smtClean="0"/>
              <a:t> Kernel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5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Dilasi</a:t>
            </a:r>
            <a:endParaRPr lang="en-US" b="1" dirty="0"/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609600" y="-18106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b="1" dirty="0"/>
          </a:p>
        </p:txBody>
      </p:sp>
      <p:sp>
        <p:nvSpPr>
          <p:cNvPr id="4" name="TextBox 3"/>
          <p:cNvSpPr txBox="1"/>
          <p:nvPr/>
        </p:nvSpPr>
        <p:spPr>
          <a:xfrm>
            <a:off x="609600" y="1801639"/>
            <a:ext cx="87094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Operasi</a:t>
            </a:r>
            <a:r>
              <a:rPr lang="en-US" sz="2400" dirty="0"/>
              <a:t> </a:t>
            </a:r>
            <a:r>
              <a:rPr lang="en-US" sz="2400" dirty="0" err="1"/>
              <a:t>dilasi</a:t>
            </a:r>
            <a:r>
              <a:rPr lang="en-US" sz="2400" dirty="0"/>
              <a:t> </a:t>
            </a:r>
            <a:r>
              <a:rPr lang="en-US" sz="2400" dirty="0" err="1"/>
              <a:t>biasa</a:t>
            </a:r>
            <a:r>
              <a:rPr lang="en-US" sz="2400" dirty="0"/>
              <a:t> </a:t>
            </a:r>
            <a:r>
              <a:rPr lang="en-US" sz="2400" dirty="0" err="1"/>
              <a:t>dipakai</a:t>
            </a:r>
            <a:r>
              <a:rPr lang="en-US" sz="2400" dirty="0"/>
              <a:t> </a:t>
            </a:r>
            <a:r>
              <a:rPr lang="en-US" sz="2400" dirty="0" err="1"/>
              <a:t>untuk</a:t>
            </a:r>
            <a:r>
              <a:rPr lang="en-US" sz="2400" dirty="0"/>
              <a:t> </a:t>
            </a:r>
            <a:r>
              <a:rPr lang="en-US" sz="2400" dirty="0" err="1"/>
              <a:t>mendapatkan</a:t>
            </a:r>
            <a:r>
              <a:rPr lang="en-US" sz="2400" dirty="0"/>
              <a:t> </a:t>
            </a:r>
            <a:r>
              <a:rPr lang="en-US" sz="2400" dirty="0" err="1"/>
              <a:t>efek</a:t>
            </a:r>
            <a:r>
              <a:rPr lang="en-US" sz="2400" dirty="0"/>
              <a:t> </a:t>
            </a:r>
            <a:r>
              <a:rPr lang="en-US" sz="2400" dirty="0" err="1"/>
              <a:t>pelebaran</a:t>
            </a:r>
            <a:r>
              <a:rPr lang="en-US" sz="2400" dirty="0"/>
              <a:t> </a:t>
            </a:r>
            <a:r>
              <a:rPr lang="en-US" sz="2400" dirty="0" err="1"/>
              <a:t>terhadap</a:t>
            </a:r>
            <a:r>
              <a:rPr lang="en-US" sz="2400" dirty="0"/>
              <a:t> </a:t>
            </a:r>
            <a:r>
              <a:rPr lang="en-US" sz="2400" dirty="0" err="1"/>
              <a:t>piksel</a:t>
            </a:r>
            <a:r>
              <a:rPr lang="en-US" sz="2400" dirty="0"/>
              <a:t> yang </a:t>
            </a:r>
            <a:r>
              <a:rPr lang="en-US" sz="2400" dirty="0" err="1"/>
              <a:t>bernilai</a:t>
            </a:r>
            <a:r>
              <a:rPr lang="en-US" sz="2400" dirty="0"/>
              <a:t> 1.</a:t>
            </a:r>
            <a:endParaRPr lang="en-US" sz="2400" dirty="0"/>
          </a:p>
        </p:txBody>
      </p:sp>
      <p:pic>
        <p:nvPicPr>
          <p:cNvPr id="1026" name="Picture 2" descr="https://lh6.googleusercontent.com/agpKp90xp1Hc8DP3sk0ToLP1geA3pZwS_frEhzmHKTkrtZsaZIi3dkZEQGhJEnx7UpV0NKFOiJZJ9MAsIGsEEDk2sGu6xbOJ2hQrGu7Xvzf2eJp6PgqhutqLhPlt1SUHAnvF94hX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029" y="2743200"/>
            <a:ext cx="3776907" cy="378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5389830" y="3455873"/>
            <a:ext cx="13425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00000"/>
                </a:solidFill>
                <a:latin typeface="Arial" panose="020B0604020202020204" pitchFamily="34" charset="0"/>
              </a:rPr>
              <a:t>A⊕</a:t>
            </a:r>
            <a:r>
              <a:rPr lang="en-US" sz="3600" dirty="0" smtClean="0">
                <a:solidFill>
                  <a:srgbClr val="000000"/>
                </a:solidFill>
                <a:latin typeface="Arial" panose="020B0604020202020204" pitchFamily="34" charset="0"/>
              </a:rPr>
              <a:t>B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5389830" y="2975005"/>
            <a:ext cx="3929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Simbol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Dilasi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64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/>
              <a:t>Dilasi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9913"/>
            <a:ext cx="5797285" cy="1568387"/>
          </a:xfrm>
          <a:prstGeom prst="rect">
            <a:avLst/>
          </a:prstGeom>
        </p:spPr>
      </p:pic>
      <p:cxnSp>
        <p:nvCxnSpPr>
          <p:cNvPr id="5" name="Straight Arrow Connector 4"/>
          <p:cNvCxnSpPr>
            <a:stCxn id="3" idx="3"/>
            <a:endCxn id="6" idx="1"/>
          </p:cNvCxnSpPr>
          <p:nvPr/>
        </p:nvCxnSpPr>
        <p:spPr>
          <a:xfrm flipV="1">
            <a:off x="6406885" y="2414516"/>
            <a:ext cx="1044872" cy="69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51757" y="2091350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pustakan</a:t>
            </a:r>
            <a:r>
              <a:rPr lang="en-US" dirty="0" smtClean="0"/>
              <a:t> yang </a:t>
            </a:r>
            <a:r>
              <a:rPr lang="en-US" dirty="0" err="1" smtClean="0"/>
              <a:t>diinginkan</a:t>
            </a:r>
            <a:r>
              <a:rPr lang="en-US" dirty="0" smtClean="0"/>
              <a:t>,</a:t>
            </a:r>
          </a:p>
          <a:p>
            <a:r>
              <a:rPr lang="en-US" dirty="0" smtClean="0"/>
              <a:t>Dan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endParaRPr lang="en-US" dirty="0"/>
          </a:p>
        </p:txBody>
      </p:sp>
      <p:cxnSp>
        <p:nvCxnSpPr>
          <p:cNvPr id="8" name="Straight Arrow Connector 7"/>
          <p:cNvCxnSpPr>
            <a:endCxn id="9" idx="1"/>
          </p:cNvCxnSpPr>
          <p:nvPr/>
        </p:nvCxnSpPr>
        <p:spPr>
          <a:xfrm>
            <a:off x="6806721" y="4359583"/>
            <a:ext cx="399837" cy="751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206558" y="4111605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Ubah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keabu</a:t>
            </a:r>
            <a:r>
              <a:rPr lang="en-US" dirty="0" smtClean="0"/>
              <a:t> –</a:t>
            </a:r>
            <a:r>
              <a:rPr lang="en-US" dirty="0" err="1" smtClean="0"/>
              <a:t>abu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lihat</a:t>
            </a:r>
            <a:r>
              <a:rPr lang="en-US" dirty="0" smtClean="0"/>
              <a:t> </a:t>
            </a:r>
            <a:r>
              <a:rPr lang="en-US" dirty="0" err="1" smtClean="0"/>
              <a:t>ukuran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39776"/>
            <a:ext cx="6125635" cy="113497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59" y="5346225"/>
            <a:ext cx="6177362" cy="8620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22744" y="5358636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Buat</a:t>
            </a:r>
            <a:r>
              <a:rPr lang="en-US" dirty="0" smtClean="0"/>
              <a:t> </a:t>
            </a:r>
            <a:r>
              <a:rPr lang="en-US" i="1" dirty="0"/>
              <a:t>structuring </a:t>
            </a:r>
            <a:r>
              <a:rPr lang="en-US" i="1" dirty="0" smtClean="0"/>
              <a:t>element</a:t>
            </a:r>
            <a:r>
              <a:rPr lang="en-US" dirty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endParaRPr lang="en-US" dirty="0"/>
          </a:p>
        </p:txBody>
      </p:sp>
      <p:cxnSp>
        <p:nvCxnSpPr>
          <p:cNvPr id="15" name="Straight Arrow Connector 14"/>
          <p:cNvCxnSpPr>
            <a:endCxn id="14" idx="1"/>
          </p:cNvCxnSpPr>
          <p:nvPr/>
        </p:nvCxnSpPr>
        <p:spPr>
          <a:xfrm flipV="1">
            <a:off x="6763337" y="5681802"/>
            <a:ext cx="559407" cy="578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/>
          <p:cNvSpPr txBox="1">
            <a:spLocks/>
          </p:cNvSpPr>
          <p:nvPr/>
        </p:nvSpPr>
        <p:spPr>
          <a:xfrm>
            <a:off x="609600" y="-18106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Dilasi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074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 smtClean="0"/>
              <a:t>Dilasi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2408487"/>
            <a:ext cx="6503645" cy="1167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599" y="1692998"/>
            <a:ext cx="10607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Lakukan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dilasi</a:t>
            </a:r>
            <a:r>
              <a:rPr lang="en-US" sz="2400" dirty="0" smtClean="0"/>
              <a:t> </a:t>
            </a:r>
            <a:r>
              <a:rPr lang="en-US" sz="2400" dirty="0" err="1" smtClean="0"/>
              <a:t>dengan</a:t>
            </a:r>
            <a:r>
              <a:rPr lang="en-US" sz="2400" dirty="0" smtClean="0"/>
              <a:t> </a:t>
            </a:r>
            <a:r>
              <a:rPr lang="en-US" sz="2400" dirty="0" err="1" smtClean="0"/>
              <a:t>fungsi</a:t>
            </a:r>
            <a:r>
              <a:rPr lang="en-US" sz="2400" dirty="0" smtClean="0"/>
              <a:t> </a:t>
            </a:r>
            <a:r>
              <a:rPr lang="en-US" sz="2400" b="1" dirty="0" smtClean="0"/>
              <a:t>cv2.dilate(</a:t>
            </a:r>
            <a:r>
              <a:rPr lang="en-US" sz="2400" b="1" dirty="0" err="1" smtClean="0"/>
              <a:t>image,kernel,iterations</a:t>
            </a:r>
            <a:r>
              <a:rPr lang="en-US" sz="2400" b="1" dirty="0" smtClean="0"/>
              <a:t>)</a:t>
            </a:r>
            <a:endParaRPr lang="en-US" sz="2400" b="1" dirty="0"/>
          </a:p>
        </p:txBody>
      </p:sp>
      <p:sp>
        <p:nvSpPr>
          <p:cNvPr id="5" name="Rectangle 4"/>
          <p:cNvSpPr/>
          <p:nvPr/>
        </p:nvSpPr>
        <p:spPr>
          <a:xfrm>
            <a:off x="3268301" y="2992302"/>
            <a:ext cx="470780" cy="3484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>
            <a:stCxn id="5" idx="2"/>
          </p:cNvCxnSpPr>
          <p:nvPr/>
        </p:nvCxnSpPr>
        <p:spPr>
          <a:xfrm flipH="1">
            <a:off x="3494638" y="3340729"/>
            <a:ext cx="9053" cy="5975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73651" y="3917352"/>
            <a:ext cx="86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Image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829617" y="2992302"/>
            <a:ext cx="679010" cy="3484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stCxn id="9" idx="2"/>
          </p:cNvCxnSpPr>
          <p:nvPr/>
        </p:nvCxnSpPr>
        <p:spPr>
          <a:xfrm flipH="1">
            <a:off x="4160068" y="3340729"/>
            <a:ext cx="9054" cy="5975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29617" y="3981587"/>
            <a:ext cx="13265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/>
              <a:t>structuring </a:t>
            </a:r>
            <a:endParaRPr lang="en-US" i="1" dirty="0" smtClean="0"/>
          </a:p>
          <a:p>
            <a:pPr algn="ctr"/>
            <a:r>
              <a:rPr lang="en-US" i="1" dirty="0" smtClean="0"/>
              <a:t>element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4599162" y="2933322"/>
            <a:ext cx="1548142" cy="4255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Elbow Connector 15"/>
          <p:cNvCxnSpPr/>
          <p:nvPr/>
        </p:nvCxnSpPr>
        <p:spPr>
          <a:xfrm rot="16200000" flipH="1">
            <a:off x="5315353" y="3403134"/>
            <a:ext cx="622752" cy="534155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049827" y="4042757"/>
            <a:ext cx="25699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perulangan</a:t>
            </a:r>
            <a:r>
              <a:rPr lang="en-US" dirty="0" smtClean="0"/>
              <a:t> </a:t>
            </a:r>
          </a:p>
          <a:p>
            <a:pPr algn="ctr"/>
            <a:r>
              <a:rPr lang="en-US" dirty="0" err="1" smtClean="0"/>
              <a:t>Literasi</a:t>
            </a:r>
            <a:r>
              <a:rPr lang="en-US" dirty="0" smtClean="0"/>
              <a:t> </a:t>
            </a:r>
            <a:r>
              <a:rPr lang="en-US" dirty="0" err="1" smtClean="0"/>
              <a:t>hanya</a:t>
            </a:r>
            <a:r>
              <a:rPr lang="en-US" dirty="0" smtClean="0"/>
              <a:t> </a:t>
            </a:r>
            <a:r>
              <a:rPr lang="en-US" dirty="0" err="1" smtClean="0"/>
              <a:t>sekali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352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/>
              <a:t>Dilasi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639" y="1944635"/>
            <a:ext cx="2971719" cy="3259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73244" y="1575303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Asli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363969" y="1480946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Dilasi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700" y="1944634"/>
            <a:ext cx="2947468" cy="325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923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18106"/>
            <a:ext cx="10744200" cy="1228436"/>
          </a:xfrm>
        </p:spPr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692999"/>
            <a:ext cx="9819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Operasi</a:t>
            </a:r>
            <a:r>
              <a:rPr lang="en-US" sz="2400" dirty="0"/>
              <a:t> </a:t>
            </a:r>
            <a:r>
              <a:rPr lang="en-US" sz="2400" dirty="0" err="1"/>
              <a:t>erosi</a:t>
            </a:r>
            <a:r>
              <a:rPr lang="en-US" sz="2400" dirty="0"/>
              <a:t> </a:t>
            </a:r>
            <a:r>
              <a:rPr lang="en-US" sz="2400" dirty="0" err="1"/>
              <a:t>mempunyai</a:t>
            </a:r>
            <a:r>
              <a:rPr lang="en-US" sz="2400" dirty="0"/>
              <a:t> </a:t>
            </a:r>
            <a:r>
              <a:rPr lang="en-US" sz="2400" dirty="0" err="1"/>
              <a:t>efek</a:t>
            </a:r>
            <a:r>
              <a:rPr lang="en-US" sz="2400" dirty="0"/>
              <a:t> </a:t>
            </a:r>
            <a:r>
              <a:rPr lang="en-US" sz="2400" dirty="0" err="1"/>
              <a:t>memperkecil</a:t>
            </a:r>
            <a:r>
              <a:rPr lang="en-US" sz="2400" dirty="0"/>
              <a:t> </a:t>
            </a:r>
            <a:r>
              <a:rPr lang="en-US" sz="2400" dirty="0" err="1"/>
              <a:t>struktur</a:t>
            </a:r>
            <a:r>
              <a:rPr lang="en-US" sz="2400" dirty="0"/>
              <a:t> </a:t>
            </a:r>
            <a:r>
              <a:rPr lang="en-US" sz="2400" dirty="0" err="1" smtClean="0"/>
              <a:t>citra</a:t>
            </a:r>
            <a:endParaRPr lang="en-US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 smtClean="0"/>
              <a:t>Atau</a:t>
            </a:r>
            <a:r>
              <a:rPr lang="en-US" sz="2400" dirty="0" smtClean="0"/>
              <a:t> </a:t>
            </a:r>
            <a:r>
              <a:rPr lang="en-US" sz="2400" dirty="0" err="1" smtClean="0"/>
              <a:t>menghilangkan</a:t>
            </a:r>
            <a:r>
              <a:rPr lang="en-US" sz="2400" dirty="0" smtClean="0"/>
              <a:t> </a:t>
            </a:r>
            <a:r>
              <a:rPr lang="en-US" sz="2400" dirty="0" err="1" smtClean="0"/>
              <a:t>garis</a:t>
            </a:r>
            <a:r>
              <a:rPr lang="en-US" sz="2400" dirty="0" smtClean="0"/>
              <a:t> – </a:t>
            </a:r>
            <a:r>
              <a:rPr lang="en-US" sz="2400" dirty="0" err="1" smtClean="0"/>
              <a:t>garis</a:t>
            </a:r>
            <a:r>
              <a:rPr lang="en-US" sz="2400" dirty="0" smtClean="0"/>
              <a:t> tipis</a:t>
            </a:r>
            <a:endParaRPr lang="en-US" sz="2400" dirty="0"/>
          </a:p>
        </p:txBody>
      </p:sp>
      <p:pic>
        <p:nvPicPr>
          <p:cNvPr id="2050" name="Picture 2" descr="https://lh4.googleusercontent.com/4XdpJIYWS6AjGM5Ht_o8cDM9X7mQaVA1gboIkKeM_FSrwzNch4eMGRVZgBvfWjqffmuqPKpnLFJUWgf2qNzFICkqH4ELwqgU4KEab8Zs3GNQysXEQ99voVMremCKSNKNR-NjjSd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387" y="2523996"/>
            <a:ext cx="4280623" cy="3862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5519596" y="3258743"/>
            <a:ext cx="84499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Arial" panose="020B0604020202020204" pitchFamily="34" charset="0"/>
              </a:rPr>
              <a:t>A</a:t>
            </a:r>
            <a:r>
              <a:rPr lang="el-GR" sz="2400" dirty="0">
                <a:solidFill>
                  <a:srgbClr val="000000"/>
                </a:solidFill>
                <a:latin typeface="Arial" panose="020B0604020202020204" pitchFamily="34" charset="0"/>
              </a:rPr>
              <a:t>Θ</a:t>
            </a:r>
            <a:r>
              <a:rPr lang="en-US" sz="2400" dirty="0" smtClean="0">
                <a:solidFill>
                  <a:srgbClr val="000000"/>
                </a:solidFill>
                <a:latin typeface="Arial" panose="020B0604020202020204" pitchFamily="34" charset="0"/>
              </a:rPr>
              <a:t>B</a:t>
            </a:r>
            <a:endParaRPr lang="en-US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5519596" y="2797078"/>
            <a:ext cx="3929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Simbol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Dilasi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54889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9913"/>
            <a:ext cx="5797285" cy="1568387"/>
          </a:xfrm>
          <a:prstGeom prst="rect">
            <a:avLst/>
          </a:prstGeom>
        </p:spPr>
      </p:pic>
      <p:cxnSp>
        <p:nvCxnSpPr>
          <p:cNvPr id="4" name="Straight Arrow Connector 3"/>
          <p:cNvCxnSpPr>
            <a:stCxn id="3" idx="3"/>
            <a:endCxn id="5" idx="1"/>
          </p:cNvCxnSpPr>
          <p:nvPr/>
        </p:nvCxnSpPr>
        <p:spPr>
          <a:xfrm flipV="1">
            <a:off x="6406885" y="2414516"/>
            <a:ext cx="1044872" cy="69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451757" y="2091350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pustakan</a:t>
            </a:r>
            <a:r>
              <a:rPr lang="en-US" dirty="0" smtClean="0"/>
              <a:t> yang </a:t>
            </a:r>
            <a:r>
              <a:rPr lang="en-US" dirty="0" err="1" smtClean="0"/>
              <a:t>diinginkan</a:t>
            </a:r>
            <a:r>
              <a:rPr lang="en-US" dirty="0" smtClean="0"/>
              <a:t>,</a:t>
            </a:r>
          </a:p>
          <a:p>
            <a:r>
              <a:rPr lang="en-US" dirty="0" smtClean="0"/>
              <a:t>Dan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endParaRPr lang="en-US" dirty="0"/>
          </a:p>
        </p:txBody>
      </p:sp>
      <p:cxnSp>
        <p:nvCxnSpPr>
          <p:cNvPr id="6" name="Straight Arrow Connector 5"/>
          <p:cNvCxnSpPr>
            <a:endCxn id="7" idx="1"/>
          </p:cNvCxnSpPr>
          <p:nvPr/>
        </p:nvCxnSpPr>
        <p:spPr>
          <a:xfrm>
            <a:off x="6806721" y="4359583"/>
            <a:ext cx="399837" cy="751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6558" y="4111605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Ubah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keabu</a:t>
            </a:r>
            <a:r>
              <a:rPr lang="en-US" dirty="0" smtClean="0"/>
              <a:t> –</a:t>
            </a:r>
            <a:r>
              <a:rPr lang="en-US" dirty="0" err="1" smtClean="0"/>
              <a:t>abu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lihat</a:t>
            </a:r>
            <a:r>
              <a:rPr lang="en-US" dirty="0" smtClean="0"/>
              <a:t> </a:t>
            </a:r>
            <a:r>
              <a:rPr lang="en-US" dirty="0" err="1" smtClean="0"/>
              <a:t>ukuran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39776"/>
            <a:ext cx="6125635" cy="113497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59" y="5346225"/>
            <a:ext cx="6177362" cy="8620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22744" y="5358636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Buat</a:t>
            </a:r>
            <a:r>
              <a:rPr lang="en-US" dirty="0" smtClean="0"/>
              <a:t> </a:t>
            </a:r>
            <a:r>
              <a:rPr lang="en-US" i="1" dirty="0"/>
              <a:t>structuring </a:t>
            </a:r>
            <a:r>
              <a:rPr lang="en-US" i="1" dirty="0" smtClean="0"/>
              <a:t>element</a:t>
            </a:r>
            <a:r>
              <a:rPr lang="en-US" dirty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endParaRPr lang="en-US" dirty="0"/>
          </a:p>
        </p:txBody>
      </p:sp>
      <p:cxnSp>
        <p:nvCxnSpPr>
          <p:cNvPr id="11" name="Straight Arrow Connector 10"/>
          <p:cNvCxnSpPr>
            <a:endCxn id="10" idx="1"/>
          </p:cNvCxnSpPr>
          <p:nvPr/>
        </p:nvCxnSpPr>
        <p:spPr>
          <a:xfrm flipV="1">
            <a:off x="6763337" y="5681802"/>
            <a:ext cx="559407" cy="578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496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18106"/>
            <a:ext cx="10744200" cy="1228436"/>
          </a:xfrm>
        </p:spPr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2317481"/>
            <a:ext cx="8612845" cy="12676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599" y="1692998"/>
            <a:ext cx="10607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Lakukan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Erosi</a:t>
            </a:r>
            <a:r>
              <a:rPr lang="en-US" sz="2400" dirty="0" smtClean="0"/>
              <a:t> </a:t>
            </a:r>
            <a:r>
              <a:rPr lang="en-US" sz="2400" dirty="0" err="1" smtClean="0"/>
              <a:t>dengan</a:t>
            </a:r>
            <a:r>
              <a:rPr lang="en-US" sz="2400" dirty="0" smtClean="0"/>
              <a:t> </a:t>
            </a:r>
            <a:r>
              <a:rPr lang="en-US" sz="2400" dirty="0" err="1" smtClean="0"/>
              <a:t>fungsi</a:t>
            </a:r>
            <a:r>
              <a:rPr lang="en-US" sz="2400" dirty="0" smtClean="0"/>
              <a:t> </a:t>
            </a:r>
            <a:r>
              <a:rPr lang="en-US" sz="2400" b="1" dirty="0" smtClean="0"/>
              <a:t>cv2.erode(</a:t>
            </a:r>
            <a:r>
              <a:rPr lang="en-US" sz="2400" b="1" dirty="0" err="1" smtClean="0"/>
              <a:t>image,kernel,iterations</a:t>
            </a:r>
            <a:r>
              <a:rPr lang="en-US" sz="2400" b="1" dirty="0" smtClean="0"/>
              <a:t>)</a:t>
            </a:r>
            <a:endParaRPr lang="en-US" sz="2400" b="1" dirty="0"/>
          </a:p>
        </p:txBody>
      </p:sp>
      <p:sp>
        <p:nvSpPr>
          <p:cNvPr id="14" name="Rectangle 13"/>
          <p:cNvSpPr/>
          <p:nvPr/>
        </p:nvSpPr>
        <p:spPr>
          <a:xfrm>
            <a:off x="4242553" y="2906161"/>
            <a:ext cx="605579" cy="4203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/>
          <p:cNvCxnSpPr>
            <a:stCxn id="14" idx="2"/>
            <a:endCxn id="16" idx="0"/>
          </p:cNvCxnSpPr>
          <p:nvPr/>
        </p:nvCxnSpPr>
        <p:spPr>
          <a:xfrm>
            <a:off x="4545343" y="3326505"/>
            <a:ext cx="18105" cy="5680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340" y="3894546"/>
            <a:ext cx="936216" cy="38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Image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4943192" y="2965141"/>
            <a:ext cx="923455" cy="2850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/>
          <p:cNvCxnSpPr>
            <a:stCxn id="17" idx="2"/>
            <a:endCxn id="19" idx="0"/>
          </p:cNvCxnSpPr>
          <p:nvPr/>
        </p:nvCxnSpPr>
        <p:spPr>
          <a:xfrm>
            <a:off x="5404920" y="3250194"/>
            <a:ext cx="174360" cy="7042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916021" y="3954427"/>
            <a:ext cx="13265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/>
              <a:t>structuring </a:t>
            </a:r>
            <a:endParaRPr lang="en-US" i="1" dirty="0" smtClean="0"/>
          </a:p>
          <a:p>
            <a:pPr algn="ctr"/>
            <a:r>
              <a:rPr lang="en-US" i="1" dirty="0" smtClean="0"/>
              <a:t>element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5957182" y="2906161"/>
            <a:ext cx="1548142" cy="4255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20"/>
          <p:cNvCxnSpPr/>
          <p:nvPr/>
        </p:nvCxnSpPr>
        <p:spPr>
          <a:xfrm rot="16200000" flipH="1">
            <a:off x="6673373" y="3375973"/>
            <a:ext cx="622752" cy="534155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7847" y="4015596"/>
            <a:ext cx="25699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perulangan</a:t>
            </a:r>
            <a:r>
              <a:rPr lang="en-US" dirty="0" smtClean="0"/>
              <a:t> </a:t>
            </a:r>
          </a:p>
          <a:p>
            <a:pPr algn="ctr"/>
            <a:r>
              <a:rPr lang="en-US" dirty="0" err="1" smtClean="0"/>
              <a:t>Literasi</a:t>
            </a:r>
            <a:r>
              <a:rPr lang="en-US" dirty="0" smtClean="0"/>
              <a:t> </a:t>
            </a:r>
            <a:r>
              <a:rPr lang="en-US" dirty="0" err="1" smtClean="0"/>
              <a:t>hanya</a:t>
            </a:r>
            <a:r>
              <a:rPr lang="en-US" dirty="0" smtClean="0"/>
              <a:t> </a:t>
            </a:r>
            <a:r>
              <a:rPr lang="en-US" dirty="0" err="1" smtClean="0"/>
              <a:t>sekali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370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387" y="1998956"/>
            <a:ext cx="2971719" cy="3259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99992" y="1629624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Asli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256" y="1998956"/>
            <a:ext cx="2889398" cy="31878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99700" y="1629624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Erosi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371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Opening </a:t>
            </a:r>
            <a:r>
              <a:rPr lang="en-US" b="1" dirty="0" err="1" smtClean="0"/>
              <a:t>dan</a:t>
            </a:r>
            <a:r>
              <a:rPr lang="en-US" b="1" dirty="0" smtClean="0"/>
              <a:t> Closing</a:t>
            </a:r>
            <a:endParaRPr lang="en-US" b="1" dirty="0"/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609600" y="-18105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b="1" dirty="0"/>
          </a:p>
        </p:txBody>
      </p:sp>
      <p:sp>
        <p:nvSpPr>
          <p:cNvPr id="4" name="Rectangle 3"/>
          <p:cNvSpPr/>
          <p:nvPr/>
        </p:nvSpPr>
        <p:spPr>
          <a:xfrm>
            <a:off x="540189" y="1655544"/>
            <a:ext cx="1028775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fontAlgn="base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>
                <a:latin typeface="Verdana" panose="020B0604030504040204" pitchFamily="34" charset="0"/>
              </a:rPr>
              <a:t>opening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adalah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erosi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yang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diikuti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dilasi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menggunakan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elemen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penstruktur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yang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sama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ini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berguna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untuk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menghaluskan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kontur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objek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menghilangkan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seluruh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piksel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di area yang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terlalu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kecil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untuk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ditempati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oleh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elemen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penstruktur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 </a:t>
            </a:r>
            <a:endParaRPr lang="en-US" sz="2400" b="0" i="0" u="none" strike="noStrike" dirty="0">
              <a:solidFill>
                <a:srgbClr val="002060"/>
              </a:solidFill>
              <a:effectLst/>
              <a:latin typeface="Noto Sans Symbol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0188" y="3659057"/>
            <a:ext cx="1028775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>
                <a:latin typeface="Verdana" panose="020B0604030504040204" pitchFamily="34" charset="0"/>
              </a:rPr>
              <a:t>closing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berguna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untuk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menghaluskan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kontur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menghilangkan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lubang-lubang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kecil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closing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dilaksanakan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melakukan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dilasi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terlebih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dahulu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kemudian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diikuti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erosi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4854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Opening </a:t>
            </a:r>
            <a:r>
              <a:rPr lang="en-US" b="1" dirty="0" err="1"/>
              <a:t>dan</a:t>
            </a:r>
            <a:r>
              <a:rPr lang="en-US" b="1" dirty="0"/>
              <a:t> Closing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9913"/>
            <a:ext cx="5797285" cy="1568387"/>
          </a:xfrm>
          <a:prstGeom prst="rect">
            <a:avLst/>
          </a:prstGeom>
        </p:spPr>
      </p:pic>
      <p:cxnSp>
        <p:nvCxnSpPr>
          <p:cNvPr id="4" name="Straight Arrow Connector 3"/>
          <p:cNvCxnSpPr>
            <a:stCxn id="3" idx="3"/>
            <a:endCxn id="5" idx="1"/>
          </p:cNvCxnSpPr>
          <p:nvPr/>
        </p:nvCxnSpPr>
        <p:spPr>
          <a:xfrm flipV="1">
            <a:off x="6406885" y="2414516"/>
            <a:ext cx="1044872" cy="69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451757" y="2091350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pustakan</a:t>
            </a:r>
            <a:r>
              <a:rPr lang="en-US" dirty="0" smtClean="0"/>
              <a:t> yang </a:t>
            </a:r>
            <a:r>
              <a:rPr lang="en-US" dirty="0" err="1" smtClean="0"/>
              <a:t>diinginkan</a:t>
            </a:r>
            <a:r>
              <a:rPr lang="en-US" dirty="0" smtClean="0"/>
              <a:t>,</a:t>
            </a:r>
          </a:p>
          <a:p>
            <a:r>
              <a:rPr lang="en-US" dirty="0" smtClean="0"/>
              <a:t>Dan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endParaRPr lang="en-US" dirty="0"/>
          </a:p>
        </p:txBody>
      </p:sp>
      <p:cxnSp>
        <p:nvCxnSpPr>
          <p:cNvPr id="6" name="Straight Arrow Connector 5"/>
          <p:cNvCxnSpPr>
            <a:endCxn id="7" idx="1"/>
          </p:cNvCxnSpPr>
          <p:nvPr/>
        </p:nvCxnSpPr>
        <p:spPr>
          <a:xfrm>
            <a:off x="6806721" y="4359583"/>
            <a:ext cx="399837" cy="751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6558" y="4111605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Ubah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keabu</a:t>
            </a:r>
            <a:r>
              <a:rPr lang="en-US" dirty="0" smtClean="0"/>
              <a:t> –</a:t>
            </a:r>
            <a:r>
              <a:rPr lang="en-US" dirty="0" err="1" smtClean="0"/>
              <a:t>abu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lihat</a:t>
            </a:r>
            <a:r>
              <a:rPr lang="en-US" dirty="0" smtClean="0"/>
              <a:t> </a:t>
            </a:r>
            <a:r>
              <a:rPr lang="en-US" dirty="0" err="1" smtClean="0"/>
              <a:t>ukuran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39776"/>
            <a:ext cx="6125635" cy="113497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59" y="5346225"/>
            <a:ext cx="6177362" cy="8620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22744" y="5358636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Buat</a:t>
            </a:r>
            <a:r>
              <a:rPr lang="en-US" dirty="0" smtClean="0"/>
              <a:t> </a:t>
            </a:r>
            <a:r>
              <a:rPr lang="en-US" i="1" dirty="0"/>
              <a:t>structuring </a:t>
            </a:r>
            <a:r>
              <a:rPr lang="en-US" i="1" dirty="0" smtClean="0"/>
              <a:t>element</a:t>
            </a:r>
            <a:r>
              <a:rPr lang="en-US" dirty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endParaRPr lang="en-US" dirty="0"/>
          </a:p>
        </p:txBody>
      </p:sp>
      <p:cxnSp>
        <p:nvCxnSpPr>
          <p:cNvPr id="11" name="Straight Arrow Connector 10"/>
          <p:cNvCxnSpPr>
            <a:endCxn id="10" idx="1"/>
          </p:cNvCxnSpPr>
          <p:nvPr/>
        </p:nvCxnSpPr>
        <p:spPr>
          <a:xfrm flipV="1">
            <a:off x="6763337" y="5681802"/>
            <a:ext cx="559407" cy="578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2554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Opening </a:t>
            </a:r>
            <a:r>
              <a:rPr lang="en-US" b="1" dirty="0" err="1"/>
              <a:t>dan</a:t>
            </a:r>
            <a:r>
              <a:rPr lang="en-US" b="1" dirty="0"/>
              <a:t> Closing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09599" y="1692998"/>
            <a:ext cx="109245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dirty="0" err="1" smtClean="0"/>
              <a:t>Lakukan</a:t>
            </a:r>
            <a:r>
              <a:rPr lang="en-US" sz="2000" dirty="0" smtClean="0"/>
              <a:t> </a:t>
            </a:r>
            <a:r>
              <a:rPr lang="en-US" sz="2000" dirty="0" err="1" smtClean="0"/>
              <a:t>operasi</a:t>
            </a:r>
            <a:r>
              <a:rPr lang="en-US" sz="2000" dirty="0" smtClean="0"/>
              <a:t> Opening </a:t>
            </a:r>
            <a:r>
              <a:rPr lang="en-US" sz="2000" dirty="0" err="1" smtClean="0"/>
              <a:t>dengan</a:t>
            </a:r>
            <a:r>
              <a:rPr lang="en-US" sz="2000" dirty="0" smtClean="0"/>
              <a:t> </a:t>
            </a:r>
            <a:r>
              <a:rPr lang="en-US" sz="2000" dirty="0" err="1" smtClean="0"/>
              <a:t>fungsi</a:t>
            </a:r>
            <a:r>
              <a:rPr lang="en-US" sz="2000" dirty="0" smtClean="0"/>
              <a:t> </a:t>
            </a:r>
            <a:r>
              <a:rPr lang="en-US" sz="2000" b="1" dirty="0">
                <a:latin typeface="Arial" panose="020B0604020202020204" pitchFamily="34" charset="0"/>
              </a:rPr>
              <a:t>cv2.morphologyEx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latin typeface="Arial" panose="020B0604020202020204" pitchFamily="34" charset="0"/>
              </a:rPr>
              <a:t>img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, </a:t>
            </a:r>
            <a:r>
              <a:rPr lang="en-US" sz="2000" b="1" dirty="0">
                <a:latin typeface="Arial" panose="020B0604020202020204" pitchFamily="34" charset="0"/>
              </a:rPr>
              <a:t>cv2.MORPH_CLOSE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, </a:t>
            </a:r>
            <a:r>
              <a:rPr lang="en-US" sz="2000" b="1" dirty="0">
                <a:latin typeface="Arial" panose="020B0604020202020204" pitchFamily="34" charset="0"/>
              </a:rPr>
              <a:t>kernel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/>
              <a:t> </a:t>
            </a:r>
            <a:endParaRPr lang="en-US" sz="2000" dirty="0">
              <a:latin typeface="Arial" panose="020B0604020202020204" pitchFamily="34" charset="0"/>
            </a:endParaRPr>
          </a:p>
          <a:p>
            <a:endParaRPr lang="en-US" sz="2000" b="1" dirty="0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136267"/>
            <a:ext cx="65" cy="184666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08661"/>
            <a:ext cx="8461972" cy="99420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879818" y="3195873"/>
            <a:ext cx="470780" cy="3892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/>
          <p:cNvCxnSpPr>
            <a:stCxn id="16" idx="2"/>
          </p:cNvCxnSpPr>
          <p:nvPr/>
        </p:nvCxnSpPr>
        <p:spPr>
          <a:xfrm flipH="1">
            <a:off x="5106154" y="3585172"/>
            <a:ext cx="9054" cy="4888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98752" y="4146489"/>
            <a:ext cx="814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image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5513564" y="3205764"/>
            <a:ext cx="1665834" cy="3794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771175" y="4736639"/>
            <a:ext cx="43909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Cv2.MORPH_OPEN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operasi</a:t>
            </a:r>
            <a:r>
              <a:rPr lang="en-US" dirty="0" smtClean="0"/>
              <a:t> </a:t>
            </a:r>
            <a:r>
              <a:rPr lang="en-US" b="1" dirty="0" smtClean="0"/>
              <a:t>Opening </a:t>
            </a:r>
            <a:r>
              <a:rPr lang="en-US" dirty="0" err="1" smtClean="0"/>
              <a:t>dan</a:t>
            </a:r>
            <a:r>
              <a:rPr lang="en-US" dirty="0" smtClean="0"/>
              <a:t> Cv2.MORPH_CLOSING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operasi</a:t>
            </a:r>
            <a:r>
              <a:rPr lang="en-US" dirty="0" smtClean="0"/>
              <a:t> </a:t>
            </a:r>
            <a:r>
              <a:rPr lang="en-US" b="1" dirty="0" smtClean="0"/>
              <a:t>Closing</a:t>
            </a:r>
            <a:endParaRPr lang="en-US" b="1" dirty="0"/>
          </a:p>
        </p:txBody>
      </p:sp>
      <p:cxnSp>
        <p:nvCxnSpPr>
          <p:cNvPr id="29" name="Elbow Connector 28"/>
          <p:cNvCxnSpPr>
            <a:stCxn id="21" idx="2"/>
            <a:endCxn id="26" idx="0"/>
          </p:cNvCxnSpPr>
          <p:nvPr/>
        </p:nvCxnSpPr>
        <p:spPr>
          <a:xfrm rot="16200000" flipH="1">
            <a:off x="6080828" y="3850825"/>
            <a:ext cx="1151467" cy="6201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712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TERIMAH KASIH</a:t>
            </a:r>
            <a:endParaRPr lang="en-US" b="1" dirty="0"/>
          </a:p>
        </p:txBody>
      </p:sp>
      <p:sp>
        <p:nvSpPr>
          <p:cNvPr id="3" name="Rectangle 2"/>
          <p:cNvSpPr/>
          <p:nvPr/>
        </p:nvSpPr>
        <p:spPr>
          <a:xfrm>
            <a:off x="621670" y="5879854"/>
            <a:ext cx="7372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https://github.com/rizalarfani/Pengolahan-Citra-Digital-PCD-/blob/master/Latihan/Morphological%20Image%20Proccessing.ipynb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1670" y="5223849"/>
            <a:ext cx="36032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Link </a:t>
            </a:r>
            <a:r>
              <a:rPr lang="en-US" sz="2400" dirty="0" err="1" smtClean="0"/>
              <a:t>Latihan</a:t>
            </a:r>
            <a:r>
              <a:rPr lang="en-US" sz="2400" smtClean="0"/>
              <a:t> code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2863494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elcome to PowerPoint.potx" id="{43699C43-EC89-4A55-9A99-3FD944590577}" vid="{3C36ED3A-1C33-4ECB-8650-37D568EF45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1584528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 xsi:nil="true"/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2012-06-20T23:39:00+00:00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TP102923943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843282</LocLastLocAttemptVersionLookup>
    <IsSearchable xmlns="4873beb7-5857-4685-be1f-d57550cc96cc">true</IsSearchable>
    <TemplateTemplateType xmlns="4873beb7-5857-4685-be1f-d57550cc96cc">PowerPoint Template - Slideshow Launch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LocMarketGroupTiers2 xmlns="4873beb7-5857-4685-be1f-d57550cc96cc" xsi:nil="true"/>
    <APAuthor xmlns="4873beb7-5857-4685-be1f-d57550cc96cc">
      <UserInfo>
        <DisplayName>REDMOND\v-sa</DisplayName>
        <AccountId>2467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970C04F-E7AC-41AB-9C6D-1B1BB88BFF7F}">
  <ds:schemaRefs>
    <ds:schemaRef ds:uri="http://schemas.microsoft.com/office/2006/documentManagement/types"/>
    <ds:schemaRef ds:uri="4873beb7-5857-4685-be1f-d57550cc96cc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3DEC53A-9DF1-4780-BE92-17E971B7A9E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EE7759-C66F-4EA4-9863-7EBA32518D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 2013</Template>
  <TotalTime>973</TotalTime>
  <Words>386</Words>
  <Application>Microsoft Office PowerPoint</Application>
  <PresentationFormat>Widescreen</PresentationFormat>
  <Paragraphs>75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Consolas</vt:lpstr>
      <vt:lpstr>Noto Sans Symbols</vt:lpstr>
      <vt:lpstr>Segoe UI</vt:lpstr>
      <vt:lpstr>Segoe UI Light</vt:lpstr>
      <vt:lpstr>Verdana</vt:lpstr>
      <vt:lpstr>WelcomeDoc</vt:lpstr>
      <vt:lpstr>Pengolahan Citra Digital</vt:lpstr>
      <vt:lpstr>Operasi Morfologi</vt:lpstr>
      <vt:lpstr>Operasi Morfologi</vt:lpstr>
      <vt:lpstr>Operasi Dilasi</vt:lpstr>
      <vt:lpstr>Operasi Dilasi</vt:lpstr>
      <vt:lpstr>Operasi Dilasi</vt:lpstr>
      <vt:lpstr>Operasi Dilasi</vt:lpstr>
      <vt:lpstr>Operasi Erosi</vt:lpstr>
      <vt:lpstr>Operasi Erosi</vt:lpstr>
      <vt:lpstr>Operasi Erosi</vt:lpstr>
      <vt:lpstr>Operasi Erosi</vt:lpstr>
      <vt:lpstr>Operasi Opening dan Closing</vt:lpstr>
      <vt:lpstr>Operasi Opening dan Closing</vt:lpstr>
      <vt:lpstr>Operasi Opening dan Closing</vt:lpstr>
      <vt:lpstr>TERIMAH KASIH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Pengolahan Citra Digital</dc:title>
  <dc:creator>LENOVO</dc:creator>
  <cp:keywords/>
  <cp:lastModifiedBy>LENOVO</cp:lastModifiedBy>
  <cp:revision>135</cp:revision>
  <dcterms:created xsi:type="dcterms:W3CDTF">2022-03-01T01:11:31Z</dcterms:created>
  <dcterms:modified xsi:type="dcterms:W3CDTF">2022-03-31T09:09:29Z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_TemplateID">
    <vt:lpwstr>TC029239449991</vt:lpwstr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LocalizationTags">
    <vt:lpwstr/>
  </property>
  <property fmtid="{D5CDD505-2E9C-101B-9397-08002B2CF9AE}" pid="7" name="ScenarioTags">
    <vt:lpwstr/>
  </property>
  <property fmtid="{D5CDD505-2E9C-101B-9397-08002B2CF9AE}" pid="8" name="CampaignTags">
    <vt:lpwstr/>
  </property>
</Properties>
</file>