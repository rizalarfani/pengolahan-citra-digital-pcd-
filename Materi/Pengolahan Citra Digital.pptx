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2"/>
  </p:notesMasterIdLst>
  <p:sldIdLst>
    <p:sldId id="256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5" r:id="rId15"/>
    <p:sldId id="257" r:id="rId16"/>
    <p:sldId id="258" r:id="rId17"/>
    <p:sldId id="269" r:id="rId18"/>
    <p:sldId id="270" r:id="rId19"/>
    <p:sldId id="271" r:id="rId20"/>
    <p:sldId id="27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259"/>
            <p14:sldId id="260"/>
            <p14:sldId id="261"/>
            <p14:sldId id="262"/>
            <p14:sldId id="263"/>
            <p14:sldId id="264"/>
            <p14:sldId id="266"/>
            <p14:sldId id="267"/>
            <p14:sldId id="268"/>
            <p14:sldId id="265"/>
            <p14:sldId id="257"/>
            <p14:sldId id="258"/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B4A6"/>
    <a:srgbClr val="734F29"/>
    <a:srgbClr val="D24726"/>
    <a:srgbClr val="DD462F"/>
    <a:srgbClr val="AEB785"/>
    <a:srgbClr val="EFD5A2"/>
    <a:srgbClr val="3B3026"/>
    <a:srgbClr val="ECE1CA"/>
    <a:srgbClr val="79553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70" d="100"/>
          <a:sy n="70" d="100"/>
        </p:scale>
        <p:origin x="508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png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5.png"/><Relationship Id="rId5" Type="http://schemas.openxmlformats.org/officeDocument/2006/relationships/oleObject" Target="../embeddings/oleObject5.bin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2" y="1474041"/>
            <a:ext cx="10515600" cy="2387600"/>
          </a:xfrm>
        </p:spPr>
        <p:txBody>
          <a:bodyPr/>
          <a:lstStyle/>
          <a:p>
            <a:r>
              <a:rPr lang="en-US" b="1" dirty="0" err="1" smtClean="0"/>
              <a:t>Pengolahan</a:t>
            </a:r>
            <a:r>
              <a:rPr lang="en-US" b="1" dirty="0" smtClean="0"/>
              <a:t> Citra Digital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588955"/>
          </a:xfrm>
        </p:spPr>
        <p:txBody>
          <a:bodyPr>
            <a:normAutofit/>
          </a:bodyPr>
          <a:lstStyle/>
          <a:p>
            <a:r>
              <a:rPr lang="en-US" dirty="0" err="1" smtClean="0"/>
              <a:t>Oleh</a:t>
            </a:r>
            <a:r>
              <a:rPr lang="en-US" dirty="0" smtClean="0"/>
              <a:t> :</a:t>
            </a:r>
          </a:p>
          <a:p>
            <a:r>
              <a:rPr lang="en-US" dirty="0" smtClean="0"/>
              <a:t>Very </a:t>
            </a:r>
            <a:r>
              <a:rPr lang="en-US" dirty="0" err="1" smtClean="0"/>
              <a:t>Kurnia</a:t>
            </a:r>
            <a:r>
              <a:rPr lang="en-US" dirty="0" smtClean="0"/>
              <a:t> </a:t>
            </a:r>
            <a:r>
              <a:rPr lang="en-US" dirty="0" err="1" smtClean="0"/>
              <a:t>Bakti</a:t>
            </a:r>
            <a:r>
              <a:rPr lang="en-US" dirty="0" smtClean="0"/>
              <a:t>, </a:t>
            </a:r>
            <a:r>
              <a:rPr lang="en-US" dirty="0" err="1" smtClean="0"/>
              <a:t>M.Kom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28324" y="3857452"/>
            <a:ext cx="5359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>
                <a:solidFill>
                  <a:schemeClr val="bg1"/>
                </a:solidFill>
              </a:rPr>
              <a:t>Citra,Citra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Digital,Pengohan</a:t>
            </a:r>
            <a:r>
              <a:rPr lang="en-US" sz="2400" dirty="0" smtClean="0">
                <a:solidFill>
                  <a:schemeClr val="bg1"/>
                </a:solidFill>
              </a:rPr>
              <a:t> Citra Digital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Definisi</a:t>
            </a:r>
            <a:r>
              <a:rPr lang="en-US" b="1" dirty="0" smtClean="0"/>
              <a:t> Citra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041149" y="2127564"/>
            <a:ext cx="793083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itra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Image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merupakan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istila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lain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gambar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yang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merupakan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Ber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entuk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visual.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“a Picture </a:t>
            </a:r>
            <a:r>
              <a:rPr lang="en-US" sz="2800" dirty="0"/>
              <a:t>is more </a:t>
            </a:r>
            <a:r>
              <a:rPr lang="en-US" sz="2800" dirty="0" smtClean="0"/>
              <a:t>thousand</a:t>
            </a:r>
            <a:r>
              <a:rPr lang="en-US" sz="2800" dirty="0"/>
              <a:t> </a:t>
            </a:r>
            <a:r>
              <a:rPr lang="en-US" sz="2800" dirty="0" smtClean="0"/>
              <a:t>words” </a:t>
            </a:r>
            <a:r>
              <a:rPr lang="en-US" sz="2800" dirty="0" err="1" smtClean="0"/>
              <a:t>artinya</a:t>
            </a:r>
            <a:r>
              <a:rPr lang="en-US" sz="2800" dirty="0" smtClean="0"/>
              <a:t> </a:t>
            </a:r>
            <a:r>
              <a:rPr lang="en-US" sz="2800" dirty="0" err="1" smtClean="0"/>
              <a:t>sebuah</a:t>
            </a:r>
            <a:r>
              <a:rPr lang="en-US" sz="2800" dirty="0" smtClean="0"/>
              <a:t> </a:t>
            </a:r>
            <a:r>
              <a:rPr lang="en-US" sz="2800" dirty="0" err="1" smtClean="0"/>
              <a:t>gambar</a:t>
            </a:r>
            <a:r>
              <a:rPr lang="en-US" sz="2800" dirty="0" smtClean="0"/>
              <a:t> </a:t>
            </a:r>
            <a:r>
              <a:rPr lang="en-US" sz="2800" dirty="0" err="1" smtClean="0"/>
              <a:t>Bermakna</a:t>
            </a:r>
            <a:r>
              <a:rPr lang="en-US" sz="2800" dirty="0" smtClean="0"/>
              <a:t> </a:t>
            </a:r>
            <a:r>
              <a:rPr lang="en-US" sz="2800" dirty="0" err="1" smtClean="0"/>
              <a:t>lebi</a:t>
            </a:r>
            <a:r>
              <a:rPr lang="en-US" sz="2800" dirty="0" err="1"/>
              <a:t>h</a:t>
            </a:r>
            <a:r>
              <a:rPr lang="en-US" sz="2800" dirty="0" smtClean="0"/>
              <a:t> </a:t>
            </a:r>
            <a:r>
              <a:rPr lang="en-US" sz="2800" dirty="0" err="1"/>
              <a:t>dari</a:t>
            </a:r>
            <a:r>
              <a:rPr lang="en-US" sz="2800" dirty="0"/>
              <a:t> </a:t>
            </a:r>
            <a:r>
              <a:rPr lang="en-US" sz="2800" dirty="0" err="1" smtClean="0"/>
              <a:t>seribu</a:t>
            </a:r>
            <a:r>
              <a:rPr lang="en-US" sz="2800" dirty="0" smtClean="0"/>
              <a:t> kata.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Kata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Citra </a:t>
            </a:r>
            <a:r>
              <a:rPr lang="en-US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diartikan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suatu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Fungsi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intensitas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Cahaya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dua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dimensi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800" dirty="0"/>
              <a:t> </a:t>
            </a:r>
            <a:r>
              <a:rPr lang="en-US" sz="2800" dirty="0" smtClean="0"/>
              <a:t>yang </a:t>
            </a:r>
            <a:r>
              <a:rPr lang="en-US" sz="2800" dirty="0" err="1" smtClean="0"/>
              <a:t>dinyatakan</a:t>
            </a:r>
            <a:r>
              <a:rPr lang="en-US" sz="2800" dirty="0" smtClean="0"/>
              <a:t> </a:t>
            </a:r>
            <a:r>
              <a:rPr lang="en-US" sz="2800" dirty="0" err="1" smtClean="0"/>
              <a:t>oleh</a:t>
            </a:r>
            <a:r>
              <a:rPr lang="en-US" sz="2800" dirty="0"/>
              <a:t> </a:t>
            </a:r>
            <a:r>
              <a:rPr lang="en-US" sz="2800" i="1" dirty="0" smtClean="0"/>
              <a:t>f(</a:t>
            </a:r>
            <a:r>
              <a:rPr lang="en-US" sz="2800" i="1" dirty="0" err="1" smtClean="0"/>
              <a:t>x,y</a:t>
            </a:r>
            <a:r>
              <a:rPr lang="en-US" sz="2800" i="1" dirty="0" smtClean="0"/>
              <a:t>),</a:t>
            </a:r>
            <a:r>
              <a:rPr lang="en-US" sz="2800" dirty="0" smtClean="0"/>
              <a:t>di </a:t>
            </a:r>
            <a:r>
              <a:rPr lang="en-US" sz="2800" dirty="0" err="1" smtClean="0"/>
              <a:t>mana</a:t>
            </a:r>
            <a:r>
              <a:rPr lang="en-US" sz="2800" dirty="0" smtClean="0"/>
              <a:t> </a:t>
            </a:r>
            <a:r>
              <a:rPr lang="en-US" sz="2800" dirty="0" err="1" smtClean="0"/>
              <a:t>nilai</a:t>
            </a:r>
            <a:r>
              <a:rPr lang="en-US" sz="2800" dirty="0" smtClean="0"/>
              <a:t> </a:t>
            </a:r>
            <a:r>
              <a:rPr lang="en-US" sz="2800" dirty="0" err="1"/>
              <a:t>atau</a:t>
            </a:r>
            <a:r>
              <a:rPr lang="en-US" sz="2800" dirty="0"/>
              <a:t> </a:t>
            </a:r>
            <a:r>
              <a:rPr lang="en-US" sz="2800" dirty="0" err="1" smtClean="0"/>
              <a:t>amplitudo</a:t>
            </a:r>
            <a:r>
              <a:rPr lang="en-US" sz="2800" dirty="0" smtClean="0"/>
              <a:t> </a:t>
            </a:r>
            <a:r>
              <a:rPr lang="en-US" sz="2800" dirty="0" err="1" smtClean="0"/>
              <a:t>dari</a:t>
            </a:r>
            <a:r>
              <a:rPr lang="en-US" sz="2800" dirty="0"/>
              <a:t> </a:t>
            </a:r>
            <a:r>
              <a:rPr lang="en-US" sz="2800" dirty="0" smtClean="0"/>
              <a:t>f </a:t>
            </a:r>
            <a:r>
              <a:rPr lang="en-US" sz="2800" dirty="0" err="1" smtClean="0"/>
              <a:t>pada</a:t>
            </a:r>
            <a:r>
              <a:rPr lang="en-US" sz="2800" i="1" dirty="0"/>
              <a:t> </a:t>
            </a:r>
            <a:r>
              <a:rPr lang="en-US" sz="2800" dirty="0" err="1" smtClean="0"/>
              <a:t>koordinat</a:t>
            </a:r>
            <a:r>
              <a:rPr lang="en-US" sz="2800" dirty="0"/>
              <a:t> </a:t>
            </a:r>
            <a:r>
              <a:rPr lang="en-US" sz="2800" dirty="0" err="1" smtClean="0"/>
              <a:t>spasial</a:t>
            </a:r>
            <a:r>
              <a:rPr lang="en-US" sz="2800" dirty="0" smtClean="0"/>
              <a:t>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38238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Bagaimana</a:t>
            </a:r>
            <a:r>
              <a:rPr lang="en-US" b="1" dirty="0" smtClean="0"/>
              <a:t> Citra </a:t>
            </a:r>
            <a:r>
              <a:rPr lang="en-US" b="1" dirty="0" err="1" smtClean="0"/>
              <a:t>Terbentuk</a:t>
            </a:r>
            <a:r>
              <a:rPr lang="en-US" b="1" dirty="0" smtClean="0"/>
              <a:t>?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376127" y="2910774"/>
            <a:ext cx="104386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Citra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Kontinu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Dihasilkan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optik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menerimasinyal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analog.</a:t>
            </a:r>
          </a:p>
          <a:p>
            <a:r>
              <a:rPr lang="en-US" sz="2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Contoh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Mata </a:t>
            </a:r>
            <a:r>
              <a:rPr lang="en-US" sz="2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manusia,Kamera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6127" y="3991097"/>
            <a:ext cx="104386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Citra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Diskrit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Dihasilkan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melalui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prosess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digitalisme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terhadap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Contoh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2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Kamera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Digital,Scaner</a:t>
            </a:r>
            <a:endParaRPr 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31683" y="1946495"/>
            <a:ext cx="47711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Citra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macam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022551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Definisi</a:t>
            </a:r>
            <a:r>
              <a:rPr lang="en-US" b="1" dirty="0" smtClean="0"/>
              <a:t> Citra Digital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914399" y="1855960"/>
            <a:ext cx="87275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Citra Digital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citra</a:t>
            </a:r>
            <a:r>
              <a:rPr lang="en-US" dirty="0" smtClean="0"/>
              <a:t> f(</a:t>
            </a:r>
            <a:r>
              <a:rPr lang="en-US" dirty="0" err="1" smtClean="0"/>
              <a:t>x,y</a:t>
            </a:r>
            <a:r>
              <a:rPr lang="en-US" dirty="0" smtClean="0"/>
              <a:t>) yang </a:t>
            </a:r>
            <a:r>
              <a:rPr lang="en-US" dirty="0" err="1" smtClean="0"/>
              <a:t>telah</a:t>
            </a:r>
            <a:r>
              <a:rPr lang="en-US" dirty="0" smtClean="0"/>
              <a:t> </a:t>
            </a:r>
            <a:r>
              <a:rPr lang="en-US" dirty="0" err="1" smtClean="0"/>
              <a:t>dilakukan</a:t>
            </a:r>
            <a:r>
              <a:rPr lang="en-US" dirty="0" smtClean="0"/>
              <a:t> </a:t>
            </a:r>
            <a:r>
              <a:rPr lang="en-US" dirty="0" err="1" smtClean="0"/>
              <a:t>digitalisasi</a:t>
            </a:r>
            <a:r>
              <a:rPr lang="en-US" dirty="0" smtClean="0"/>
              <a:t> </a:t>
            </a:r>
            <a:r>
              <a:rPr lang="en-US" dirty="0" err="1" smtClean="0"/>
              <a:t>baik</a:t>
            </a:r>
            <a:r>
              <a:rPr lang="en-US" dirty="0" smtClean="0"/>
              <a:t> </a:t>
            </a:r>
            <a:r>
              <a:rPr lang="en-US" dirty="0" err="1" smtClean="0"/>
              <a:t>koordinat</a:t>
            </a:r>
            <a:r>
              <a:rPr lang="en-US" dirty="0" smtClean="0"/>
              <a:t> area </a:t>
            </a:r>
            <a:r>
              <a:rPr lang="en-US" dirty="0" err="1" smtClean="0"/>
              <a:t>mapun</a:t>
            </a:r>
            <a:r>
              <a:rPr lang="en-US" dirty="0" smtClean="0"/>
              <a:t> </a:t>
            </a:r>
            <a:r>
              <a:rPr lang="en-US" i="1" dirty="0" smtClean="0"/>
              <a:t>brightness</a:t>
            </a:r>
            <a:r>
              <a:rPr lang="en-US" dirty="0" smtClean="0"/>
              <a:t> level. </a:t>
            </a:r>
            <a:r>
              <a:rPr lang="en-US" dirty="0" err="1" smtClean="0"/>
              <a:t>Nilai</a:t>
            </a:r>
            <a:r>
              <a:rPr lang="en-US" dirty="0" smtClean="0"/>
              <a:t> f di </a:t>
            </a:r>
            <a:r>
              <a:rPr lang="en-US" dirty="0" err="1" smtClean="0"/>
              <a:t>koordinat</a:t>
            </a:r>
            <a:r>
              <a:rPr lang="en-US" dirty="0" smtClean="0"/>
              <a:t> (</a:t>
            </a:r>
            <a:r>
              <a:rPr lang="en-US" dirty="0" err="1" smtClean="0"/>
              <a:t>x,y</a:t>
            </a:r>
            <a:r>
              <a:rPr lang="en-US" dirty="0" smtClean="0"/>
              <a:t>) </a:t>
            </a:r>
            <a:r>
              <a:rPr lang="en-US" dirty="0" err="1" smtClean="0"/>
              <a:t>menunjukan</a:t>
            </a:r>
            <a:r>
              <a:rPr lang="en-US" dirty="0" smtClean="0"/>
              <a:t> </a:t>
            </a:r>
            <a:r>
              <a:rPr lang="en-US" i="1" dirty="0" smtClean="0"/>
              <a:t>brightness</a:t>
            </a:r>
            <a:r>
              <a:rPr lang="en-US" dirty="0" smtClean="0"/>
              <a:t>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i="1" dirty="0" smtClean="0"/>
              <a:t>grayness </a:t>
            </a:r>
            <a:r>
              <a:rPr lang="en-US" dirty="0" smtClean="0"/>
              <a:t>level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citra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titik</a:t>
            </a:r>
            <a:r>
              <a:rPr lang="en-US" dirty="0" smtClean="0"/>
              <a:t> </a:t>
            </a:r>
            <a:r>
              <a:rPr lang="en-US" dirty="0" err="1" smtClean="0"/>
              <a:t>tersebut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399" y="2978590"/>
            <a:ext cx="905346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hal</a:t>
            </a:r>
            <a:r>
              <a:rPr lang="en-US" dirty="0"/>
              <a:t> yang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proses </a:t>
            </a:r>
            <a:r>
              <a:rPr lang="en-US" dirty="0" err="1"/>
              <a:t>digitalisasi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yaitu</a:t>
            </a:r>
            <a:r>
              <a:rPr lang="en-US" dirty="0"/>
              <a:t> (1) </a:t>
            </a:r>
            <a:r>
              <a:rPr lang="en-US" dirty="0" err="1"/>
              <a:t>mempartisi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dimensi</a:t>
            </a:r>
            <a:r>
              <a:rPr lang="en-US" dirty="0"/>
              <a:t> </a:t>
            </a:r>
            <a:r>
              <a:rPr lang="en-US" i="1" dirty="0"/>
              <a:t>x</a:t>
            </a:r>
            <a:r>
              <a:rPr lang="en-US" dirty="0"/>
              <a:t> </a:t>
            </a:r>
            <a:r>
              <a:rPr lang="en-US" dirty="0" err="1"/>
              <a:t>kolom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i="1" dirty="0"/>
              <a:t>y</a:t>
            </a:r>
            <a:r>
              <a:rPr lang="en-US" dirty="0"/>
              <a:t> </a:t>
            </a:r>
            <a:r>
              <a:rPr lang="en-US" dirty="0" err="1"/>
              <a:t>baris</a:t>
            </a:r>
            <a:r>
              <a:rPr lang="en-US" dirty="0"/>
              <a:t> (</a:t>
            </a:r>
            <a:r>
              <a:rPr lang="id-ID" b="1" dirty="0"/>
              <a:t>S</a:t>
            </a:r>
            <a:r>
              <a:rPr lang="en-US" b="1" dirty="0" err="1"/>
              <a:t>ampling</a:t>
            </a:r>
            <a:r>
              <a:rPr lang="en-US" dirty="0"/>
              <a:t>); </a:t>
            </a:r>
            <a:r>
              <a:rPr lang="en-US" dirty="0" err="1"/>
              <a:t>serta</a:t>
            </a:r>
            <a:r>
              <a:rPr lang="en-US" dirty="0"/>
              <a:t> (2) </a:t>
            </a:r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 </a:t>
            </a:r>
            <a:r>
              <a:rPr lang="en-US" dirty="0" err="1"/>
              <a:t>intensitas</a:t>
            </a:r>
            <a:r>
              <a:rPr lang="en-US" dirty="0"/>
              <a:t> yang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piksel</a:t>
            </a:r>
            <a:r>
              <a:rPr lang="en-US" dirty="0"/>
              <a:t> </a:t>
            </a:r>
            <a:r>
              <a:rPr lang="en-US" dirty="0" err="1"/>
              <a:t>pembentuk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(</a:t>
            </a:r>
            <a:r>
              <a:rPr lang="id-ID" b="1" dirty="0"/>
              <a:t>K</a:t>
            </a:r>
            <a:r>
              <a:rPr lang="en-US" b="1" dirty="0" err="1"/>
              <a:t>uantisasi</a:t>
            </a:r>
            <a:r>
              <a:rPr lang="en-US" dirty="0"/>
              <a:t>) </a:t>
            </a:r>
            <a:r>
              <a:rPr lang="id-ID" dirty="0"/>
              <a:t>yang</a:t>
            </a:r>
            <a:r>
              <a:rPr lang="en-US" dirty="0"/>
              <a:t> </a:t>
            </a:r>
            <a:r>
              <a:rPr lang="en-US" dirty="0" err="1"/>
              <a:t>menghasilkan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resolusi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id-ID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Sampling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proses </a:t>
            </a:r>
            <a:r>
              <a:rPr lang="en-US" dirty="0" err="1"/>
              <a:t>transformasi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analog (</a:t>
            </a:r>
            <a:r>
              <a:rPr lang="en-US" dirty="0" err="1"/>
              <a:t>kontinu</a:t>
            </a:r>
            <a:r>
              <a:rPr lang="en-US" dirty="0"/>
              <a:t>)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digital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membagi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analog (</a:t>
            </a:r>
            <a:r>
              <a:rPr lang="en-US" dirty="0" err="1"/>
              <a:t>kontinu</a:t>
            </a:r>
            <a:r>
              <a:rPr lang="en-US" dirty="0"/>
              <a:t>)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i="1" dirty="0"/>
              <a:t>x</a:t>
            </a:r>
            <a:r>
              <a:rPr lang="en-US" dirty="0"/>
              <a:t> </a:t>
            </a:r>
            <a:r>
              <a:rPr lang="en-US" dirty="0" err="1"/>
              <a:t>kolom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i="1" dirty="0"/>
              <a:t>y</a:t>
            </a:r>
            <a:r>
              <a:rPr lang="en-US" dirty="0"/>
              <a:t> </a:t>
            </a:r>
            <a:r>
              <a:rPr lang="en-US" dirty="0" err="1"/>
              <a:t>baris</a:t>
            </a:r>
            <a:r>
              <a:rPr lang="en-US" dirty="0"/>
              <a:t>,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diskrit</a:t>
            </a:r>
            <a:r>
              <a:rPr lang="en-US" dirty="0"/>
              <a:t>. </a:t>
            </a:r>
            <a:r>
              <a:rPr lang="en-US" dirty="0" err="1"/>
              <a:t>Dimana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data </a:t>
            </a:r>
            <a:r>
              <a:rPr lang="en-US" dirty="0" err="1"/>
              <a:t>citra</a:t>
            </a:r>
            <a:r>
              <a:rPr lang="en-US" dirty="0"/>
              <a:t> analog </a:t>
            </a:r>
            <a:r>
              <a:rPr lang="en-US" dirty="0" err="1"/>
              <a:t>terekam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data </a:t>
            </a:r>
            <a:r>
              <a:rPr lang="en-US" dirty="0" err="1"/>
              <a:t>citra</a:t>
            </a:r>
            <a:r>
              <a:rPr lang="en-US" dirty="0"/>
              <a:t> digital (</a:t>
            </a:r>
            <a:r>
              <a:rPr lang="en-US" dirty="0" err="1"/>
              <a:t>ada</a:t>
            </a:r>
            <a:r>
              <a:rPr lang="en-US" dirty="0"/>
              <a:t> yang </a:t>
            </a:r>
            <a:r>
              <a:rPr lang="en-US" dirty="0" err="1"/>
              <a:t>hilang</a:t>
            </a:r>
            <a:r>
              <a:rPr lang="en-US" dirty="0"/>
              <a:t>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 err="1"/>
              <a:t>Kuantisasi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proses </a:t>
            </a:r>
            <a:r>
              <a:rPr lang="en-US" dirty="0" err="1"/>
              <a:t>transformasi</a:t>
            </a:r>
            <a:r>
              <a:rPr lang="en-US" dirty="0"/>
              <a:t> </a:t>
            </a:r>
            <a:r>
              <a:rPr lang="en-US" dirty="0" err="1"/>
              <a:t>intensitas</a:t>
            </a:r>
            <a:r>
              <a:rPr lang="en-US" dirty="0"/>
              <a:t> </a:t>
            </a:r>
            <a:r>
              <a:rPr lang="en-US" dirty="0" err="1"/>
              <a:t>cahaya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yang </a:t>
            </a:r>
            <a:r>
              <a:rPr lang="en-US" dirty="0" err="1"/>
              <a:t>bersifat</a:t>
            </a:r>
            <a:r>
              <a:rPr lang="en-US" dirty="0"/>
              <a:t> </a:t>
            </a:r>
            <a:r>
              <a:rPr lang="en-US" dirty="0" err="1"/>
              <a:t>kontinu</a:t>
            </a:r>
            <a:r>
              <a:rPr lang="en-US" dirty="0"/>
              <a:t> (analog)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daerah</a:t>
            </a:r>
            <a:r>
              <a:rPr lang="en-US" dirty="0"/>
              <a:t> </a:t>
            </a:r>
            <a:r>
              <a:rPr lang="en-US" dirty="0" err="1"/>
              <a:t>intensitas</a:t>
            </a:r>
            <a:r>
              <a:rPr lang="en-US" dirty="0"/>
              <a:t> yang </a:t>
            </a:r>
            <a:r>
              <a:rPr lang="en-US" dirty="0" err="1"/>
              <a:t>bersifat</a:t>
            </a:r>
            <a:r>
              <a:rPr lang="en-US" dirty="0"/>
              <a:t> </a:t>
            </a:r>
            <a:r>
              <a:rPr lang="en-US" dirty="0" err="1"/>
              <a:t>diskrit</a:t>
            </a:r>
            <a:r>
              <a:rPr lang="en-US" dirty="0"/>
              <a:t>. </a:t>
            </a:r>
            <a:r>
              <a:rPr lang="en-US" b="1" dirty="0" err="1"/>
              <a:t>Kuantisasi</a:t>
            </a:r>
            <a:r>
              <a:rPr lang="en-US" dirty="0"/>
              <a:t> </a:t>
            </a:r>
            <a:r>
              <a:rPr lang="en-US" dirty="0" err="1"/>
              <a:t>diperlukan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menyatakan</a:t>
            </a:r>
            <a:r>
              <a:rPr lang="en-US" dirty="0"/>
              <a:t> </a:t>
            </a:r>
            <a:r>
              <a:rPr lang="en-US" dirty="0" err="1"/>
              <a:t>besaran</a:t>
            </a:r>
            <a:r>
              <a:rPr lang="en-US" dirty="0"/>
              <a:t> </a:t>
            </a:r>
            <a:r>
              <a:rPr lang="en-US" dirty="0" err="1"/>
              <a:t>gradasi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yang </a:t>
            </a:r>
            <a:r>
              <a:rPr lang="en-US" dirty="0" err="1"/>
              <a:t>dibutuhkan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mencitrakan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objek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481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Definisi</a:t>
            </a:r>
            <a:r>
              <a:rPr lang="en-US" b="1" dirty="0"/>
              <a:t> Citra Digital</a:t>
            </a:r>
            <a:endParaRPr lang="en-US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4" b="14116"/>
          <a:stretch/>
        </p:blipFill>
        <p:spPr bwMode="auto">
          <a:xfrm>
            <a:off x="2091349" y="2186773"/>
            <a:ext cx="6515485" cy="4241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004934" y="1493822"/>
            <a:ext cx="78403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 smtClean="0"/>
              <a:t>Gambar</a:t>
            </a:r>
            <a:r>
              <a:rPr lang="en-US" sz="2400" dirty="0" smtClean="0"/>
              <a:t> </a:t>
            </a:r>
            <a:r>
              <a:rPr lang="en-US" sz="2400" dirty="0" err="1" smtClean="0"/>
              <a:t>Sistem</a:t>
            </a:r>
            <a:r>
              <a:rPr lang="en-US" sz="2400" dirty="0" smtClean="0"/>
              <a:t> </a:t>
            </a:r>
            <a:r>
              <a:rPr lang="en-US" sz="2400" dirty="0" err="1" smtClean="0"/>
              <a:t>Koordinat</a:t>
            </a:r>
            <a:r>
              <a:rPr lang="en-US" sz="2400" dirty="0" smtClean="0"/>
              <a:t> Citra </a:t>
            </a:r>
            <a:r>
              <a:rPr lang="en-US" sz="2400" dirty="0" err="1" smtClean="0"/>
              <a:t>Berukuran</a:t>
            </a:r>
            <a:r>
              <a:rPr lang="en-US" sz="2400" dirty="0" smtClean="0"/>
              <a:t> </a:t>
            </a:r>
            <a:r>
              <a:rPr lang="en-US" sz="2400" dirty="0" err="1" smtClean="0"/>
              <a:t>MxN</a:t>
            </a:r>
            <a:r>
              <a:rPr lang="en-US" sz="2400" dirty="0" smtClean="0"/>
              <a:t> (M </a:t>
            </a:r>
            <a:r>
              <a:rPr lang="en-US" sz="2400" dirty="0" err="1" smtClean="0"/>
              <a:t>Baris</a:t>
            </a:r>
            <a:r>
              <a:rPr lang="en-US" sz="2400" dirty="0" smtClean="0"/>
              <a:t> </a:t>
            </a:r>
            <a:r>
              <a:rPr lang="en-US" sz="2400" dirty="0" err="1" smtClean="0"/>
              <a:t>dan</a:t>
            </a:r>
            <a:r>
              <a:rPr lang="en-US" sz="2400" dirty="0" smtClean="0"/>
              <a:t> M </a:t>
            </a:r>
            <a:r>
              <a:rPr lang="en-US" sz="2400" dirty="0" err="1" smtClean="0"/>
              <a:t>Kolom</a:t>
            </a:r>
            <a:r>
              <a:rPr lang="en-US" sz="2400" dirty="0" smtClean="0"/>
              <a:t>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50715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Satuan</a:t>
            </a:r>
            <a:r>
              <a:rPr lang="en-US" b="1" dirty="0" smtClean="0"/>
              <a:t> Citra Digital</a:t>
            </a:r>
            <a:endParaRPr lang="en-US" b="1" dirty="0"/>
          </a:p>
        </p:txBody>
      </p:sp>
      <p:sp>
        <p:nvSpPr>
          <p:cNvPr id="3" name="Rectangle 2"/>
          <p:cNvSpPr/>
          <p:nvPr/>
        </p:nvSpPr>
        <p:spPr>
          <a:xfrm>
            <a:off x="902327" y="1703508"/>
            <a:ext cx="970833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Satuan</a:t>
            </a:r>
            <a:r>
              <a:rPr lang="en-US" sz="2400" dirty="0"/>
              <a:t> </a:t>
            </a:r>
            <a:r>
              <a:rPr lang="en-US" sz="2400" dirty="0" err="1"/>
              <a:t>terkecil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citra</a:t>
            </a:r>
            <a:r>
              <a:rPr lang="en-US" sz="2400" dirty="0"/>
              <a:t> digital </a:t>
            </a:r>
            <a:r>
              <a:rPr lang="en-US" sz="2400" dirty="0" err="1"/>
              <a:t>disebut</a:t>
            </a:r>
            <a:r>
              <a:rPr lang="en-US" sz="2400" dirty="0"/>
              <a:t> </a:t>
            </a:r>
            <a:r>
              <a:rPr lang="en-US" sz="2400" dirty="0" err="1"/>
              <a:t>piksel</a:t>
            </a:r>
            <a:r>
              <a:rPr lang="en-US" sz="2400" dirty="0"/>
              <a:t> (</a:t>
            </a:r>
            <a:r>
              <a:rPr lang="en-US" sz="2400" i="1" dirty="0"/>
              <a:t>pixel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i="1" dirty="0"/>
              <a:t>picture element</a:t>
            </a:r>
            <a:r>
              <a:rPr lang="en-US" sz="2400" dirty="0"/>
              <a:t>). </a:t>
            </a:r>
            <a:r>
              <a:rPr lang="en-US" sz="2400" dirty="0" err="1"/>
              <a:t>Umumnya</a:t>
            </a:r>
            <a:r>
              <a:rPr lang="en-US" sz="2400" dirty="0"/>
              <a:t> </a:t>
            </a:r>
            <a:r>
              <a:rPr lang="en-US" sz="2400" dirty="0" err="1"/>
              <a:t>citra</a:t>
            </a:r>
            <a:r>
              <a:rPr lang="en-US" sz="2400" dirty="0"/>
              <a:t> </a:t>
            </a:r>
            <a:r>
              <a:rPr lang="en-US" sz="2400" dirty="0" err="1"/>
              <a:t>dibentuk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kotak-kotak</a:t>
            </a:r>
            <a:r>
              <a:rPr lang="en-US" sz="2400" dirty="0"/>
              <a:t> </a:t>
            </a:r>
            <a:r>
              <a:rPr lang="en-US" sz="2400" dirty="0" err="1"/>
              <a:t>persegi</a:t>
            </a:r>
            <a:r>
              <a:rPr lang="en-US" sz="2400" dirty="0"/>
              <a:t> </a:t>
            </a:r>
            <a:r>
              <a:rPr lang="en-US" sz="2400" dirty="0" err="1"/>
              <a:t>empat</a:t>
            </a:r>
            <a:r>
              <a:rPr lang="en-US" sz="2400" dirty="0"/>
              <a:t> yang </a:t>
            </a:r>
            <a:r>
              <a:rPr lang="en-US" sz="2400" dirty="0" err="1"/>
              <a:t>teratur</a:t>
            </a:r>
            <a:r>
              <a:rPr lang="en-US" sz="2400" dirty="0"/>
              <a:t> </a:t>
            </a:r>
            <a:r>
              <a:rPr lang="en-US" sz="2400" dirty="0" err="1"/>
              <a:t>sehingga</a:t>
            </a:r>
            <a:r>
              <a:rPr lang="en-US" sz="2400" dirty="0"/>
              <a:t> </a:t>
            </a:r>
            <a:r>
              <a:rPr lang="en-US" sz="2400" dirty="0" err="1"/>
              <a:t>jarak</a:t>
            </a:r>
            <a:r>
              <a:rPr lang="en-US" sz="2400" dirty="0"/>
              <a:t> horizontal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vertikal</a:t>
            </a:r>
            <a:r>
              <a:rPr lang="en-US" sz="2400" dirty="0"/>
              <a:t> </a:t>
            </a:r>
            <a:r>
              <a:rPr lang="en-US" sz="2400" dirty="0" err="1"/>
              <a:t>antara</a:t>
            </a:r>
            <a:r>
              <a:rPr lang="en-US" sz="2400" dirty="0"/>
              <a:t> </a:t>
            </a:r>
            <a:r>
              <a:rPr lang="en-US" sz="2400" dirty="0" err="1"/>
              <a:t>piksel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sama</a:t>
            </a:r>
            <a:r>
              <a:rPr lang="en-US" sz="2400" dirty="0"/>
              <a:t> </a:t>
            </a:r>
            <a:r>
              <a:rPr lang="en-US" sz="2400" dirty="0" err="1"/>
              <a:t>pada</a:t>
            </a:r>
            <a:r>
              <a:rPr lang="en-US" sz="2400" dirty="0"/>
              <a:t> </a:t>
            </a:r>
            <a:r>
              <a:rPr lang="en-US" sz="2400" dirty="0" err="1"/>
              <a:t>seluruh</a:t>
            </a:r>
            <a:r>
              <a:rPr lang="en-US" sz="2400" dirty="0"/>
              <a:t> </a:t>
            </a:r>
            <a:r>
              <a:rPr lang="en-US" sz="2400" dirty="0" err="1"/>
              <a:t>bagian</a:t>
            </a:r>
            <a:r>
              <a:rPr lang="en-US" sz="2400" dirty="0"/>
              <a:t> </a:t>
            </a:r>
            <a:r>
              <a:rPr lang="en-US" sz="2400" dirty="0" err="1"/>
              <a:t>citra</a:t>
            </a:r>
            <a:endParaRPr lang="en-US" sz="2400" dirty="0"/>
          </a:p>
        </p:txBody>
      </p:sp>
      <p:pic>
        <p:nvPicPr>
          <p:cNvPr id="4" name="Content Placeholder 5"/>
          <p:cNvPicPr>
            <a:picLocks/>
          </p:cNvPicPr>
          <p:nvPr/>
        </p:nvPicPr>
        <p:blipFill>
          <a:blip r:embed="rId2"/>
          <a:srcRect r="42686"/>
          <a:stretch>
            <a:fillRect/>
          </a:stretch>
        </p:blipFill>
        <p:spPr bwMode="auto">
          <a:xfrm>
            <a:off x="1073403" y="3382654"/>
            <a:ext cx="34290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 l="20312" t="19500" r="17813" b="23000"/>
          <a:stretch>
            <a:fillRect/>
          </a:stretch>
        </p:blipFill>
        <p:spPr bwMode="auto">
          <a:xfrm>
            <a:off x="5306580" y="3487261"/>
            <a:ext cx="5457990" cy="3170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92249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1.11111E-6 L 0.00035 -0.16944 " pathEditMode="relative" rAng="0" ptsTypes="AA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Model Citra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823865" y="2037030"/>
            <a:ext cx="843783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FR" sz="2000" dirty="0" err="1"/>
              <a:t>Citra</a:t>
            </a:r>
            <a:r>
              <a:rPr lang="fr-FR" sz="2000" dirty="0"/>
              <a:t> </a:t>
            </a:r>
            <a:r>
              <a:rPr lang="fr-FR" sz="2000" dirty="0" err="1"/>
              <a:t>merupakan</a:t>
            </a:r>
            <a:r>
              <a:rPr lang="fr-FR" sz="2000" dirty="0"/>
              <a:t> </a:t>
            </a:r>
            <a:r>
              <a:rPr lang="fr-FR" sz="2000" dirty="0" err="1"/>
              <a:t>fungsi</a:t>
            </a:r>
            <a:r>
              <a:rPr lang="fr-FR" sz="2000" dirty="0"/>
              <a:t> </a:t>
            </a:r>
            <a:r>
              <a:rPr lang="fr-FR" sz="2000" dirty="0" err="1"/>
              <a:t>malar</a:t>
            </a:r>
            <a:r>
              <a:rPr lang="fr-FR" sz="2000" dirty="0"/>
              <a:t> (</a:t>
            </a:r>
            <a:r>
              <a:rPr lang="fr-FR" sz="2000" dirty="0" err="1"/>
              <a:t>kontinyu</a:t>
            </a:r>
            <a:r>
              <a:rPr lang="fr-FR" sz="2000" dirty="0"/>
              <a:t>) dari </a:t>
            </a:r>
            <a:r>
              <a:rPr lang="fr-FR" sz="2000" dirty="0" err="1"/>
              <a:t>intensitas</a:t>
            </a:r>
            <a:r>
              <a:rPr lang="fr-FR" sz="2000" dirty="0"/>
              <a:t> </a:t>
            </a:r>
            <a:r>
              <a:rPr lang="fr-FR" sz="2000" dirty="0" err="1"/>
              <a:t>cahaya</a:t>
            </a:r>
            <a:r>
              <a:rPr lang="fr-FR" sz="2000" dirty="0"/>
              <a:t>. </a:t>
            </a:r>
            <a:r>
              <a:rPr lang="fr-FR" sz="2000" dirty="0" err="1"/>
              <a:t>Secara</a:t>
            </a:r>
            <a:r>
              <a:rPr lang="fr-FR" sz="2000" dirty="0"/>
              <a:t> </a:t>
            </a:r>
            <a:r>
              <a:rPr lang="fr-FR" sz="2000" dirty="0" err="1"/>
              <a:t>matematis</a:t>
            </a:r>
            <a:r>
              <a:rPr lang="fr-FR" sz="2000" dirty="0"/>
              <a:t> </a:t>
            </a:r>
            <a:r>
              <a:rPr lang="fr-FR" sz="2000" dirty="0" err="1"/>
              <a:t>disimbulkan</a:t>
            </a:r>
            <a:r>
              <a:rPr lang="fr-FR" sz="2000" dirty="0"/>
              <a:t> </a:t>
            </a:r>
            <a:r>
              <a:rPr lang="fr-FR" sz="2000" dirty="0" err="1"/>
              <a:t>dengan</a:t>
            </a:r>
            <a:r>
              <a:rPr lang="fr-FR" sz="2000" dirty="0"/>
              <a:t> </a:t>
            </a:r>
            <a:r>
              <a:rPr lang="fr-FR" sz="2000" i="1" dirty="0"/>
              <a:t>f(</a:t>
            </a:r>
            <a:r>
              <a:rPr lang="fr-FR" sz="2000" i="1" dirty="0" err="1"/>
              <a:t>x,y</a:t>
            </a:r>
            <a:r>
              <a:rPr lang="fr-FR" sz="2000" i="1" dirty="0"/>
              <a:t>), </a:t>
            </a:r>
            <a:r>
              <a:rPr lang="fr-FR" sz="2000" i="1" dirty="0" err="1"/>
              <a:t>dimana</a:t>
            </a:r>
            <a:r>
              <a:rPr lang="fr-FR" sz="2000" i="1" dirty="0"/>
              <a:t> </a:t>
            </a:r>
            <a:r>
              <a:rPr lang="fr-FR" sz="2000" dirty="0"/>
              <a:t>  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fr-FR" i="1" dirty="0"/>
              <a:t>(</a:t>
            </a:r>
            <a:r>
              <a:rPr lang="fr-FR" i="1" dirty="0" err="1"/>
              <a:t>x,y</a:t>
            </a:r>
            <a:r>
              <a:rPr lang="fr-FR" i="1" dirty="0"/>
              <a:t>) :</a:t>
            </a:r>
            <a:r>
              <a:rPr lang="fr-FR" dirty="0"/>
              <a:t> </a:t>
            </a:r>
            <a:r>
              <a:rPr lang="fr-FR" dirty="0" err="1"/>
              <a:t>koordinat</a:t>
            </a:r>
            <a:r>
              <a:rPr lang="fr-FR" dirty="0"/>
              <a:t> </a:t>
            </a:r>
            <a:r>
              <a:rPr lang="fr-FR" dirty="0" err="1"/>
              <a:t>pada</a:t>
            </a:r>
            <a:r>
              <a:rPr lang="fr-FR" dirty="0"/>
              <a:t> </a:t>
            </a:r>
            <a:r>
              <a:rPr lang="fr-FR" dirty="0" err="1"/>
              <a:t>bidang</a:t>
            </a:r>
            <a:r>
              <a:rPr lang="fr-FR" dirty="0"/>
              <a:t> </a:t>
            </a:r>
            <a:r>
              <a:rPr lang="fr-FR" dirty="0" err="1"/>
              <a:t>dwi</a:t>
            </a:r>
            <a:r>
              <a:rPr lang="fr-FR" dirty="0"/>
              <a:t> </a:t>
            </a:r>
            <a:r>
              <a:rPr lang="fr-FR" dirty="0" err="1"/>
              <a:t>warna</a:t>
            </a:r>
            <a:endParaRPr lang="fr-FR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fr-FR" i="1" dirty="0"/>
              <a:t>F(</a:t>
            </a:r>
            <a:r>
              <a:rPr lang="fr-FR" i="1" dirty="0" err="1"/>
              <a:t>x,y</a:t>
            </a:r>
            <a:r>
              <a:rPr lang="fr-FR" i="1" dirty="0"/>
              <a:t>)</a:t>
            </a:r>
            <a:r>
              <a:rPr lang="fr-FR" dirty="0"/>
              <a:t> : </a:t>
            </a:r>
            <a:r>
              <a:rPr lang="fr-FR" dirty="0" err="1"/>
              <a:t>intensitas</a:t>
            </a:r>
            <a:r>
              <a:rPr lang="fr-FR" dirty="0"/>
              <a:t> </a:t>
            </a:r>
            <a:r>
              <a:rPr lang="fr-FR" dirty="0" err="1"/>
              <a:t>cahaya</a:t>
            </a:r>
            <a:r>
              <a:rPr lang="fr-FR" dirty="0"/>
              <a:t> </a:t>
            </a:r>
            <a:r>
              <a:rPr lang="fr-FR" dirty="0" err="1"/>
              <a:t>pada</a:t>
            </a:r>
            <a:r>
              <a:rPr lang="fr-FR" dirty="0"/>
              <a:t> </a:t>
            </a:r>
            <a:r>
              <a:rPr lang="fr-FR" dirty="0" err="1"/>
              <a:t>titik</a:t>
            </a:r>
            <a:r>
              <a:rPr lang="fr-FR" dirty="0"/>
              <a:t> (</a:t>
            </a:r>
            <a:r>
              <a:rPr lang="fr-FR" dirty="0" err="1"/>
              <a:t>x,y</a:t>
            </a:r>
            <a:r>
              <a:rPr lang="fr-FR" dirty="0"/>
              <a:t>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93276" y="3396528"/>
            <a:ext cx="8368419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FR" sz="2000" dirty="0" err="1"/>
              <a:t>Nilai</a:t>
            </a:r>
            <a:r>
              <a:rPr lang="fr-FR" sz="2000" dirty="0"/>
              <a:t> f(</a:t>
            </a:r>
            <a:r>
              <a:rPr lang="fr-FR" sz="2000" dirty="0" err="1"/>
              <a:t>x,y</a:t>
            </a:r>
            <a:r>
              <a:rPr lang="fr-FR" sz="2000" dirty="0"/>
              <a:t>) </a:t>
            </a:r>
            <a:r>
              <a:rPr lang="fr-FR" sz="2000" dirty="0" err="1"/>
              <a:t>adalah</a:t>
            </a:r>
            <a:r>
              <a:rPr lang="fr-FR" sz="2000" dirty="0"/>
              <a:t> </a:t>
            </a:r>
            <a:r>
              <a:rPr lang="fr-FR" sz="2000" dirty="0" err="1"/>
              <a:t>hasil</a:t>
            </a:r>
            <a:r>
              <a:rPr lang="fr-FR" sz="2000" dirty="0"/>
              <a:t> kali dari 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fr-FR" i="1" dirty="0"/>
              <a:t>i(</a:t>
            </a:r>
            <a:r>
              <a:rPr lang="fr-FR" i="1" dirty="0" err="1"/>
              <a:t>x,y</a:t>
            </a:r>
            <a:r>
              <a:rPr lang="fr-FR" i="1" dirty="0"/>
              <a:t>)</a:t>
            </a:r>
            <a:r>
              <a:rPr lang="fr-FR" dirty="0"/>
              <a:t> = </a:t>
            </a:r>
            <a:r>
              <a:rPr lang="fr-FR" dirty="0" err="1"/>
              <a:t>jumlah</a:t>
            </a:r>
            <a:r>
              <a:rPr lang="fr-FR" dirty="0"/>
              <a:t> </a:t>
            </a:r>
            <a:r>
              <a:rPr lang="fr-FR" dirty="0" err="1"/>
              <a:t>cahaya</a:t>
            </a:r>
            <a:r>
              <a:rPr lang="fr-FR" dirty="0"/>
              <a:t> yang </a:t>
            </a:r>
            <a:r>
              <a:rPr lang="fr-FR" dirty="0" err="1"/>
              <a:t>berasal</a:t>
            </a:r>
            <a:r>
              <a:rPr lang="fr-FR" dirty="0"/>
              <a:t> dari </a:t>
            </a:r>
            <a:r>
              <a:rPr lang="fr-FR" dirty="0" err="1"/>
              <a:t>sumber</a:t>
            </a:r>
            <a:r>
              <a:rPr lang="fr-FR" dirty="0"/>
              <a:t>, </a:t>
            </a:r>
            <a:r>
              <a:rPr lang="fr-FR" dirty="0" err="1"/>
              <a:t>nilainya</a:t>
            </a:r>
            <a:r>
              <a:rPr lang="fr-FR" dirty="0"/>
              <a:t> </a:t>
            </a:r>
            <a:r>
              <a:rPr lang="fr-FR" dirty="0" err="1"/>
              <a:t>antara</a:t>
            </a:r>
            <a:r>
              <a:rPr lang="fr-FR" dirty="0"/>
              <a:t> 0 </a:t>
            </a:r>
            <a:r>
              <a:rPr lang="fr-FR" dirty="0" err="1"/>
              <a:t>sampai</a:t>
            </a:r>
            <a:r>
              <a:rPr lang="fr-FR" dirty="0"/>
              <a:t> </a:t>
            </a:r>
            <a:r>
              <a:rPr lang="fr-FR" dirty="0" err="1"/>
              <a:t>tak</a:t>
            </a:r>
            <a:r>
              <a:rPr lang="fr-FR" dirty="0"/>
              <a:t> </a:t>
            </a:r>
            <a:r>
              <a:rPr lang="fr-FR" dirty="0" err="1"/>
              <a:t>terhingga</a:t>
            </a:r>
            <a:r>
              <a:rPr lang="fr-FR" dirty="0"/>
              <a:t>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fr-FR" i="1" dirty="0"/>
              <a:t>r(</a:t>
            </a:r>
            <a:r>
              <a:rPr lang="fr-FR" i="1" dirty="0" err="1"/>
              <a:t>x,y</a:t>
            </a:r>
            <a:r>
              <a:rPr lang="fr-FR" i="1" dirty="0"/>
              <a:t>)</a:t>
            </a:r>
            <a:r>
              <a:rPr lang="fr-FR" dirty="0"/>
              <a:t> = </a:t>
            </a:r>
            <a:r>
              <a:rPr lang="fr-FR" dirty="0" err="1"/>
              <a:t>derajat</a:t>
            </a:r>
            <a:r>
              <a:rPr lang="fr-FR" dirty="0"/>
              <a:t> </a:t>
            </a:r>
            <a:r>
              <a:rPr lang="fr-FR" dirty="0" err="1"/>
              <a:t>kemampuan</a:t>
            </a:r>
            <a:r>
              <a:rPr lang="fr-FR" dirty="0"/>
              <a:t> </a:t>
            </a:r>
            <a:r>
              <a:rPr lang="fr-FR" dirty="0" err="1"/>
              <a:t>objek</a:t>
            </a:r>
            <a:r>
              <a:rPr lang="fr-FR" dirty="0"/>
              <a:t> </a:t>
            </a:r>
            <a:r>
              <a:rPr lang="fr-FR" dirty="0" err="1"/>
              <a:t>memantulkan</a:t>
            </a:r>
            <a:r>
              <a:rPr lang="fr-FR" dirty="0"/>
              <a:t> </a:t>
            </a:r>
            <a:r>
              <a:rPr lang="fr-FR" dirty="0" err="1"/>
              <a:t>cahaya</a:t>
            </a:r>
            <a:r>
              <a:rPr lang="fr-FR" dirty="0"/>
              <a:t> , </a:t>
            </a:r>
            <a:r>
              <a:rPr lang="fr-FR" dirty="0" err="1"/>
              <a:t>nilainya</a:t>
            </a:r>
            <a:r>
              <a:rPr lang="fr-FR" dirty="0"/>
              <a:t> </a:t>
            </a:r>
            <a:r>
              <a:rPr lang="fr-FR" dirty="0" err="1"/>
              <a:t>antara</a:t>
            </a:r>
            <a:r>
              <a:rPr lang="fr-FR" dirty="0"/>
              <a:t> 0 dan 1.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fr-FR" dirty="0" err="1"/>
              <a:t>Jadi</a:t>
            </a:r>
            <a:r>
              <a:rPr lang="fr-FR" dirty="0"/>
              <a:t> </a:t>
            </a:r>
            <a:r>
              <a:rPr lang="fr-FR" i="1" dirty="0"/>
              <a:t>f(</a:t>
            </a:r>
            <a:r>
              <a:rPr lang="fr-FR" i="1" dirty="0" err="1"/>
              <a:t>x,y</a:t>
            </a:r>
            <a:r>
              <a:rPr lang="fr-FR" i="1" dirty="0"/>
              <a:t>) = i(</a:t>
            </a:r>
            <a:r>
              <a:rPr lang="fr-FR" i="1" dirty="0" err="1"/>
              <a:t>x,y</a:t>
            </a:r>
            <a:r>
              <a:rPr lang="fr-FR" i="1" dirty="0"/>
              <a:t>) . r(</a:t>
            </a:r>
            <a:r>
              <a:rPr lang="fr-FR" i="1" dirty="0" err="1"/>
              <a:t>x,y</a:t>
            </a:r>
            <a:r>
              <a:rPr lang="fr-FR" i="1" dirty="0"/>
              <a:t>)</a:t>
            </a:r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6392" y="4991589"/>
            <a:ext cx="3494638" cy="1377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3595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Digitalisasi</a:t>
            </a:r>
            <a:r>
              <a:rPr lang="en-US" dirty="0" smtClean="0"/>
              <a:t> Citra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823866" y="1919335"/>
            <a:ext cx="9949758" cy="2419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fr-FR" sz="2400" dirty="0" err="1"/>
              <a:t>Supaya</a:t>
            </a:r>
            <a:r>
              <a:rPr lang="fr-FR" sz="2400" dirty="0"/>
              <a:t> bisa </a:t>
            </a:r>
            <a:r>
              <a:rPr lang="fr-FR" sz="2400" dirty="0" err="1"/>
              <a:t>diolah</a:t>
            </a:r>
            <a:r>
              <a:rPr lang="fr-FR" sz="2400" dirty="0"/>
              <a:t> </a:t>
            </a:r>
            <a:r>
              <a:rPr lang="fr-FR" sz="2400" dirty="0" err="1"/>
              <a:t>dengan</a:t>
            </a:r>
            <a:r>
              <a:rPr lang="fr-FR" sz="2400" dirty="0"/>
              <a:t> </a:t>
            </a:r>
            <a:r>
              <a:rPr lang="fr-FR" sz="2400" dirty="0" err="1"/>
              <a:t>komputer</a:t>
            </a:r>
            <a:r>
              <a:rPr lang="fr-FR" sz="2400" dirty="0"/>
              <a:t>, </a:t>
            </a:r>
            <a:r>
              <a:rPr lang="fr-FR" sz="2400" dirty="0" err="1"/>
              <a:t>citra</a:t>
            </a:r>
            <a:r>
              <a:rPr lang="fr-FR" sz="2400" dirty="0"/>
              <a:t> </a:t>
            </a:r>
            <a:r>
              <a:rPr lang="fr-FR" sz="2400" dirty="0" err="1"/>
              <a:t>harus</a:t>
            </a:r>
            <a:r>
              <a:rPr lang="fr-FR" sz="2400" dirty="0"/>
              <a:t> </a:t>
            </a:r>
            <a:r>
              <a:rPr lang="fr-FR" sz="2400" dirty="0" err="1"/>
              <a:t>direpsentasikan</a:t>
            </a:r>
            <a:r>
              <a:rPr lang="fr-FR" sz="2400" dirty="0"/>
              <a:t> </a:t>
            </a:r>
            <a:r>
              <a:rPr lang="fr-FR" sz="2400" dirty="0" err="1"/>
              <a:t>secara</a:t>
            </a:r>
            <a:r>
              <a:rPr lang="fr-FR" sz="2400" dirty="0"/>
              <a:t> </a:t>
            </a:r>
            <a:r>
              <a:rPr lang="fr-FR" sz="2400" dirty="0" err="1"/>
              <a:t>numerik</a:t>
            </a:r>
            <a:r>
              <a:rPr lang="fr-FR" sz="2400" dirty="0"/>
              <a:t> </a:t>
            </a:r>
            <a:r>
              <a:rPr lang="fr-FR" sz="2400" dirty="0" err="1"/>
              <a:t>dengan</a:t>
            </a:r>
            <a:r>
              <a:rPr lang="fr-FR" sz="2400" dirty="0"/>
              <a:t> </a:t>
            </a:r>
            <a:r>
              <a:rPr lang="fr-FR" sz="2400" dirty="0" err="1"/>
              <a:t>nilai</a:t>
            </a:r>
            <a:r>
              <a:rPr lang="fr-FR" sz="2400" dirty="0"/>
              <a:t> </a:t>
            </a:r>
            <a:r>
              <a:rPr lang="fr-FR" sz="2400" dirty="0" err="1"/>
              <a:t>diskrit</a:t>
            </a:r>
            <a:r>
              <a:rPr lang="fr-FR" sz="2400" dirty="0"/>
              <a:t> .</a:t>
            </a:r>
          </a:p>
          <a:p>
            <a:pPr marL="285750" indent="-285750" algn="just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fr-FR" sz="2400" dirty="0" err="1"/>
              <a:t>Citra</a:t>
            </a:r>
            <a:r>
              <a:rPr lang="fr-FR" sz="2400" dirty="0"/>
              <a:t> digital </a:t>
            </a:r>
            <a:r>
              <a:rPr lang="fr-FR" sz="2400" dirty="0" err="1"/>
              <a:t>dinyatakan</a:t>
            </a:r>
            <a:r>
              <a:rPr lang="fr-FR" sz="2400" dirty="0"/>
              <a:t> </a:t>
            </a:r>
            <a:r>
              <a:rPr lang="fr-FR" sz="2400" dirty="0" err="1"/>
              <a:t>dengan</a:t>
            </a:r>
            <a:r>
              <a:rPr lang="fr-FR" sz="2400" dirty="0"/>
              <a:t> </a:t>
            </a:r>
            <a:r>
              <a:rPr lang="fr-FR" sz="2400" dirty="0" err="1"/>
              <a:t>suatu</a:t>
            </a:r>
            <a:r>
              <a:rPr lang="fr-FR" sz="2400" dirty="0"/>
              <a:t> </a:t>
            </a:r>
            <a:r>
              <a:rPr lang="fr-FR" sz="2400" dirty="0" err="1"/>
              <a:t>matrik</a:t>
            </a:r>
            <a:r>
              <a:rPr lang="fr-FR" sz="2400" dirty="0"/>
              <a:t> </a:t>
            </a:r>
            <a:r>
              <a:rPr lang="fr-FR" sz="2400" dirty="0" err="1"/>
              <a:t>ukuran</a:t>
            </a:r>
            <a:r>
              <a:rPr lang="fr-FR" sz="2400" dirty="0"/>
              <a:t> </a:t>
            </a:r>
            <a:r>
              <a:rPr lang="fr-FR" sz="2400" i="1" dirty="0" err="1"/>
              <a:t>NxM</a:t>
            </a:r>
            <a:r>
              <a:rPr lang="fr-FR" sz="2400" i="1" dirty="0"/>
              <a:t>.</a:t>
            </a:r>
            <a:r>
              <a:rPr lang="fr-FR" sz="2400" dirty="0"/>
              <a:t> </a:t>
            </a:r>
            <a:r>
              <a:rPr lang="fr-FR" sz="2400" dirty="0" err="1"/>
              <a:t>Masing-masing</a:t>
            </a:r>
            <a:r>
              <a:rPr lang="fr-FR" sz="2400" dirty="0"/>
              <a:t> </a:t>
            </a:r>
            <a:r>
              <a:rPr lang="fr-FR" sz="2400" dirty="0" err="1"/>
              <a:t>elemen</a:t>
            </a:r>
            <a:r>
              <a:rPr lang="fr-FR" sz="2400" dirty="0"/>
              <a:t> </a:t>
            </a:r>
            <a:r>
              <a:rPr lang="fr-FR" sz="2400" dirty="0" err="1"/>
              <a:t>disebut</a:t>
            </a:r>
            <a:r>
              <a:rPr lang="fr-FR" sz="2400" dirty="0"/>
              <a:t> </a:t>
            </a:r>
            <a:r>
              <a:rPr lang="fr-FR" sz="2400" i="1" dirty="0"/>
              <a:t>pixel (</a:t>
            </a:r>
            <a:r>
              <a:rPr lang="fr-FR" sz="2400" i="1" dirty="0" err="1"/>
              <a:t>picture</a:t>
            </a:r>
            <a:r>
              <a:rPr lang="fr-FR" sz="2400" i="1" dirty="0"/>
              <a:t> </a:t>
            </a:r>
            <a:r>
              <a:rPr lang="fr-FR" sz="2400" i="1" dirty="0" err="1"/>
              <a:t>element</a:t>
            </a:r>
            <a:r>
              <a:rPr lang="fr-FR" sz="2400" i="1" dirty="0"/>
              <a:t>)</a:t>
            </a:r>
          </a:p>
          <a:p>
            <a:endParaRPr lang="en-US" sz="24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44063" t="50741" r="32500" b="30741"/>
          <a:stretch/>
        </p:blipFill>
        <p:spPr>
          <a:xfrm>
            <a:off x="1695450" y="4338459"/>
            <a:ext cx="428625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257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Contoh</a:t>
            </a:r>
            <a:r>
              <a:rPr lang="en-US" dirty="0" smtClean="0"/>
              <a:t> </a:t>
            </a:r>
            <a:r>
              <a:rPr lang="en-US" dirty="0" err="1" smtClean="0"/>
              <a:t>perkalian</a:t>
            </a:r>
            <a:r>
              <a:rPr lang="en-US" dirty="0" smtClean="0"/>
              <a:t> Matrix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33331" y="2245259"/>
            <a:ext cx="1106333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Jika</a:t>
            </a:r>
            <a:r>
              <a:rPr lang="en-US" sz="2400" dirty="0"/>
              <a:t> f(</a:t>
            </a:r>
            <a:r>
              <a:rPr lang="en-US" sz="2400" dirty="0" err="1"/>
              <a:t>x,y</a:t>
            </a:r>
            <a:r>
              <a:rPr lang="en-US" sz="2400" dirty="0"/>
              <a:t>) = </a:t>
            </a:r>
            <a:r>
              <a:rPr lang="en-US" sz="2400" dirty="0" err="1"/>
              <a:t>xy</a:t>
            </a:r>
            <a:r>
              <a:rPr lang="en-US" sz="2400" dirty="0"/>
              <a:t> </a:t>
            </a:r>
            <a:r>
              <a:rPr lang="en-US" sz="2400" dirty="0" err="1"/>
              <a:t>maka</a:t>
            </a:r>
            <a:r>
              <a:rPr lang="en-US" sz="2400" dirty="0"/>
              <a:t>: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f(</a:t>
            </a:r>
            <a:r>
              <a:rPr lang="en-US" sz="2400" dirty="0" err="1"/>
              <a:t>x,y</a:t>
            </a:r>
            <a:r>
              <a:rPr lang="en-US" sz="2400" dirty="0"/>
              <a:t>) </a:t>
            </a:r>
            <a:r>
              <a:rPr lang="en-US" sz="2400" dirty="0" smtClean="0"/>
              <a:t>= </a:t>
            </a:r>
            <a:endParaRPr lang="id-ID" sz="2400" dirty="0"/>
          </a:p>
          <a:p>
            <a:endParaRPr lang="id-ID" sz="2400" dirty="0"/>
          </a:p>
          <a:p>
            <a:endParaRPr lang="id-ID" sz="2400" dirty="0"/>
          </a:p>
          <a:p>
            <a:endParaRPr lang="id-ID" sz="2400" dirty="0"/>
          </a:p>
          <a:p>
            <a:endParaRPr lang="en-US" sz="2400" dirty="0" smtClean="0"/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sz="2400" dirty="0" smtClean="0"/>
              <a:t>f(x,y)</a:t>
            </a:r>
            <a:r>
              <a:rPr lang="en-US" sz="2400" dirty="0" smtClean="0"/>
              <a:t> </a:t>
            </a:r>
            <a:r>
              <a:rPr lang="id-ID" sz="2400" dirty="0" smtClean="0"/>
              <a:t>=</a:t>
            </a:r>
            <a:r>
              <a:rPr lang="en-US" sz="2400" dirty="0" smtClean="0"/>
              <a:t>  </a:t>
            </a:r>
            <a:endParaRPr lang="en-US" sz="2400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173585" y="2843542"/>
            <a:ext cx="1493067" cy="1583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0 0 0 0</a:t>
            </a:r>
          </a:p>
          <a:p>
            <a:r>
              <a:rPr lang="en-US" sz="3200" dirty="0" smtClean="0"/>
              <a:t>0 1 2 3</a:t>
            </a:r>
          </a:p>
          <a:p>
            <a:r>
              <a:rPr lang="en-US" sz="3200" dirty="0" smtClean="0"/>
              <a:t>0 2 4 6</a:t>
            </a:r>
            <a:endParaRPr lang="en-US" sz="3200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4055113"/>
              </p:ext>
            </p:extLst>
          </p:nvPr>
        </p:nvGraphicFramePr>
        <p:xfrm>
          <a:off x="2309387" y="5034480"/>
          <a:ext cx="3193699" cy="71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" name="Equation" r:id="rId3" imgW="965160" imgH="215640" progId="Equation.3">
                  <p:embed/>
                </p:oleObj>
              </mc:Choice>
              <mc:Fallback>
                <p:oleObj name="Equation" r:id="rId3" imgW="9651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9387" y="5034480"/>
                        <a:ext cx="3193699" cy="71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4004" y="2445133"/>
            <a:ext cx="4067175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8256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n-lt"/>
                <a:ea typeface="宋体" pitchFamily="2" charset="-122"/>
              </a:rPr>
              <a:t>Matrix </a:t>
            </a:r>
            <a:r>
              <a:rPr lang="en-US" altLang="zh-CN" dirty="0" smtClean="0">
                <a:latin typeface="+mn-lt"/>
                <a:ea typeface="宋体" pitchFamily="2" charset="-122"/>
              </a:rPr>
              <a:t>Representation</a:t>
            </a:r>
            <a:endParaRPr lang="en-US" dirty="0">
              <a:latin typeface="+mn-lt"/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0957357"/>
              </p:ext>
            </p:extLst>
          </p:nvPr>
        </p:nvGraphicFramePr>
        <p:xfrm>
          <a:off x="1167897" y="1476375"/>
          <a:ext cx="3962400" cy="206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CorelPhotoPaint.Image.8" r:id="rId3" imgW="4507937" imgH="2349206" progId="">
                  <p:embed/>
                </p:oleObj>
              </mc:Choice>
              <mc:Fallback>
                <p:oleObj name="CorelPhotoPaint.Image.8" r:id="rId3" imgW="4507937" imgH="2349206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7897" y="1476375"/>
                        <a:ext cx="3962400" cy="206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10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811467" y="3838575"/>
            <a:ext cx="2497137" cy="249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1383804" y="3838575"/>
            <a:ext cx="3522663" cy="3019425"/>
            <a:chOff x="325" y="633"/>
            <a:chExt cx="2219" cy="1902"/>
          </a:xfrm>
        </p:grpSpPr>
        <p:pic>
          <p:nvPicPr>
            <p:cNvPr id="6" name="Picture 11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960" y="633"/>
              <a:ext cx="1573" cy="15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Line 12"/>
            <p:cNvSpPr>
              <a:spLocks noChangeShapeType="1"/>
            </p:cNvSpPr>
            <p:nvPr/>
          </p:nvSpPr>
          <p:spPr bwMode="auto">
            <a:xfrm>
              <a:off x="960" y="2265"/>
              <a:ext cx="15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13"/>
            <p:cNvSpPr>
              <a:spLocks noChangeShapeType="1"/>
            </p:cNvSpPr>
            <p:nvPr/>
          </p:nvSpPr>
          <p:spPr bwMode="auto">
            <a:xfrm flipV="1">
              <a:off x="864" y="633"/>
              <a:ext cx="0" cy="15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Box 14"/>
            <p:cNvSpPr txBox="1">
              <a:spLocks noChangeArrowheads="1"/>
            </p:cNvSpPr>
            <p:nvPr/>
          </p:nvSpPr>
          <p:spPr bwMode="auto">
            <a:xfrm>
              <a:off x="325" y="1287"/>
              <a:ext cx="53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Book Antiqua" pitchFamily="18" charset="0"/>
                  <a:ea typeface="宋体" pitchFamily="2" charset="-122"/>
                </a:rPr>
                <a:t>H=256</a:t>
              </a:r>
            </a:p>
          </p:txBody>
        </p:sp>
        <p:sp>
          <p:nvSpPr>
            <p:cNvPr id="10" name="Text Box 15"/>
            <p:cNvSpPr txBox="1">
              <a:spLocks noChangeArrowheads="1"/>
            </p:cNvSpPr>
            <p:nvPr/>
          </p:nvSpPr>
          <p:spPr bwMode="auto">
            <a:xfrm>
              <a:off x="1488" y="2304"/>
              <a:ext cx="56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Book Antiqua" pitchFamily="18" charset="0"/>
                  <a:ea typeface="宋体" pitchFamily="2" charset="-122"/>
                </a:rPr>
                <a:t>W=256</a:t>
              </a:r>
            </a:p>
          </p:txBody>
        </p:sp>
      </p:grpSp>
      <p:graphicFrame>
        <p:nvGraphicFramePr>
          <p:cNvPr id="1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8687138"/>
              </p:ext>
            </p:extLst>
          </p:nvPr>
        </p:nvGraphicFramePr>
        <p:xfrm>
          <a:off x="6336804" y="1552575"/>
          <a:ext cx="3505200" cy="20382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Equation" r:id="rId7" imgW="2882880" imgH="1676160" progId="Equation.3">
                  <p:embed/>
                </p:oleObj>
              </mc:Choice>
              <mc:Fallback>
                <p:oleObj name="Equation" r:id="rId7" imgW="2882880" imgH="1676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6804" y="1552575"/>
                        <a:ext cx="3505200" cy="20382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22"/>
          <p:cNvSpPr txBox="1">
            <a:spLocks noChangeArrowheads="1"/>
          </p:cNvSpPr>
          <p:nvPr/>
        </p:nvSpPr>
        <p:spPr bwMode="auto">
          <a:xfrm>
            <a:off x="4991288" y="4541838"/>
            <a:ext cx="16764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2000" dirty="0">
                <a:latin typeface="Book Antiqua" pitchFamily="18" charset="0"/>
                <a:ea typeface="宋体" pitchFamily="2" charset="-122"/>
                <a:cs typeface="Times New Roman" pitchFamily="18" charset="0"/>
              </a:rPr>
              <a:t>Divide into 8x8 blocks</a:t>
            </a:r>
          </a:p>
        </p:txBody>
      </p:sp>
    </p:spTree>
    <p:extLst>
      <p:ext uri="{BB962C8B-B14F-4D97-AF65-F5344CB8AC3E}">
        <p14:creationId xmlns:p14="http://schemas.microsoft.com/office/powerpoint/2010/main" val="943311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Element </a:t>
            </a:r>
            <a:r>
              <a:rPr lang="en-US" b="1" dirty="0" err="1" smtClean="0"/>
              <a:t>pada</a:t>
            </a:r>
            <a:r>
              <a:rPr lang="en-US" b="1" dirty="0" smtClean="0"/>
              <a:t> </a:t>
            </a:r>
            <a:r>
              <a:rPr lang="en-US" b="1" dirty="0" err="1" smtClean="0"/>
              <a:t>citra</a:t>
            </a:r>
            <a:r>
              <a:rPr lang="en-US" b="1" dirty="0" smtClean="0"/>
              <a:t> digital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923453" y="1566250"/>
            <a:ext cx="995881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Brightness, </a:t>
            </a:r>
            <a:r>
              <a:rPr lang="en-US" sz="2400" dirty="0" err="1"/>
              <a:t>kecerahan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intensitas</a:t>
            </a:r>
            <a:r>
              <a:rPr lang="en-US" sz="2400" dirty="0"/>
              <a:t> </a:t>
            </a:r>
            <a:r>
              <a:rPr lang="en-US" sz="2400" dirty="0" err="1"/>
              <a:t>cahaya</a:t>
            </a:r>
            <a:r>
              <a:rPr lang="en-US" sz="2400" dirty="0"/>
              <a:t> yang </a:t>
            </a:r>
            <a:r>
              <a:rPr lang="en-US" sz="2400" dirty="0" err="1"/>
              <a:t>dipancarkan</a:t>
            </a:r>
            <a:r>
              <a:rPr lang="en-US" sz="2400" dirty="0"/>
              <a:t> pixel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citra</a:t>
            </a:r>
            <a:r>
              <a:rPr lang="en-US" sz="2400" dirty="0"/>
              <a:t> yang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ditangkap</a:t>
            </a:r>
            <a:r>
              <a:rPr lang="en-US" sz="2400" dirty="0"/>
              <a:t> </a:t>
            </a:r>
            <a:r>
              <a:rPr lang="en-US" sz="2400" dirty="0" err="1"/>
              <a:t>oleh</a:t>
            </a:r>
            <a:r>
              <a:rPr lang="en-US" sz="2400" dirty="0"/>
              <a:t> </a:t>
            </a:r>
            <a:r>
              <a:rPr lang="en-US" sz="2400" dirty="0" err="1"/>
              <a:t>sistem</a:t>
            </a:r>
            <a:r>
              <a:rPr lang="en-US" sz="2400" dirty="0"/>
              <a:t> </a:t>
            </a:r>
            <a:r>
              <a:rPr lang="en-US" sz="2400" dirty="0" err="1"/>
              <a:t>pengliatan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Contrast, </a:t>
            </a:r>
            <a:r>
              <a:rPr lang="en-US" sz="2400" dirty="0" err="1"/>
              <a:t>kontras</a:t>
            </a:r>
            <a:r>
              <a:rPr lang="en-US" sz="2400" dirty="0"/>
              <a:t> </a:t>
            </a:r>
            <a:r>
              <a:rPr lang="en-US" sz="2400" dirty="0" err="1"/>
              <a:t>menyatakan</a:t>
            </a:r>
            <a:r>
              <a:rPr lang="en-US" sz="2400" dirty="0"/>
              <a:t> </a:t>
            </a:r>
            <a:r>
              <a:rPr lang="en-US" sz="2400" dirty="0" err="1"/>
              <a:t>sebaran</a:t>
            </a:r>
            <a:r>
              <a:rPr lang="en-US" sz="2400" dirty="0"/>
              <a:t> </a:t>
            </a:r>
            <a:r>
              <a:rPr lang="en-US" sz="2400" dirty="0" err="1"/>
              <a:t>terang</a:t>
            </a:r>
            <a:r>
              <a:rPr lang="en-US" sz="2400" dirty="0"/>
              <a:t> “lightness”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gelap</a:t>
            </a:r>
            <a:r>
              <a:rPr lang="en-US" sz="2400" dirty="0"/>
              <a:t> “darkness” di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gambar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Countour,kontur</a:t>
            </a:r>
            <a:r>
              <a:rPr lang="en-US" sz="2400" dirty="0"/>
              <a:t> </a:t>
            </a:r>
            <a:r>
              <a:rPr lang="en-US" sz="2400" dirty="0" err="1"/>
              <a:t>merupakan</a:t>
            </a:r>
            <a:r>
              <a:rPr lang="en-US" sz="2400" dirty="0"/>
              <a:t> </a:t>
            </a:r>
            <a:r>
              <a:rPr lang="en-US" sz="2400" dirty="0" err="1"/>
              <a:t>keadaan</a:t>
            </a:r>
            <a:r>
              <a:rPr lang="en-US" sz="2400" dirty="0"/>
              <a:t> yang </a:t>
            </a:r>
            <a:r>
              <a:rPr lang="en-US" sz="2400" dirty="0" err="1"/>
              <a:t>ditimbulkan</a:t>
            </a:r>
            <a:r>
              <a:rPr lang="en-US" sz="2400" dirty="0"/>
              <a:t> </a:t>
            </a:r>
            <a:r>
              <a:rPr lang="en-US" sz="2400" dirty="0" err="1"/>
              <a:t>oleh</a:t>
            </a:r>
            <a:r>
              <a:rPr lang="en-US" sz="2400" dirty="0"/>
              <a:t> </a:t>
            </a:r>
            <a:r>
              <a:rPr lang="en-US" sz="2400" dirty="0" err="1"/>
              <a:t>perubahan</a:t>
            </a:r>
            <a:r>
              <a:rPr lang="en-US" sz="2400" dirty="0"/>
              <a:t> </a:t>
            </a:r>
            <a:r>
              <a:rPr lang="en-US" sz="2400" dirty="0" err="1"/>
              <a:t>intensitas</a:t>
            </a:r>
            <a:r>
              <a:rPr lang="en-US" sz="2400" dirty="0"/>
              <a:t> </a:t>
            </a:r>
            <a:r>
              <a:rPr lang="en-US" sz="2400" dirty="0" err="1"/>
              <a:t>pada</a:t>
            </a:r>
            <a:r>
              <a:rPr lang="en-US" sz="2400" dirty="0"/>
              <a:t> pixel yang </a:t>
            </a:r>
            <a:r>
              <a:rPr lang="en-US" sz="2400" dirty="0" err="1" smtClean="0"/>
              <a:t>bertetanggaan</a:t>
            </a:r>
            <a:endParaRPr lang="en-US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Color, </a:t>
            </a:r>
            <a:r>
              <a:rPr lang="en-US" sz="2400" dirty="0" err="1"/>
              <a:t>warna</a:t>
            </a:r>
            <a:r>
              <a:rPr lang="en-US" sz="2400" dirty="0"/>
              <a:t> </a:t>
            </a:r>
            <a:r>
              <a:rPr lang="en-US" sz="2400" dirty="0" err="1"/>
              <a:t>sebagai</a:t>
            </a:r>
            <a:r>
              <a:rPr lang="en-US" sz="2400" dirty="0"/>
              <a:t> </a:t>
            </a:r>
            <a:r>
              <a:rPr lang="en-US" sz="2400" dirty="0" err="1"/>
              <a:t>persepsi</a:t>
            </a:r>
            <a:r>
              <a:rPr lang="en-US" sz="2400" dirty="0"/>
              <a:t> yang </a:t>
            </a:r>
            <a:r>
              <a:rPr lang="en-US" sz="2400" dirty="0" err="1"/>
              <a:t>ditangkap</a:t>
            </a:r>
            <a:r>
              <a:rPr lang="en-US" sz="2400" dirty="0"/>
              <a:t> </a:t>
            </a:r>
            <a:r>
              <a:rPr lang="en-US" sz="2400" dirty="0" err="1"/>
              <a:t>sistem</a:t>
            </a:r>
            <a:r>
              <a:rPr lang="en-US" sz="2400" dirty="0"/>
              <a:t> visual </a:t>
            </a:r>
            <a:r>
              <a:rPr lang="en-US" sz="2400" dirty="0" err="1"/>
              <a:t>terhadap</a:t>
            </a:r>
            <a:r>
              <a:rPr lang="en-US" sz="2400" dirty="0"/>
              <a:t> </a:t>
            </a:r>
            <a:r>
              <a:rPr lang="en-US" sz="2400" dirty="0" err="1"/>
              <a:t>panjang</a:t>
            </a:r>
            <a:r>
              <a:rPr lang="en-US" sz="2400" dirty="0"/>
              <a:t> </a:t>
            </a:r>
            <a:r>
              <a:rPr lang="en-US" sz="2400" dirty="0" err="1"/>
              <a:t>gelombang</a:t>
            </a:r>
            <a:r>
              <a:rPr lang="en-US" sz="2400" dirty="0"/>
              <a:t> </a:t>
            </a:r>
            <a:r>
              <a:rPr lang="en-US" sz="2400" dirty="0" err="1"/>
              <a:t>cahaya</a:t>
            </a:r>
            <a:r>
              <a:rPr lang="en-US" sz="2400" dirty="0"/>
              <a:t> yang </a:t>
            </a:r>
            <a:r>
              <a:rPr lang="en-US" sz="2400" dirty="0" err="1"/>
              <a:t>dipantulkan</a:t>
            </a:r>
            <a:r>
              <a:rPr lang="en-US" sz="2400" dirty="0"/>
              <a:t> </a:t>
            </a:r>
            <a:r>
              <a:rPr lang="en-US" sz="2400" dirty="0" err="1"/>
              <a:t>oleh</a:t>
            </a:r>
            <a:r>
              <a:rPr lang="en-US" sz="2400" dirty="0"/>
              <a:t> </a:t>
            </a:r>
            <a:r>
              <a:rPr lang="en-US" sz="2400" dirty="0" err="1"/>
              <a:t>objek</a:t>
            </a:r>
            <a:endParaRPr lang="nl-NL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400" dirty="0"/>
              <a:t>Sharp, bentuk sebagai properti instristik dari objek 3 dimensi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400" dirty="0"/>
              <a:t>Texture, tekstur dicirikan sebagai distribusi spasial sari derajat keabuan di dalam sekumpulan pixel yang bertetanggaan.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67039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Apa</a:t>
            </a:r>
            <a:r>
              <a:rPr lang="en-US" b="1" dirty="0" smtClean="0"/>
              <a:t> </a:t>
            </a:r>
            <a:r>
              <a:rPr lang="en-US" b="1" dirty="0" err="1" smtClean="0"/>
              <a:t>itu</a:t>
            </a:r>
            <a:r>
              <a:rPr lang="en-US" b="1" dirty="0" smtClean="0"/>
              <a:t> </a:t>
            </a:r>
            <a:r>
              <a:rPr lang="en-US" b="1" dirty="0" err="1" smtClean="0"/>
              <a:t>Pengolahan</a:t>
            </a:r>
            <a:r>
              <a:rPr lang="en-US" b="1" dirty="0" smtClean="0"/>
              <a:t> Citra Digital??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023042" y="1964602"/>
            <a:ext cx="890860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Suatu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pengusahaan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suatu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lain yang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sempurna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yang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pengolahan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suatu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proses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masukan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menghasilkan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keluaran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berupa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dikehendaki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Citra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menurut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kamus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Webster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berarti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representasi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kemiripan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imitasi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suatu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objek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Memper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aiki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kualitas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gambar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dilihat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aspekradiometrik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peningkatan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kontras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trans-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ormasi"arna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restorasi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aspek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geometrik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rotasi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translasi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skala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trans-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ormasi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geometrik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elakukan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pemilihan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citra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ciri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(-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eature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images) yang optimal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tujuan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analisis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7880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pc="-5" dirty="0">
                <a:latin typeface="Carlito"/>
                <a:cs typeface="Carlito"/>
              </a:rPr>
              <a:t>Image</a:t>
            </a:r>
            <a:r>
              <a:rPr lang="en-US" spc="-65" dirty="0">
                <a:latin typeface="Carlito"/>
                <a:cs typeface="Carlito"/>
              </a:rPr>
              <a:t> </a:t>
            </a:r>
            <a:r>
              <a:rPr lang="en-US" spc="-5" dirty="0" smtClean="0">
                <a:latin typeface="Carlito"/>
                <a:cs typeface="Carlito"/>
              </a:rPr>
              <a:t>Enhancement</a:t>
            </a:r>
            <a:endParaRPr lang="en-US" b="1" dirty="0"/>
          </a:p>
        </p:txBody>
      </p:sp>
      <p:sp>
        <p:nvSpPr>
          <p:cNvPr id="3" name="object 4"/>
          <p:cNvSpPr/>
          <p:nvPr/>
        </p:nvSpPr>
        <p:spPr>
          <a:xfrm>
            <a:off x="1681303" y="1779187"/>
            <a:ext cx="8703021" cy="39969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408222" y="5957529"/>
            <a:ext cx="2679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Citra </a:t>
            </a:r>
            <a:r>
              <a:rPr lang="en-US" dirty="0" err="1" smtClean="0"/>
              <a:t>Asli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689002" y="5957529"/>
            <a:ext cx="26798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spc="-5" dirty="0">
                <a:latin typeface="Carlito"/>
                <a:cs typeface="Carlito"/>
              </a:rPr>
              <a:t>Image</a:t>
            </a:r>
            <a:r>
              <a:rPr lang="en-US" sz="1400" spc="-65" dirty="0">
                <a:latin typeface="Carlito"/>
                <a:cs typeface="Carlito"/>
              </a:rPr>
              <a:t> </a:t>
            </a:r>
            <a:r>
              <a:rPr lang="en-US" sz="1400" spc="-5" dirty="0">
                <a:latin typeface="Carlito"/>
                <a:cs typeface="Carlito"/>
              </a:rPr>
              <a:t>Enhancement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59894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Image Resolution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63494" y="1617034"/>
            <a:ext cx="8534400" cy="4646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698987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CN" b="1" dirty="0">
                <a:latin typeface="Times New Roman" pitchFamily="18" charset="0"/>
                <a:ea typeface="宋体" pitchFamily="2" charset="-122"/>
              </a:rPr>
              <a:t>Image Analysis: Edge Detection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8572290"/>
              </p:ext>
            </p:extLst>
          </p:nvPr>
        </p:nvGraphicFramePr>
        <p:xfrm>
          <a:off x="1490586" y="1542107"/>
          <a:ext cx="3962400" cy="396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" name="Image" r:id="rId3" imgW="1645505" imgH="1645505" progId="">
                  <p:embed/>
                </p:oleObj>
              </mc:Choice>
              <mc:Fallback>
                <p:oleObj name="Image" r:id="rId3" imgW="1645505" imgH="164550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0586" y="1542107"/>
                        <a:ext cx="3962400" cy="396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2843671"/>
              </p:ext>
            </p:extLst>
          </p:nvPr>
        </p:nvGraphicFramePr>
        <p:xfrm>
          <a:off x="5747442" y="1542107"/>
          <a:ext cx="3962400" cy="396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" name="Image" r:id="rId5" imgW="1633316" imgH="1633316" progId="">
                  <p:embed/>
                </p:oleObj>
              </mc:Choice>
              <mc:Fallback>
                <p:oleObj name="Image" r:id="rId5" imgW="1633316" imgH="1633316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7442" y="1542107"/>
                        <a:ext cx="3962400" cy="396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263366" y="5633511"/>
            <a:ext cx="2154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Citra </a:t>
            </a:r>
            <a:r>
              <a:rPr lang="en-US" dirty="0" err="1" smtClean="0"/>
              <a:t>Asli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480772" y="5633511"/>
            <a:ext cx="2427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Citra Edge Detection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6413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CN" b="1" dirty="0">
                <a:latin typeface="Times New Roman" pitchFamily="18" charset="0"/>
                <a:ea typeface="宋体" pitchFamily="2" charset="-122"/>
              </a:rPr>
              <a:t>Image Analysis: Image Segmentation</a:t>
            </a:r>
          </a:p>
        </p:txBody>
      </p:sp>
      <p:pic>
        <p:nvPicPr>
          <p:cNvPr id="3" name="Picture 2" descr="ha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8485" y="1920404"/>
            <a:ext cx="4038600" cy="323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 descr="hand_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01410" y="1920404"/>
            <a:ext cx="4029075" cy="323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2372008" y="5377759"/>
            <a:ext cx="2562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Citra </a:t>
            </a:r>
            <a:r>
              <a:rPr lang="en-US" dirty="0" err="1" smtClean="0"/>
              <a:t>Asli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771991" y="5377759"/>
            <a:ext cx="2272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Citra Segmentation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1496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TERIMAH KASIH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28634948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1584528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2012-06-20T23:39:00+00:00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TP102923943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843282</LocLastLocAttemptVersionLookup>
    <IsSearchable xmlns="4873beb7-5857-4685-be1f-d57550cc96cc">true</IsSearchable>
    <TemplateTemplateType xmlns="4873beb7-5857-4685-be1f-d57550cc96cc">PowerPoint Template - Slideshow Launch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LocMarketGroupTiers2 xmlns="4873beb7-5857-4685-be1f-d57550cc96cc" xsi:nil="true"/>
    <APAuthor xmlns="4873beb7-5857-4685-be1f-d57550cc96cc">
      <UserInfo>
        <DisplayName>REDMOND\v-sa</DisplayName>
        <AccountId>2467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970C04F-E7AC-41AB-9C6D-1B1BB88BFF7F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4873beb7-5857-4685-be1f-d57550cc96cc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3EE7759-C66F-4EA4-9863-7EBA32518D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 2013</Template>
  <TotalTime>227</TotalTime>
  <Words>663</Words>
  <Application>Microsoft Office PowerPoint</Application>
  <PresentationFormat>Widescreen</PresentationFormat>
  <Paragraphs>76</Paragraphs>
  <Slides>17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9" baseType="lpstr">
      <vt:lpstr>宋体</vt:lpstr>
      <vt:lpstr>Arial</vt:lpstr>
      <vt:lpstr>Book Antiqua</vt:lpstr>
      <vt:lpstr>Calibri</vt:lpstr>
      <vt:lpstr>Carlito</vt:lpstr>
      <vt:lpstr>Segoe UI</vt:lpstr>
      <vt:lpstr>Segoe UI Light</vt:lpstr>
      <vt:lpstr>Times New Roman</vt:lpstr>
      <vt:lpstr>WelcomeDoc</vt:lpstr>
      <vt:lpstr>Equation</vt:lpstr>
      <vt:lpstr>CorelPhotoPaint.Image.8</vt:lpstr>
      <vt:lpstr>Image</vt:lpstr>
      <vt:lpstr>Pengolahan Citra Digital</vt:lpstr>
      <vt:lpstr>Definisi Citra</vt:lpstr>
      <vt:lpstr>Bagaimana Citra Terbentuk?</vt:lpstr>
      <vt:lpstr>Definisi Citra Digital</vt:lpstr>
      <vt:lpstr>Definisi Citra Digital</vt:lpstr>
      <vt:lpstr>Satuan Citra Digital</vt:lpstr>
      <vt:lpstr>Model Citra</vt:lpstr>
      <vt:lpstr>Digitalisasi Citra</vt:lpstr>
      <vt:lpstr>Contoh perkalian Matrix</vt:lpstr>
      <vt:lpstr>Matrix Representation</vt:lpstr>
      <vt:lpstr>Element pada citra digital</vt:lpstr>
      <vt:lpstr>Apa itu Pengolahan Citra Digital??</vt:lpstr>
      <vt:lpstr>Image Enhancement</vt:lpstr>
      <vt:lpstr>Image Resolution</vt:lpstr>
      <vt:lpstr>Image Analysis: Edge Detection</vt:lpstr>
      <vt:lpstr>Image Analysis: Image Segmentation</vt:lpstr>
      <vt:lpstr>TERIMAH KASIH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Pengolahan Citra Digital</dc:title>
  <dc:creator>LENOVO</dc:creator>
  <cp:keywords/>
  <cp:lastModifiedBy>LENOVO</cp:lastModifiedBy>
  <cp:revision>44</cp:revision>
  <dcterms:created xsi:type="dcterms:W3CDTF">2022-03-01T01:11:31Z</dcterms:created>
  <dcterms:modified xsi:type="dcterms:W3CDTF">2022-03-07T01:23:03Z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_TemplateID">
    <vt:lpwstr>TC029239449991</vt:lpwstr>
  </property>
  <property fmtid="{D5CDD505-2E9C-101B-9397-08002B2CF9AE}" pid="4" name="ContentTypeId">
    <vt:lpwstr>0x0101006EDDDB5EE6D98C44930B742096920B300400F5B6D36B3EF94B4E9A635CDF2A18F5B8</vt:lpwstr>
  </property>
  <property fmtid="{D5CDD505-2E9C-101B-9397-08002B2CF9AE}" pid="5" name="FeatureTags">
    <vt:lpwstr/>
  </property>
  <property fmtid="{D5CDD505-2E9C-101B-9397-08002B2CF9AE}" pid="6" name="LocalizationTags">
    <vt:lpwstr/>
  </property>
  <property fmtid="{D5CDD505-2E9C-101B-9397-08002B2CF9AE}" pid="7" name="ScenarioTags">
    <vt:lpwstr/>
  </property>
  <property fmtid="{D5CDD505-2E9C-101B-9397-08002B2CF9AE}" pid="8" name="CampaignTags">
    <vt:lpwstr/>
  </property>
</Properties>
</file>