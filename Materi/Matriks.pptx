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5"/>
  </p:notesMasterIdLst>
  <p:sldIdLst>
    <p:sldId id="256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86" r:id="rId19"/>
    <p:sldId id="287" r:id="rId20"/>
    <p:sldId id="288" r:id="rId21"/>
    <p:sldId id="289" r:id="rId22"/>
    <p:sldId id="290" r:id="rId23"/>
    <p:sldId id="272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D24726"/>
    <a:srgbClr val="D2B4A6"/>
    <a:srgbClr val="734F29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103" autoAdjust="0"/>
  </p:normalViewPr>
  <p:slideViewPr>
    <p:cSldViewPr snapToGrid="0">
      <p:cViewPr varScale="1">
        <p:scale>
          <a:sx n="66" d="100"/>
          <a:sy n="66" d="100"/>
        </p:scale>
        <p:origin x="6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4104"/>
    </p:cViewPr>
  </p:sorterViewPr>
  <p:notesViewPr>
    <p:cSldViewPr snapToGrid="0">
      <p:cViewPr varScale="1">
        <p:scale>
          <a:sx n="53" d="100"/>
          <a:sy n="53" d="100"/>
        </p:scale>
        <p:origin x="2648" y="5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600"/>
              </a:spcBef>
              <a:buNone/>
              <a:defRPr sz="2800">
                <a:solidFill>
                  <a:srgbClr val="D24726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Aft>
                <a:spcPts val="120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>
              <a:lnSpc>
                <a:spcPct val="150000"/>
              </a:lnSpc>
              <a:spcAft>
                <a:spcPts val="1200"/>
              </a:spcAft>
              <a:defRPr sz="1400">
                <a:solidFill>
                  <a:schemeClr val="bg1">
                    <a:lumMod val="50000"/>
                  </a:schemeClr>
                </a:solidFill>
              </a:defRPr>
            </a:lvl2pPr>
            <a:lvl3pPr>
              <a:lnSpc>
                <a:spcPct val="150000"/>
              </a:lnSpc>
              <a:spcAft>
                <a:spcPts val="1200"/>
              </a:spcAft>
              <a:defRPr sz="1200">
                <a:solidFill>
                  <a:schemeClr val="bg1">
                    <a:lumMod val="50000"/>
                  </a:schemeClr>
                </a:solidFill>
              </a:defRPr>
            </a:lvl3pPr>
            <a:lvl4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4pPr>
            <a:lvl5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>
              <a:defRPr sz="4800">
                <a:solidFill>
                  <a:srgbClr val="D247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3/29/2022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7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2" y="1474041"/>
            <a:ext cx="10515600" cy="2387600"/>
          </a:xfrm>
        </p:spPr>
        <p:txBody>
          <a:bodyPr/>
          <a:lstStyle/>
          <a:p>
            <a:r>
              <a:rPr lang="en-US" b="1" dirty="0" err="1" smtClean="0"/>
              <a:t>Pengolahan</a:t>
            </a:r>
            <a:r>
              <a:rPr lang="en-US" b="1" dirty="0" smtClean="0"/>
              <a:t> Citra Digital</a:t>
            </a:r>
            <a:endParaRPr lang="en-US" b="1" dirty="0"/>
          </a:p>
        </p:txBody>
      </p:sp>
      <p:sp>
        <p:nvSpPr>
          <p:cNvPr id="5" name="TextBox 4"/>
          <p:cNvSpPr txBox="1"/>
          <p:nvPr/>
        </p:nvSpPr>
        <p:spPr>
          <a:xfrm>
            <a:off x="1028324" y="3857452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</a:rPr>
              <a:t>Color Image </a:t>
            </a:r>
            <a:r>
              <a:rPr lang="en-US" sz="2400" b="1" dirty="0" smtClean="0">
                <a:solidFill>
                  <a:schemeClr val="bg1"/>
                </a:solidFill>
              </a:rPr>
              <a:t>Processing</a:t>
            </a:r>
            <a:endParaRPr lang="en-US" sz="2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Color / </a:t>
            </a:r>
            <a:r>
              <a:rPr lang="en-US" dirty="0" err="1" smtClean="0"/>
              <a:t>Warna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609600" y="1674796"/>
            <a:ext cx="9862686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Warna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adalah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deskriptor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kuat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yang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menyederhanakan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identifikasi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ekstraksi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objek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dari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sebuah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adegan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Pemrosesan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gambar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berwarna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dibagi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menjadi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dua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area </a:t>
            </a:r>
            <a:r>
              <a:rPr lang="en-US" sz="2000" dirty="0" err="1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utama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yaitu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full-color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dan</a:t>
            </a:r>
            <a:r>
              <a:rPr lang="en-US" sz="2000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000" b="1" dirty="0" err="1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pseudocolor</a:t>
            </a:r>
            <a:r>
              <a:rPr lang="en-US" sz="2000" b="1" dirty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b="1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processing</a:t>
            </a:r>
            <a:r>
              <a:rPr lang="en-US" sz="2000" dirty="0" smtClean="0">
                <a:solidFill>
                  <a:srgbClr val="202124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rgbClr val="202124"/>
                </a:solidFill>
                <a:latin typeface="inherit"/>
              </a:rPr>
              <a:t>dalam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warna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penuh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,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gambar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diperoleh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dengan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sensor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penuh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warna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,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seperti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kamera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TV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berwarna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atau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pemindai</a:t>
            </a:r>
            <a:r>
              <a:rPr lang="en-US" sz="2000" dirty="0">
                <a:solidFill>
                  <a:srgbClr val="202124"/>
                </a:solidFill>
                <a:latin typeface="inherit"/>
              </a:rPr>
              <a:t> </a:t>
            </a:r>
            <a:r>
              <a:rPr lang="en-US" sz="2000" dirty="0" err="1">
                <a:solidFill>
                  <a:srgbClr val="202124"/>
                </a:solidFill>
                <a:latin typeface="inherit"/>
              </a:rPr>
              <a:t>warna</a:t>
            </a:r>
            <a:r>
              <a:rPr lang="en-US" sz="700" dirty="0"/>
              <a:t> </a:t>
            </a:r>
            <a:endParaRPr lang="en-US" sz="1600" dirty="0">
              <a:latin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endParaRPr lang="en-US" sz="20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0" y="102920"/>
            <a:ext cx="65" cy="251359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265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-5" dirty="0"/>
              <a:t>Color Models </a:t>
            </a:r>
            <a:r>
              <a:rPr lang="en-US" spc="-30" dirty="0"/>
              <a:t>for</a:t>
            </a:r>
            <a:r>
              <a:rPr lang="en-US" spc="-25" dirty="0"/>
              <a:t> Hardware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866274" y="1934678"/>
            <a:ext cx="802746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 smtClean="0"/>
              <a:t>Beberapa</a:t>
            </a:r>
            <a:r>
              <a:rPr lang="en-US" sz="2800" dirty="0" smtClean="0"/>
              <a:t> color models yang popular: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RGB(</a:t>
            </a:r>
            <a:r>
              <a:rPr lang="en-US" sz="2800" dirty="0" err="1" smtClean="0"/>
              <a:t>warna</a:t>
            </a:r>
            <a:r>
              <a:rPr lang="en-US" sz="2800" dirty="0" smtClean="0"/>
              <a:t> primer </a:t>
            </a:r>
            <a:r>
              <a:rPr lang="en-US" sz="2800" dirty="0" err="1" smtClean="0"/>
              <a:t>pada</a:t>
            </a:r>
            <a:r>
              <a:rPr lang="en-US" sz="2800" dirty="0" smtClean="0"/>
              <a:t> CRT)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 smtClean="0"/>
              <a:t>CMY (popular </a:t>
            </a:r>
            <a:r>
              <a:rPr lang="en-US" sz="2800" dirty="0" err="1" smtClean="0"/>
              <a:t>bagi</a:t>
            </a:r>
            <a:r>
              <a:rPr lang="en-US" sz="2800" dirty="0" smtClean="0"/>
              <a:t> </a:t>
            </a:r>
            <a:r>
              <a:rPr lang="en-US" sz="2800" dirty="0" err="1" smtClean="0"/>
              <a:t>percetakan</a:t>
            </a:r>
            <a:endParaRPr lang="en-US" sz="2800" dirty="0" smtClean="0"/>
          </a:p>
        </p:txBody>
      </p:sp>
    </p:spTree>
    <p:extLst>
      <p:ext uri="{BB962C8B-B14F-4D97-AF65-F5344CB8AC3E}">
        <p14:creationId xmlns:p14="http://schemas.microsoft.com/office/powerpoint/2010/main" val="38726917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Color Models </a:t>
            </a:r>
            <a:r>
              <a:rPr lang="en-US" b="1" dirty="0" smtClean="0"/>
              <a:t>RGB</a:t>
            </a:r>
            <a:endParaRPr lang="en-US" b="1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955307" y="1598685"/>
            <a:ext cx="8077200" cy="2309172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 smtClean="0">
                <a:latin typeface="Arial" panose="020B0604020202020204" pitchFamily="34" charset="0"/>
              </a:rPr>
              <a:t>Merupakan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warna</a:t>
            </a:r>
            <a:r>
              <a:rPr lang="en-US" sz="2400" dirty="0" smtClean="0">
                <a:latin typeface="Arial" panose="020B0604020202020204" pitchFamily="34" charset="0"/>
              </a:rPr>
              <a:t> primer </a:t>
            </a:r>
            <a:r>
              <a:rPr lang="en-US" sz="2400" dirty="0" err="1" smtClean="0">
                <a:latin typeface="Arial" panose="020B0604020202020204" pitchFamily="34" charset="0"/>
              </a:rPr>
              <a:t>cahaya</a:t>
            </a:r>
            <a:r>
              <a:rPr lang="en-US" sz="2400" dirty="0" smtClean="0">
                <a:latin typeface="Arial" panose="020B0604020202020204" pitchFamily="34" charset="0"/>
              </a:rPr>
              <a:t> (</a:t>
            </a:r>
            <a:r>
              <a:rPr lang="en-US" sz="2400" dirty="0" err="1" smtClean="0">
                <a:latin typeface="Arial" panose="020B0604020202020204" pitchFamily="34" charset="0"/>
              </a:rPr>
              <a:t>berdasar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mata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manusia</a:t>
            </a:r>
            <a:r>
              <a:rPr lang="en-US" sz="2400" dirty="0" smtClean="0">
                <a:latin typeface="Arial" panose="020B0604020202020204" pitchFamily="34" charset="0"/>
              </a:rPr>
              <a:t>):</a:t>
            </a:r>
          </a:p>
          <a:p>
            <a:pPr lvl="1"/>
            <a:r>
              <a:rPr lang="en-US" dirty="0" smtClean="0">
                <a:latin typeface="Arial" panose="020B0604020202020204" pitchFamily="34" charset="0"/>
              </a:rPr>
              <a:t>R (</a:t>
            </a:r>
            <a:r>
              <a:rPr lang="en-US" b="1" dirty="0" smtClean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dirty="0" smtClean="0">
                <a:latin typeface="Arial" panose="020B0604020202020204" pitchFamily="34" charset="0"/>
              </a:rPr>
              <a:t>), G (</a:t>
            </a:r>
            <a:r>
              <a:rPr lang="en-US" b="1" dirty="0" smtClean="0">
                <a:solidFill>
                  <a:srgbClr val="66FF33"/>
                </a:solidFill>
                <a:latin typeface="Arial" panose="020B0604020202020204" pitchFamily="34" charset="0"/>
              </a:rPr>
              <a:t>green</a:t>
            </a:r>
            <a:r>
              <a:rPr lang="en-US" dirty="0" smtClean="0">
                <a:latin typeface="Arial" panose="020B0604020202020204" pitchFamily="34" charset="0"/>
              </a:rPr>
              <a:t>) </a:t>
            </a:r>
            <a:r>
              <a:rPr lang="en-US" dirty="0" err="1" smtClean="0">
                <a:latin typeface="Arial" panose="020B0604020202020204" pitchFamily="34" charset="0"/>
              </a:rPr>
              <a:t>dan</a:t>
            </a:r>
            <a:r>
              <a:rPr lang="en-US" dirty="0" smtClean="0">
                <a:latin typeface="Arial" panose="020B0604020202020204" pitchFamily="34" charset="0"/>
              </a:rPr>
              <a:t> B (</a:t>
            </a:r>
            <a:r>
              <a:rPr lang="en-US" b="1" dirty="0" smtClean="0">
                <a:solidFill>
                  <a:srgbClr val="0000FF"/>
                </a:solidFill>
                <a:latin typeface="Arial" panose="020B0604020202020204" pitchFamily="34" charset="0"/>
              </a:rPr>
              <a:t>blue</a:t>
            </a:r>
            <a:r>
              <a:rPr lang="en-US" dirty="0" smtClean="0">
                <a:latin typeface="Arial" panose="020B0604020202020204" pitchFamily="34" charset="0"/>
              </a:rPr>
              <a:t>)</a:t>
            </a:r>
          </a:p>
          <a:p>
            <a:r>
              <a:rPr lang="en-US" sz="2400" dirty="0" err="1" smtClean="0">
                <a:latin typeface="Arial" panose="020B0604020202020204" pitchFamily="34" charset="0"/>
              </a:rPr>
              <a:t>Dimodelkan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dalam</a:t>
            </a:r>
            <a:r>
              <a:rPr lang="en-US" sz="2400" dirty="0" smtClean="0">
                <a:latin typeface="Arial" panose="020B0604020202020204" pitchFamily="34" charset="0"/>
              </a:rPr>
              <a:t> RGB cube</a:t>
            </a:r>
          </a:p>
          <a:p>
            <a:r>
              <a:rPr lang="en-US" sz="2400" dirty="0" err="1" smtClean="0">
                <a:latin typeface="Arial" panose="020B0604020202020204" pitchFamily="34" charset="0"/>
              </a:rPr>
              <a:t>Sifatnya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i="1" dirty="0" smtClean="0">
                <a:latin typeface="Arial" panose="020B0604020202020204" pitchFamily="34" charset="0"/>
              </a:rPr>
              <a:t>additive</a:t>
            </a:r>
            <a:endParaRPr lang="en-US" sz="2400" i="1" dirty="0">
              <a:latin typeface="Arial" panose="020B0604020202020204" pitchFamily="34" charset="0"/>
            </a:endParaRPr>
          </a:p>
        </p:txBody>
      </p:sp>
      <p:pic>
        <p:nvPicPr>
          <p:cNvPr id="4" name="Picture 11" descr="colorcube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333" y="3735671"/>
            <a:ext cx="4432300" cy="2997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312799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Contoh</a:t>
            </a:r>
            <a:r>
              <a:rPr lang="en-US" dirty="0" smtClean="0"/>
              <a:t> Color Modes </a:t>
            </a:r>
            <a:r>
              <a:rPr lang="en-US" b="1" dirty="0" smtClean="0"/>
              <a:t>RGB</a:t>
            </a:r>
            <a:endParaRPr lang="en-US" b="1" dirty="0"/>
          </a:p>
        </p:txBody>
      </p:sp>
      <p:pic>
        <p:nvPicPr>
          <p:cNvPr id="3" name="Picture 13" descr="RGB r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0561" y="1543351"/>
            <a:ext cx="2593975" cy="1897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4" descr="RGB gree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90411" y="1521126"/>
            <a:ext cx="2606675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5" descr="RGB blue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63748" y="1525889"/>
            <a:ext cx="2640013" cy="1931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 descr="RGB full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09461" y="4126214"/>
            <a:ext cx="2617787" cy="1965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/>
          <p:cNvSpPr txBox="1"/>
          <p:nvPr/>
        </p:nvSpPr>
        <p:spPr>
          <a:xfrm>
            <a:off x="4713036" y="6091539"/>
            <a:ext cx="17614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Asli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71161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5400" b="1" dirty="0">
                <a:latin typeface="Arial" panose="020B0604020202020204" pitchFamily="34" charset="0"/>
              </a:rPr>
              <a:t>RGB </a:t>
            </a:r>
            <a:r>
              <a:rPr lang="en-US" b="1" dirty="0">
                <a:latin typeface="Arial" panose="020B0604020202020204" pitchFamily="34" charset="0"/>
              </a:rPr>
              <a:t>all-systems-safe 216 colors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435542" y="1551589"/>
            <a:ext cx="9863489" cy="1682499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 smtClean="0">
                <a:latin typeface="Arial" panose="020B0604020202020204" pitchFamily="34" charset="0"/>
              </a:rPr>
              <a:t>Standarisasi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karena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masih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banyak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sistem</a:t>
            </a:r>
            <a:r>
              <a:rPr lang="en-US" sz="2400" dirty="0" smtClean="0">
                <a:latin typeface="Arial" panose="020B0604020202020204" pitchFamily="34" charset="0"/>
              </a:rPr>
              <a:t> yang </a:t>
            </a:r>
            <a:r>
              <a:rPr lang="en-US" sz="2400" dirty="0" err="1" smtClean="0">
                <a:latin typeface="Arial" panose="020B0604020202020204" pitchFamily="34" charset="0"/>
              </a:rPr>
              <a:t>tidak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bisa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menampilkan</a:t>
            </a:r>
            <a:r>
              <a:rPr lang="en-US" sz="2400" dirty="0" smtClean="0">
                <a:latin typeface="Arial" panose="020B0604020202020204" pitchFamily="34" charset="0"/>
              </a:rPr>
              <a:t> 16-juta </a:t>
            </a:r>
            <a:r>
              <a:rPr lang="en-US" sz="2400" dirty="0" err="1" smtClean="0">
                <a:latin typeface="Arial" panose="020B0604020202020204" pitchFamily="34" charset="0"/>
              </a:rPr>
              <a:t>warna</a:t>
            </a:r>
            <a:endParaRPr lang="en-US" sz="2400" dirty="0" smtClean="0">
              <a:latin typeface="Arial" panose="020B0604020202020204" pitchFamily="34" charset="0"/>
            </a:endParaRPr>
          </a:p>
          <a:p>
            <a:r>
              <a:rPr lang="en-US" sz="2400" dirty="0" err="1" smtClean="0">
                <a:latin typeface="Arial" panose="020B0604020202020204" pitchFamily="34" charset="0"/>
              </a:rPr>
              <a:t>Hanya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kombinasi</a:t>
            </a:r>
            <a:r>
              <a:rPr lang="en-US" sz="2400" dirty="0" smtClean="0">
                <a:latin typeface="Arial" panose="020B0604020202020204" pitchFamily="34" charset="0"/>
              </a:rPr>
              <a:t> RGB </a:t>
            </a:r>
            <a:r>
              <a:rPr lang="en-US" sz="2400" dirty="0" err="1" smtClean="0">
                <a:latin typeface="Arial" panose="020B0604020202020204" pitchFamily="34" charset="0"/>
              </a:rPr>
              <a:t>dengan</a:t>
            </a:r>
            <a:r>
              <a:rPr lang="en-US" sz="2400" dirty="0" smtClean="0">
                <a:latin typeface="Arial" panose="020B0604020202020204" pitchFamily="34" charset="0"/>
              </a:rPr>
              <a:t> </a:t>
            </a:r>
            <a:r>
              <a:rPr lang="en-US" sz="2400" dirty="0" err="1" smtClean="0">
                <a:latin typeface="Arial" panose="020B0604020202020204" pitchFamily="34" charset="0"/>
              </a:rPr>
              <a:t>nilai</a:t>
            </a:r>
            <a:r>
              <a:rPr lang="en-US" sz="2400" dirty="0" smtClean="0">
                <a:latin typeface="Arial" panose="020B0604020202020204" pitchFamily="34" charset="0"/>
              </a:rPr>
              <a:t>  {00,33,66,99,CC,FF} yang </a:t>
            </a:r>
            <a:r>
              <a:rPr lang="en-US" sz="2400" dirty="0" err="1" smtClean="0">
                <a:latin typeface="Arial" panose="020B0604020202020204" pitchFamily="34" charset="0"/>
              </a:rPr>
              <a:t>diperbolehkan</a:t>
            </a:r>
            <a:endParaRPr lang="en-US" sz="2400" i="1" dirty="0">
              <a:latin typeface="Arial" panose="020B0604020202020204" pitchFamily="34" charset="0"/>
            </a:endParaRPr>
          </a:p>
        </p:txBody>
      </p:sp>
      <p:pic>
        <p:nvPicPr>
          <p:cNvPr id="4" name="Picture 12" descr="safe216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85402" y="3234088"/>
            <a:ext cx="3408363" cy="30940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3" descr="safebox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8802" y="4016725"/>
            <a:ext cx="2000250" cy="16684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22385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smtClean="0">
                <a:latin typeface="Arial" panose="020B0604020202020204" pitchFamily="34" charset="0"/>
              </a:rPr>
              <a:t>Color models CMYK</a:t>
            </a:r>
            <a:endParaRPr lang="en-US" dirty="0"/>
          </a:p>
        </p:txBody>
      </p:sp>
      <p:sp>
        <p:nvSpPr>
          <p:cNvPr id="3" name="Rectangle 21"/>
          <p:cNvSpPr txBox="1">
            <a:spLocks noChangeArrowheads="1"/>
          </p:cNvSpPr>
          <p:nvPr/>
        </p:nvSpPr>
        <p:spPr>
          <a:xfrm>
            <a:off x="685800" y="1493838"/>
            <a:ext cx="8077200" cy="252412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smtClean="0">
                <a:latin typeface="Arial" panose="020B0604020202020204" pitchFamily="34" charset="0"/>
              </a:rPr>
              <a:t>Dalam dunia warna sering disebut sebagai CMYK</a:t>
            </a:r>
          </a:p>
          <a:p>
            <a:r>
              <a:rPr lang="en-US" sz="2400" smtClean="0">
                <a:latin typeface="Arial" panose="020B0604020202020204" pitchFamily="34" charset="0"/>
              </a:rPr>
              <a:t>K menunjukkan warna hitam</a:t>
            </a:r>
          </a:p>
          <a:p>
            <a:r>
              <a:rPr lang="en-US" sz="2400" smtClean="0">
                <a:latin typeface="Arial" panose="020B0604020202020204" pitchFamily="34" charset="0"/>
              </a:rPr>
              <a:t>Merupakan warna primer bagi percetakan:</a:t>
            </a:r>
          </a:p>
          <a:p>
            <a:pPr lvl="1"/>
            <a:r>
              <a:rPr lang="en-US" sz="2000" b="1" smtClean="0">
                <a:latin typeface="Arial" panose="020B0604020202020204" pitchFamily="34" charset="0"/>
              </a:rPr>
              <a:t>Cyan </a:t>
            </a:r>
            <a:r>
              <a:rPr lang="en-US" sz="2000" b="1" smtClean="0">
                <a:solidFill>
                  <a:srgbClr val="00FFFF"/>
                </a:solidFill>
                <a:latin typeface="Arial" panose="020B0604020202020204" pitchFamily="34" charset="0"/>
                <a:sym typeface="Webdings" panose="05030102010509060703" pitchFamily="18" charset="2"/>
              </a:rPr>
              <a:t></a:t>
            </a:r>
            <a:r>
              <a:rPr lang="en-US" sz="2000" b="1" smtClean="0">
                <a:latin typeface="Arial" panose="020B0604020202020204" pitchFamily="34" charset="0"/>
                <a:sym typeface="Webdings" panose="05030102010509060703" pitchFamily="18" charset="2"/>
              </a:rPr>
              <a:t> </a:t>
            </a:r>
            <a:r>
              <a:rPr lang="en-US" sz="2000" b="1" smtClean="0">
                <a:latin typeface="Arial" panose="020B0604020202020204" pitchFamily="34" charset="0"/>
              </a:rPr>
              <a:t>Magenta  </a:t>
            </a:r>
            <a:r>
              <a:rPr lang="en-US" sz="2000" b="1" smtClean="0">
                <a:solidFill>
                  <a:srgbClr val="FF00FF"/>
                </a:solidFill>
                <a:latin typeface="Arial" panose="020B0604020202020204" pitchFamily="34" charset="0"/>
                <a:sym typeface="Webdings" panose="05030102010509060703" pitchFamily="18" charset="2"/>
              </a:rPr>
              <a:t></a:t>
            </a:r>
            <a:r>
              <a:rPr lang="en-US" sz="2000" b="1" smtClean="0">
                <a:latin typeface="Arial" panose="020B0604020202020204" pitchFamily="34" charset="0"/>
                <a:sym typeface="Webdings" panose="05030102010509060703" pitchFamily="18" charset="2"/>
              </a:rPr>
              <a:t> </a:t>
            </a:r>
            <a:r>
              <a:rPr lang="en-US" sz="2000" b="1" smtClean="0">
                <a:latin typeface="Arial" panose="020B0604020202020204" pitchFamily="34" charset="0"/>
              </a:rPr>
              <a:t>Yellow </a:t>
            </a:r>
            <a:r>
              <a:rPr lang="en-US" sz="2000" b="1" smtClean="0">
                <a:solidFill>
                  <a:srgbClr val="FFFF00"/>
                </a:solidFill>
                <a:latin typeface="Arial" panose="020B0604020202020204" pitchFamily="34" charset="0"/>
                <a:sym typeface="Webdings" panose="05030102010509060703" pitchFamily="18" charset="2"/>
              </a:rPr>
              <a:t></a:t>
            </a:r>
            <a:r>
              <a:rPr lang="en-US" sz="2000" b="1" smtClean="0">
                <a:latin typeface="Arial" panose="020B0604020202020204" pitchFamily="34" charset="0"/>
                <a:sym typeface="Webdings" panose="05030102010509060703" pitchFamily="18" charset="2"/>
              </a:rPr>
              <a:t> </a:t>
            </a:r>
            <a:endParaRPr lang="en-US" sz="2000" b="1" smtClean="0">
              <a:latin typeface="Arial" panose="020B0604020202020204" pitchFamily="34" charset="0"/>
            </a:endParaRPr>
          </a:p>
          <a:p>
            <a:r>
              <a:rPr lang="en-US" sz="2400" smtClean="0">
                <a:latin typeface="Arial" panose="020B0604020202020204" pitchFamily="34" charset="0"/>
              </a:rPr>
              <a:t>Sifatnya </a:t>
            </a:r>
            <a:r>
              <a:rPr lang="en-US" sz="2400" i="1" smtClean="0">
                <a:latin typeface="Arial" panose="020B0604020202020204" pitchFamily="34" charset="0"/>
              </a:rPr>
              <a:t>subtractive</a:t>
            </a:r>
          </a:p>
          <a:p>
            <a:r>
              <a:rPr lang="en-US" sz="2400" smtClean="0">
                <a:latin typeface="Arial" panose="020B0604020202020204" pitchFamily="34" charset="0"/>
              </a:rPr>
              <a:t>Dihitung dari RGB dengan …</a:t>
            </a:r>
            <a:endParaRPr lang="en-US" sz="2400" dirty="0">
              <a:latin typeface="Arial" panose="020B0604020202020204" pitchFamily="34" charset="0"/>
            </a:endParaRPr>
          </a:p>
        </p:txBody>
      </p:sp>
      <p:pic>
        <p:nvPicPr>
          <p:cNvPr id="4" name="Picture 22" descr="cmyrgb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08547" y="4445535"/>
            <a:ext cx="2303462" cy="1492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21719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Contoh</a:t>
            </a:r>
            <a:r>
              <a:rPr lang="en-US" dirty="0"/>
              <a:t> Color </a:t>
            </a:r>
            <a:r>
              <a:rPr lang="en-US" dirty="0" smtClean="0"/>
              <a:t>Modes </a:t>
            </a:r>
            <a:r>
              <a:rPr lang="en-US" b="1" dirty="0" smtClean="0"/>
              <a:t>CMYK</a:t>
            </a:r>
            <a:endParaRPr lang="en-US" b="1" dirty="0"/>
          </a:p>
        </p:txBody>
      </p:sp>
      <p:pic>
        <p:nvPicPr>
          <p:cNvPr id="3" name="Picture 13" descr="RGB full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7470" y="4106963"/>
            <a:ext cx="2617787" cy="1965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4" descr="cya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7945" y="1579663"/>
            <a:ext cx="2206625" cy="163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5" descr="magenta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93645" y="1592363"/>
            <a:ext cx="2206625" cy="1635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 descr="yellow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06645" y="1624113"/>
            <a:ext cx="2206625" cy="1622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14674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Pseudo-color Image Processing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09600" y="1474588"/>
            <a:ext cx="8077200" cy="32289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mtClean="0">
                <a:latin typeface="Arial" panose="020B0604020202020204" pitchFamily="34" charset="0"/>
              </a:rPr>
              <a:t>Memberi warna pada citra graylevel</a:t>
            </a:r>
          </a:p>
          <a:p>
            <a:r>
              <a:rPr lang="en-US" sz="2000" smtClean="0">
                <a:latin typeface="Arial" panose="020B0604020202020204" pitchFamily="34" charset="0"/>
              </a:rPr>
              <a:t>Warna yang diberikan bukan warna objek yang sesungguhnya</a:t>
            </a:r>
          </a:p>
          <a:p>
            <a:r>
              <a:rPr lang="en-US" sz="2000" smtClean="0">
                <a:latin typeface="Arial" panose="020B0604020202020204" pitchFamily="34" charset="0"/>
              </a:rPr>
              <a:t>Tujuan utamanya adalah agar citra lebih mudah dilihat/dipahami oleh mata manusia</a:t>
            </a:r>
          </a:p>
          <a:p>
            <a:r>
              <a:rPr lang="en-US" sz="2000" smtClean="0">
                <a:latin typeface="Arial" panose="020B0604020202020204" pitchFamily="34" charset="0"/>
              </a:rPr>
              <a:t>Yang hendak kita bahas:</a:t>
            </a:r>
          </a:p>
          <a:p>
            <a:pPr lvl="1"/>
            <a:r>
              <a:rPr lang="en-US" sz="1800" smtClean="0">
                <a:latin typeface="Arial" panose="020B0604020202020204" pitchFamily="34" charset="0"/>
              </a:rPr>
              <a:t>Intensity slicing</a:t>
            </a:r>
          </a:p>
          <a:p>
            <a:pPr lvl="1"/>
            <a:r>
              <a:rPr lang="en-US" sz="1800" smtClean="0">
                <a:latin typeface="Arial" panose="020B0604020202020204" pitchFamily="34" charset="0"/>
              </a:rPr>
              <a:t>Graylevel to color processing</a:t>
            </a:r>
          </a:p>
          <a:p>
            <a:pPr lvl="1"/>
            <a:r>
              <a:rPr lang="en-US" sz="1800" smtClean="0">
                <a:latin typeface="Arial" panose="020B0604020202020204" pitchFamily="34" charset="0"/>
              </a:rPr>
              <a:t>Filtering approach</a:t>
            </a:r>
            <a:endParaRPr lang="en-US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93075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Intensity Slicing </a:t>
            </a:r>
            <a:r>
              <a:rPr lang="en-US" sz="2000" b="1" dirty="0">
                <a:latin typeface="Arial" panose="020B0604020202020204" pitchFamily="34" charset="0"/>
              </a:rPr>
              <a:t>(1)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09600" y="1734470"/>
            <a:ext cx="8077200" cy="14382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mtClean="0">
                <a:latin typeface="Arial" panose="020B0604020202020204" pitchFamily="34" charset="0"/>
              </a:rPr>
              <a:t>Menyatakan citra dalam fungsi intensitas 2D</a:t>
            </a:r>
          </a:p>
          <a:p>
            <a:r>
              <a:rPr lang="en-US" sz="1800" smtClean="0">
                <a:latin typeface="Arial" panose="020B0604020202020204" pitchFamily="34" charset="0"/>
              </a:rPr>
              <a:t>Citra diiris oleh bidang yang sejajar dengan bidang </a:t>
            </a:r>
            <a:r>
              <a:rPr lang="en-US" sz="1800" i="1" smtClean="0">
                <a:latin typeface="Arial" panose="020B0604020202020204" pitchFamily="34" charset="0"/>
              </a:rPr>
              <a:t>xy</a:t>
            </a:r>
          </a:p>
          <a:p>
            <a:r>
              <a:rPr lang="en-US" sz="1800" smtClean="0">
                <a:latin typeface="Arial" panose="020B0604020202020204" pitchFamily="34" charset="0"/>
              </a:rPr>
              <a:t>Graylevel di atas dan di bawah bidang pengiris diwarnai dengan warna yang berbeda</a:t>
            </a:r>
            <a:endParaRPr lang="en-US" sz="1800" dirty="0">
              <a:latin typeface="Arial" panose="020B0604020202020204" pitchFamily="34" charset="0"/>
            </a:endParaRPr>
          </a:p>
        </p:txBody>
      </p:sp>
      <p:pic>
        <p:nvPicPr>
          <p:cNvPr id="4" name="Picture 12" descr="gray slici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4015" y="3605380"/>
            <a:ext cx="3321050" cy="27670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3500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Intensity Slicing </a:t>
            </a:r>
            <a:r>
              <a:rPr lang="en-US" sz="2000" b="1" dirty="0" smtClean="0">
                <a:latin typeface="Arial" panose="020B0604020202020204" pitchFamily="34" charset="0"/>
              </a:rPr>
              <a:t>(2)</a:t>
            </a:r>
            <a:endParaRPr lang="en-US" dirty="0"/>
          </a:p>
        </p:txBody>
      </p:sp>
      <p:sp>
        <p:nvSpPr>
          <p:cNvPr id="3" name="Rectangle 10"/>
          <p:cNvSpPr>
            <a:spLocks noChangeArrowheads="1"/>
          </p:cNvSpPr>
          <p:nvPr/>
        </p:nvSpPr>
        <p:spPr bwMode="auto">
          <a:xfrm>
            <a:off x="685800" y="1513088"/>
            <a:ext cx="8077200" cy="7905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sz="1800">
                <a:latin typeface="Arial" panose="020B0604020202020204" pitchFamily="34" charset="0"/>
              </a:rPr>
              <a:t>Mirip dengan thresholding, tapi dengan 2 warna</a:t>
            </a:r>
          </a:p>
          <a:p>
            <a:r>
              <a:rPr lang="en-US" sz="1800">
                <a:latin typeface="Arial" panose="020B0604020202020204" pitchFamily="34" charset="0"/>
              </a:rPr>
              <a:t>Pengembangannya: gunakan beberapa bidang pengiris</a:t>
            </a:r>
          </a:p>
        </p:txBody>
      </p:sp>
      <p:pic>
        <p:nvPicPr>
          <p:cNvPr id="4" name="Picture 11" descr="is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6625" y="2674938"/>
            <a:ext cx="2481263" cy="26733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2" descr="is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11538" y="2684463"/>
            <a:ext cx="2451100" cy="2886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3" descr="is3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5025" y="2697163"/>
            <a:ext cx="2392363" cy="2797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29196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>
                <a:latin typeface="Arial" panose="020B0604020202020204" pitchFamily="34" charset="0"/>
              </a:rPr>
              <a:t>Graylevel</a:t>
            </a:r>
            <a:r>
              <a:rPr lang="en-US" b="1" dirty="0">
                <a:latin typeface="Arial" panose="020B0604020202020204" pitchFamily="34" charset="0"/>
              </a:rPr>
              <a:t> to Color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85800" y="1493838"/>
            <a:ext cx="8077200" cy="3841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000" smtClean="0">
                <a:latin typeface="Arial" panose="020B0604020202020204" pitchFamily="34" charset="0"/>
              </a:rPr>
              <a:t>Masing-masing channel RGB diproses dengan cara yang berbeda</a:t>
            </a:r>
            <a:endParaRPr lang="en-US" sz="2000" dirty="0">
              <a:latin typeface="Arial" panose="020B0604020202020204" pitchFamily="34" charset="0"/>
            </a:endParaRPr>
          </a:p>
        </p:txBody>
      </p:sp>
      <p:pic>
        <p:nvPicPr>
          <p:cNvPr id="4" name="Picture 11" descr="image4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38475" y="2212975"/>
            <a:ext cx="1497013" cy="220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13"/>
          <p:cNvSpPr>
            <a:spLocks noChangeArrowheads="1"/>
          </p:cNvSpPr>
          <p:nvPr/>
        </p:nvSpPr>
        <p:spPr bwMode="auto">
          <a:xfrm>
            <a:off x="723900" y="4884738"/>
            <a:ext cx="8077200" cy="1171575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marL="342900" indent="-3429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20000"/>
              </a:spcBef>
              <a:buFontTx/>
              <a:buChar char="•"/>
            </a:pPr>
            <a:r>
              <a:rPr lang="en-US" sz="2000">
                <a:latin typeface="Arial" panose="020B0604020202020204" pitchFamily="34" charset="0"/>
              </a:rPr>
              <a:t>Apa jadinya bila fase ketiga komponen sama?</a:t>
            </a:r>
          </a:p>
        </p:txBody>
      </p:sp>
      <p:pic>
        <p:nvPicPr>
          <p:cNvPr id="6" name="Picture 12" descr="image48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7875" y="2200275"/>
            <a:ext cx="1497013" cy="2206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424782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Full-color Image Processing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85800" y="1493838"/>
            <a:ext cx="8077200" cy="32289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dirty="0" err="1" smtClean="0">
                <a:latin typeface="Arial" panose="020B0604020202020204" pitchFamily="34" charset="0"/>
              </a:rPr>
              <a:t>Tujuan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utamanya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adalah</a:t>
            </a:r>
            <a:r>
              <a:rPr lang="en-US" sz="1800" dirty="0" smtClean="0">
                <a:latin typeface="Arial" panose="020B0604020202020204" pitchFamily="34" charset="0"/>
              </a:rPr>
              <a:t>: Image Enhancement</a:t>
            </a:r>
          </a:p>
          <a:p>
            <a:r>
              <a:rPr lang="en-US" sz="1800" dirty="0" err="1" smtClean="0">
                <a:latin typeface="Arial" panose="020B0604020202020204" pitchFamily="34" charset="0"/>
              </a:rPr>
              <a:t>Perhatikan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bahwa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kebanyakan</a:t>
            </a:r>
            <a:r>
              <a:rPr lang="en-US" sz="1800" dirty="0" smtClean="0">
                <a:latin typeface="Arial" panose="020B0604020202020204" pitchFamily="34" charset="0"/>
              </a:rPr>
              <a:t> color model yang </a:t>
            </a:r>
            <a:r>
              <a:rPr lang="en-US" sz="1800" dirty="0" err="1" smtClean="0">
                <a:latin typeface="Arial" panose="020B0604020202020204" pitchFamily="34" charset="0"/>
              </a:rPr>
              <a:t>digunakan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adalah</a:t>
            </a:r>
            <a:r>
              <a:rPr lang="en-US" sz="1800" dirty="0" smtClean="0">
                <a:latin typeface="Arial" panose="020B0604020202020204" pitchFamily="34" charset="0"/>
              </a:rPr>
              <a:t> HSI, </a:t>
            </a:r>
            <a:r>
              <a:rPr lang="en-US" sz="1800" dirty="0" err="1" smtClean="0">
                <a:latin typeface="Arial" panose="020B0604020202020204" pitchFamily="34" charset="0"/>
              </a:rPr>
              <a:t>bukan</a:t>
            </a:r>
            <a:r>
              <a:rPr lang="en-US" sz="1800" dirty="0" smtClean="0">
                <a:latin typeface="Arial" panose="020B0604020202020204" pitchFamily="34" charset="0"/>
              </a:rPr>
              <a:t> RGB. </a:t>
            </a:r>
            <a:r>
              <a:rPr lang="en-US" sz="1800" dirty="0" err="1" smtClean="0">
                <a:latin typeface="Arial" panose="020B0604020202020204" pitchFamily="34" charset="0"/>
              </a:rPr>
              <a:t>Mengapa</a:t>
            </a:r>
            <a:r>
              <a:rPr lang="en-US" sz="1800" dirty="0" smtClean="0">
                <a:latin typeface="Arial" panose="020B0604020202020204" pitchFamily="34" charset="0"/>
              </a:rPr>
              <a:t>?</a:t>
            </a:r>
          </a:p>
          <a:p>
            <a:r>
              <a:rPr lang="en-US" sz="1800" dirty="0" smtClean="0">
                <a:latin typeface="Arial" panose="020B0604020202020204" pitchFamily="34" charset="0"/>
              </a:rPr>
              <a:t>Yang </a:t>
            </a:r>
            <a:r>
              <a:rPr lang="en-US" sz="1800" dirty="0" err="1" smtClean="0">
                <a:latin typeface="Arial" panose="020B0604020202020204" pitchFamily="34" charset="0"/>
              </a:rPr>
              <a:t>hendak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kita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bahas</a:t>
            </a:r>
            <a:r>
              <a:rPr lang="en-US" sz="1800" dirty="0" smtClean="0">
                <a:latin typeface="Arial" panose="020B0604020202020204" pitchFamily="34" charset="0"/>
              </a:rPr>
              <a:t>:</a:t>
            </a:r>
          </a:p>
          <a:p>
            <a:pPr lvl="1"/>
            <a:r>
              <a:rPr lang="en-US" sz="1400" dirty="0" smtClean="0">
                <a:latin typeface="Arial" panose="020B0604020202020204" pitchFamily="34" charset="0"/>
              </a:rPr>
              <a:t>Intensity adjustment</a:t>
            </a:r>
          </a:p>
          <a:p>
            <a:pPr lvl="1"/>
            <a:r>
              <a:rPr lang="en-US" sz="1400" dirty="0" smtClean="0">
                <a:latin typeface="Arial" panose="020B0604020202020204" pitchFamily="34" charset="0"/>
              </a:rPr>
              <a:t>Histogram equalization</a:t>
            </a:r>
          </a:p>
          <a:p>
            <a:pPr lvl="1"/>
            <a:r>
              <a:rPr lang="en-US" sz="1400" dirty="0" smtClean="0">
                <a:latin typeface="Arial" panose="020B0604020202020204" pitchFamily="34" charset="0"/>
              </a:rPr>
              <a:t>Color images smoothing</a:t>
            </a:r>
          </a:p>
          <a:p>
            <a:pPr lvl="1"/>
            <a:r>
              <a:rPr lang="en-US" sz="1400" dirty="0" smtClean="0">
                <a:latin typeface="Arial" panose="020B0604020202020204" pitchFamily="34" charset="0"/>
              </a:rPr>
              <a:t>Color images sharpening</a:t>
            </a:r>
            <a:endParaRPr lang="en-US" sz="1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35344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Intensity Adjustment</a:t>
            </a:r>
            <a:endParaRPr lang="en-US" dirty="0"/>
          </a:p>
        </p:txBody>
      </p:sp>
      <p:sp>
        <p:nvSpPr>
          <p:cNvPr id="3" name="Text Box 16"/>
          <p:cNvSpPr txBox="1">
            <a:spLocks noChangeArrowheads="1"/>
          </p:cNvSpPr>
          <p:nvPr/>
        </p:nvSpPr>
        <p:spPr bwMode="auto">
          <a:xfrm>
            <a:off x="693738" y="1466850"/>
            <a:ext cx="7041736" cy="48936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r>
              <a:rPr lang="en-US" sz="2400" dirty="0" err="1"/>
              <a:t>Diberikan</a:t>
            </a:r>
            <a:r>
              <a:rPr lang="en-US" sz="2400" dirty="0"/>
              <a:t> </a:t>
            </a:r>
            <a:r>
              <a:rPr lang="en-US" sz="2400" dirty="0" err="1"/>
              <a:t>persamaan</a:t>
            </a:r>
            <a:r>
              <a:rPr lang="en-US" sz="2400" dirty="0"/>
              <a:t> </a:t>
            </a:r>
            <a:r>
              <a:rPr lang="en-US" sz="2400" dirty="0" err="1"/>
              <a:t>intensitas</a:t>
            </a:r>
            <a:r>
              <a:rPr lang="en-US" sz="2400" dirty="0"/>
              <a:t> </a:t>
            </a:r>
            <a:r>
              <a:rPr lang="en-US" sz="2400" dirty="0" err="1"/>
              <a:t>sbb</a:t>
            </a:r>
            <a:r>
              <a:rPr lang="en-US" sz="2400" dirty="0"/>
              <a:t>:</a:t>
            </a:r>
          </a:p>
          <a:p>
            <a:r>
              <a:rPr lang="en-US" sz="2400" dirty="0"/>
              <a:t>			</a:t>
            </a:r>
            <a:r>
              <a:rPr lang="en-US" sz="2400" i="1" dirty="0"/>
              <a:t>g(</a:t>
            </a:r>
            <a:r>
              <a:rPr lang="en-US" sz="2400" i="1" dirty="0" err="1"/>
              <a:t>m,n</a:t>
            </a:r>
            <a:r>
              <a:rPr lang="en-US" sz="2400" i="1" dirty="0"/>
              <a:t>)=</a:t>
            </a:r>
            <a:r>
              <a:rPr lang="en-US" sz="2400" i="1" dirty="0" err="1"/>
              <a:t>kf</a:t>
            </a:r>
            <a:r>
              <a:rPr lang="en-US" sz="2400" i="1" dirty="0"/>
              <a:t>(</a:t>
            </a:r>
            <a:r>
              <a:rPr lang="en-US" sz="2400" i="1" dirty="0" err="1"/>
              <a:t>m,n</a:t>
            </a:r>
            <a:r>
              <a:rPr lang="en-US" sz="2400" i="1" dirty="0"/>
              <a:t>)</a:t>
            </a:r>
          </a:p>
          <a:p>
            <a:r>
              <a:rPr lang="en-US" sz="2400" i="1" dirty="0" err="1"/>
              <a:t>Dimana</a:t>
            </a:r>
            <a:r>
              <a:rPr lang="en-US" sz="2400" i="1" dirty="0"/>
              <a:t> k </a:t>
            </a:r>
            <a:r>
              <a:rPr lang="en-US" sz="2400" i="1" dirty="0" err="1"/>
              <a:t>adalah</a:t>
            </a:r>
            <a:r>
              <a:rPr lang="en-US" sz="2400" i="1" dirty="0"/>
              <a:t> </a:t>
            </a:r>
            <a:r>
              <a:rPr lang="en-US" sz="2400" i="1" dirty="0" err="1"/>
              <a:t>skala</a:t>
            </a:r>
            <a:r>
              <a:rPr lang="en-US" sz="2400" i="1" dirty="0"/>
              <a:t> yang </a:t>
            </a:r>
            <a:r>
              <a:rPr lang="en-US" sz="2400" i="1" dirty="0" err="1"/>
              <a:t>terletak</a:t>
            </a:r>
            <a:r>
              <a:rPr lang="en-US" sz="2400" i="1" dirty="0"/>
              <a:t> </a:t>
            </a:r>
            <a:r>
              <a:rPr lang="en-US" sz="2400" i="1" dirty="0" err="1"/>
              <a:t>antara</a:t>
            </a:r>
            <a:r>
              <a:rPr lang="en-US" sz="2400" i="1" dirty="0"/>
              <a:t> 0&lt;k&lt;1</a:t>
            </a:r>
          </a:p>
          <a:p>
            <a:endParaRPr lang="en-US" sz="2400" i="1" dirty="0"/>
          </a:p>
          <a:p>
            <a:r>
              <a:rPr lang="en-US" sz="2400" i="1" dirty="0" err="1"/>
              <a:t>Maka</a:t>
            </a:r>
            <a:r>
              <a:rPr lang="en-US" sz="2400" i="1" dirty="0"/>
              <a:t> </a:t>
            </a:r>
            <a:r>
              <a:rPr lang="en-US" sz="2400" i="1" dirty="0" err="1"/>
              <a:t>persamaan</a:t>
            </a:r>
            <a:r>
              <a:rPr lang="en-US" sz="2400" i="1" dirty="0"/>
              <a:t> </a:t>
            </a:r>
            <a:r>
              <a:rPr lang="en-US" sz="2400" i="1" dirty="0" err="1"/>
              <a:t>dalam</a:t>
            </a:r>
            <a:r>
              <a:rPr lang="en-US" sz="2400" i="1" dirty="0"/>
              <a:t> HSI </a:t>
            </a:r>
            <a:r>
              <a:rPr lang="en-US" sz="2400" i="1" dirty="0" err="1"/>
              <a:t>adalah</a:t>
            </a:r>
            <a:r>
              <a:rPr lang="en-US" sz="2400" i="1" dirty="0"/>
              <a:t>:</a:t>
            </a:r>
          </a:p>
          <a:p>
            <a:endParaRPr lang="en-US" sz="2400" i="1" dirty="0"/>
          </a:p>
          <a:p>
            <a:endParaRPr lang="en-US" sz="2400" i="1" dirty="0"/>
          </a:p>
          <a:p>
            <a:r>
              <a:rPr lang="en-US" sz="2400" i="1" dirty="0"/>
              <a:t>Dan </a:t>
            </a:r>
            <a:r>
              <a:rPr lang="en-US" sz="2400" i="1" dirty="0" err="1"/>
              <a:t>persamaan</a:t>
            </a:r>
            <a:r>
              <a:rPr lang="en-US" sz="2400" i="1" dirty="0"/>
              <a:t> </a:t>
            </a:r>
            <a:r>
              <a:rPr lang="en-US" sz="2400" i="1" dirty="0" err="1"/>
              <a:t>dalam</a:t>
            </a:r>
            <a:r>
              <a:rPr lang="en-US" sz="2400" i="1" dirty="0"/>
              <a:t> RGB </a:t>
            </a:r>
            <a:r>
              <a:rPr lang="en-US" sz="2400" i="1" dirty="0" err="1"/>
              <a:t>adalah</a:t>
            </a:r>
            <a:r>
              <a:rPr lang="en-US" sz="2400" i="1" dirty="0"/>
              <a:t>:</a:t>
            </a:r>
          </a:p>
          <a:p>
            <a:endParaRPr lang="en-US" sz="2400" i="1" dirty="0"/>
          </a:p>
          <a:p>
            <a:endParaRPr lang="en-US" sz="2400" i="1" dirty="0"/>
          </a:p>
          <a:p>
            <a:r>
              <a:rPr lang="en-US" sz="2400" i="1" dirty="0" err="1"/>
              <a:t>Persamaan</a:t>
            </a:r>
            <a:r>
              <a:rPr lang="en-US" sz="2400" i="1" dirty="0"/>
              <a:t> </a:t>
            </a:r>
            <a:r>
              <a:rPr lang="en-US" sz="2400" i="1" dirty="0" err="1"/>
              <a:t>dalam</a:t>
            </a:r>
            <a:r>
              <a:rPr lang="en-US" sz="2400" i="1" dirty="0"/>
              <a:t> CMY </a:t>
            </a:r>
            <a:r>
              <a:rPr lang="en-US" sz="2400" i="1" dirty="0" err="1"/>
              <a:t>adalah</a:t>
            </a:r>
            <a:r>
              <a:rPr lang="en-US" sz="2400" i="1" dirty="0"/>
              <a:t>:</a:t>
            </a:r>
          </a:p>
          <a:p>
            <a:endParaRPr lang="en-US" sz="2400" i="1" dirty="0"/>
          </a:p>
          <a:p>
            <a:endParaRPr lang="en-US" sz="2400" i="1" dirty="0"/>
          </a:p>
        </p:txBody>
      </p:sp>
      <p:pic>
        <p:nvPicPr>
          <p:cNvPr id="4" name="Picture 1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66888" y="3455878"/>
            <a:ext cx="3810000" cy="584200"/>
          </a:xfrm>
          <a:prstGeom prst="rect">
            <a:avLst/>
          </a:prstGeom>
          <a:noFill/>
          <a:ln/>
        </p:spPr>
      </p:pic>
      <p:pic>
        <p:nvPicPr>
          <p:cNvPr id="5" name="Picture 1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366888" y="4584549"/>
            <a:ext cx="3810000" cy="463550"/>
          </a:xfrm>
          <a:prstGeom prst="rect">
            <a:avLst/>
          </a:prstGeom>
          <a:noFill/>
          <a:ln/>
        </p:spPr>
      </p:pic>
      <p:pic>
        <p:nvPicPr>
          <p:cNvPr id="6" name="Picture 2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02999" y="5786424"/>
            <a:ext cx="5954713" cy="406400"/>
          </a:xfrm>
          <a:prstGeom prst="rect">
            <a:avLst/>
          </a:prstGeom>
          <a:noFill/>
          <a:ln/>
        </p:spPr>
      </p:pic>
    </p:spTree>
    <p:extLst>
      <p:ext uri="{BB962C8B-B14F-4D97-AF65-F5344CB8AC3E}">
        <p14:creationId xmlns:p14="http://schemas.microsoft.com/office/powerpoint/2010/main" val="20843733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Intensity Adjustment</a:t>
            </a:r>
            <a:endParaRPr lang="en-US" dirty="0"/>
          </a:p>
        </p:txBody>
      </p:sp>
      <p:pic>
        <p:nvPicPr>
          <p:cNvPr id="3" name="Picture 10" descr="adjust intensit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0765" y="1577090"/>
            <a:ext cx="5756275" cy="449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43652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Histogram Equalization </a:t>
            </a:r>
            <a:r>
              <a:rPr lang="en-US" sz="2000" b="1" dirty="0">
                <a:latin typeface="Arial" panose="020B0604020202020204" pitchFamily="34" charset="0"/>
              </a:rPr>
              <a:t>(1)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85800" y="1493838"/>
            <a:ext cx="8077200" cy="8540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mtClean="0">
                <a:latin typeface="Arial" panose="020B0604020202020204" pitchFamily="34" charset="0"/>
              </a:rPr>
              <a:t>Lakukan ekualisasi hanya pada komponen I (intensitas)</a:t>
            </a:r>
          </a:p>
          <a:p>
            <a:r>
              <a:rPr lang="en-US" sz="1800" smtClean="0">
                <a:latin typeface="Arial" panose="020B0604020202020204" pitchFamily="34" charset="0"/>
              </a:rPr>
              <a:t>Lakukan saturation adjustment seperlunya</a:t>
            </a:r>
            <a:endParaRPr lang="en-US" sz="1800" dirty="0">
              <a:latin typeface="Arial" panose="020B0604020202020204" pitchFamily="34" charset="0"/>
            </a:endParaRPr>
          </a:p>
        </p:txBody>
      </p:sp>
      <p:pic>
        <p:nvPicPr>
          <p:cNvPr id="4" name="Picture 11" descr="colorhist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863" y="2566988"/>
            <a:ext cx="7496175" cy="1774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55753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Histogram Equalization </a:t>
            </a:r>
            <a:r>
              <a:rPr lang="en-US" sz="2000" b="1" dirty="0" smtClean="0">
                <a:latin typeface="Arial" panose="020B0604020202020204" pitchFamily="34" charset="0"/>
              </a:rPr>
              <a:t>(2)</a:t>
            </a:r>
            <a:endParaRPr lang="en-US" dirty="0"/>
          </a:p>
        </p:txBody>
      </p:sp>
      <p:pic>
        <p:nvPicPr>
          <p:cNvPr id="3" name="Picture 15" descr="s adjustment after eq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325" y="1431241"/>
            <a:ext cx="2994025" cy="28590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16" descr="asli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09991" y="2997334"/>
            <a:ext cx="2733675" cy="3367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7" descr="contast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16633" y="2997334"/>
            <a:ext cx="2744788" cy="3382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18"/>
          <p:cNvSpPr txBox="1">
            <a:spLocks noChangeArrowheads="1"/>
          </p:cNvSpPr>
          <p:nvPr/>
        </p:nvSpPr>
        <p:spPr>
          <a:xfrm>
            <a:off x="4809991" y="1590092"/>
            <a:ext cx="4445000" cy="8540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Tx/>
              <a:buNone/>
            </a:pPr>
            <a:r>
              <a:rPr lang="en-US" sz="1800" dirty="0" err="1" smtClean="0">
                <a:latin typeface="Arial" panose="020B0604020202020204" pitchFamily="34" charset="0"/>
              </a:rPr>
              <a:t>Contoh</a:t>
            </a:r>
            <a:r>
              <a:rPr lang="en-US" sz="1800" dirty="0" smtClean="0">
                <a:latin typeface="Arial" panose="020B0604020202020204" pitchFamily="34" charset="0"/>
              </a:rPr>
              <a:t> histogram equalization yang </a:t>
            </a:r>
            <a:r>
              <a:rPr lang="en-US" sz="1800" dirty="0" err="1" smtClean="0">
                <a:latin typeface="Arial" panose="020B0604020202020204" pitchFamily="34" charset="0"/>
              </a:rPr>
              <a:t>dilakukan</a:t>
            </a:r>
            <a:r>
              <a:rPr lang="en-US" sz="1800" dirty="0" smtClean="0">
                <a:latin typeface="Arial" panose="020B0604020202020204" pitchFamily="34" charset="0"/>
              </a:rPr>
              <a:t> </a:t>
            </a:r>
            <a:r>
              <a:rPr lang="en-US" sz="1800" dirty="0" err="1" smtClean="0">
                <a:latin typeface="Arial" panose="020B0604020202020204" pitchFamily="34" charset="0"/>
              </a:rPr>
              <a:t>pada</a:t>
            </a:r>
            <a:r>
              <a:rPr lang="en-US" sz="1800" dirty="0" smtClean="0">
                <a:latin typeface="Arial" panose="020B0604020202020204" pitchFamily="34" charset="0"/>
              </a:rPr>
              <a:t> intensity, </a:t>
            </a:r>
            <a:r>
              <a:rPr lang="en-US" sz="1800" dirty="0" err="1" smtClean="0">
                <a:latin typeface="Arial" panose="020B0604020202020204" pitchFamily="34" charset="0"/>
              </a:rPr>
              <a:t>lalu</a:t>
            </a:r>
            <a:r>
              <a:rPr lang="en-US" sz="1800" dirty="0" smtClean="0">
                <a:latin typeface="Arial" panose="020B0604020202020204" pitchFamily="34" charset="0"/>
              </a:rPr>
              <a:t> saturation </a:t>
            </a:r>
            <a:r>
              <a:rPr lang="en-US" sz="1800" dirty="0" err="1" smtClean="0">
                <a:latin typeface="Arial" panose="020B0604020202020204" pitchFamily="34" charset="0"/>
              </a:rPr>
              <a:t>ditambah</a:t>
            </a:r>
            <a:r>
              <a:rPr lang="en-US" sz="1800" dirty="0" smtClean="0">
                <a:latin typeface="Arial" panose="020B0604020202020204" pitchFamily="34" charset="0"/>
              </a:rPr>
              <a:t>.</a:t>
            </a:r>
            <a:endParaRPr lang="en-US" sz="1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538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Smoothing</a:t>
            </a:r>
            <a:endParaRPr lang="en-US" dirty="0"/>
          </a:p>
        </p:txBody>
      </p:sp>
      <p:sp>
        <p:nvSpPr>
          <p:cNvPr id="3" name="Rectangle 10"/>
          <p:cNvSpPr txBox="1">
            <a:spLocks noChangeArrowheads="1"/>
          </p:cNvSpPr>
          <p:nvPr/>
        </p:nvSpPr>
        <p:spPr>
          <a:xfrm>
            <a:off x="685800" y="1493838"/>
            <a:ext cx="8077200" cy="10953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mtClean="0">
                <a:latin typeface="Arial" panose="020B0604020202020204" pitchFamily="34" charset="0"/>
              </a:rPr>
              <a:t>Pada RGB akan berpotensi untuk memunculkan warna-warna yang sebelumnya tidak ada (karena warna baru dihitung dari rata-rata)</a:t>
            </a:r>
          </a:p>
          <a:p>
            <a:r>
              <a:rPr lang="en-US" sz="1800" smtClean="0">
                <a:latin typeface="Arial" panose="020B0604020202020204" pitchFamily="34" charset="0"/>
              </a:rPr>
              <a:t>Pada HIS hanya I yang difilter … apa efeknya?</a:t>
            </a:r>
            <a:endParaRPr lang="en-US" sz="1800" dirty="0">
              <a:latin typeface="Arial" panose="020B0604020202020204" pitchFamily="34" charset="0"/>
            </a:endParaRPr>
          </a:p>
        </p:txBody>
      </p:sp>
      <p:pic>
        <p:nvPicPr>
          <p:cNvPr id="4" name="Picture 11" descr="smoothi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713" y="3422650"/>
            <a:ext cx="1146175" cy="1125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12" descr="aslicolor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9813" y="3116263"/>
            <a:ext cx="1695450" cy="169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3" descr="colorblur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4588" y="3125788"/>
            <a:ext cx="3375025" cy="167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15"/>
          <p:cNvSpPr>
            <a:spLocks noChangeArrowheads="1"/>
          </p:cNvSpPr>
          <p:nvPr/>
        </p:nvSpPr>
        <p:spPr bwMode="auto">
          <a:xfrm>
            <a:off x="5521325" y="4876800"/>
            <a:ext cx="641350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 b="1">
                <a:latin typeface="Arial" panose="020B0604020202020204" pitchFamily="34" charset="0"/>
              </a:rPr>
              <a:t>RGB</a:t>
            </a:r>
          </a:p>
        </p:txBody>
      </p:sp>
      <p:sp>
        <p:nvSpPr>
          <p:cNvPr id="8" name="Rectangle 16"/>
          <p:cNvSpPr>
            <a:spLocks noChangeArrowheads="1"/>
          </p:cNvSpPr>
          <p:nvPr/>
        </p:nvSpPr>
        <p:spPr bwMode="auto">
          <a:xfrm>
            <a:off x="7273925" y="4876800"/>
            <a:ext cx="641350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 b="1">
                <a:latin typeface="Arial" panose="020B0604020202020204" pitchFamily="34" charset="0"/>
              </a:rPr>
              <a:t>HSI</a:t>
            </a:r>
          </a:p>
        </p:txBody>
      </p:sp>
    </p:spTree>
    <p:extLst>
      <p:ext uri="{BB962C8B-B14F-4D97-AF65-F5344CB8AC3E}">
        <p14:creationId xmlns:p14="http://schemas.microsoft.com/office/powerpoint/2010/main" val="5531788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rial" panose="020B0604020202020204" pitchFamily="34" charset="0"/>
              </a:rPr>
              <a:t>Sharpening</a:t>
            </a:r>
            <a:endParaRPr lang="en-US" dirty="0"/>
          </a:p>
        </p:txBody>
      </p:sp>
      <p:sp>
        <p:nvSpPr>
          <p:cNvPr id="3" name="Rectangle 19"/>
          <p:cNvSpPr txBox="1">
            <a:spLocks noChangeArrowheads="1"/>
          </p:cNvSpPr>
          <p:nvPr/>
        </p:nvSpPr>
        <p:spPr>
          <a:xfrm>
            <a:off x="685800" y="1493838"/>
            <a:ext cx="8077200" cy="1095375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800" smtClean="0">
                <a:latin typeface="Arial" panose="020B0604020202020204" pitchFamily="34" charset="0"/>
              </a:rPr>
              <a:t>Seperti pada smoothing, sharpening pada RGB akan berpotensi menimbulkan warna-warna yang sebelumnya tidak ada</a:t>
            </a:r>
          </a:p>
          <a:p>
            <a:r>
              <a:rPr lang="en-US" sz="1800" smtClean="0">
                <a:latin typeface="Arial" panose="020B0604020202020204" pitchFamily="34" charset="0"/>
              </a:rPr>
              <a:t>Pada HIS hanya I yang difilter … apa efeknya?</a:t>
            </a:r>
            <a:endParaRPr lang="en-US" sz="1800">
              <a:latin typeface="Arial" panose="020B0604020202020204" pitchFamily="34" charset="0"/>
            </a:endParaRPr>
          </a:p>
        </p:txBody>
      </p:sp>
      <p:sp>
        <p:nvSpPr>
          <p:cNvPr id="4" name="Line 23"/>
          <p:cNvSpPr>
            <a:spLocks noChangeShapeType="1"/>
          </p:cNvSpPr>
          <p:nvPr/>
        </p:nvSpPr>
        <p:spPr bwMode="auto">
          <a:xfrm>
            <a:off x="4051300" y="4013200"/>
            <a:ext cx="749300" cy="0"/>
          </a:xfrm>
          <a:prstGeom prst="line">
            <a:avLst/>
          </a:prstGeom>
          <a:noFill/>
          <a:ln w="28575">
            <a:solidFill>
              <a:schemeClr val="tx1"/>
            </a:solidFill>
            <a:round/>
            <a:headEnd/>
            <a:tailEnd type="triangle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" name="Rectangle 24"/>
          <p:cNvSpPr>
            <a:spLocks noChangeArrowheads="1"/>
          </p:cNvSpPr>
          <p:nvPr/>
        </p:nvSpPr>
        <p:spPr bwMode="auto">
          <a:xfrm>
            <a:off x="5521325" y="4876800"/>
            <a:ext cx="641350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 b="1">
                <a:latin typeface="Arial" panose="020B0604020202020204" pitchFamily="34" charset="0"/>
              </a:rPr>
              <a:t>RGB</a:t>
            </a:r>
          </a:p>
        </p:txBody>
      </p:sp>
      <p:sp>
        <p:nvSpPr>
          <p:cNvPr id="6" name="Rectangle 25"/>
          <p:cNvSpPr>
            <a:spLocks noChangeArrowheads="1"/>
          </p:cNvSpPr>
          <p:nvPr/>
        </p:nvSpPr>
        <p:spPr bwMode="auto">
          <a:xfrm>
            <a:off x="7273925" y="4876800"/>
            <a:ext cx="641350" cy="2841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 algn="ctr">
              <a:lnSpc>
                <a:spcPct val="90000"/>
              </a:lnSpc>
              <a:spcBef>
                <a:spcPct val="20000"/>
              </a:spcBef>
            </a:pPr>
            <a:r>
              <a:rPr lang="en-US" sz="1400" b="1">
                <a:latin typeface="Arial" panose="020B0604020202020204" pitchFamily="34" charset="0"/>
              </a:rPr>
              <a:t>HSI</a:t>
            </a:r>
          </a:p>
        </p:txBody>
      </p:sp>
      <p:pic>
        <p:nvPicPr>
          <p:cNvPr id="7" name="Picture 26" descr="sharpmask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1563" y="2813050"/>
            <a:ext cx="26035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7" descr="colorsharp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7613" y="2990850"/>
            <a:ext cx="3511550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8" descr="aslicolor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51013" y="3941763"/>
            <a:ext cx="1695450" cy="16922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6325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TERIMAH KASIH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951323" y="4348340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>
                <a:solidFill>
                  <a:schemeClr val="bg1"/>
                </a:solidFill>
              </a:rPr>
              <a:t>Selemat</a:t>
            </a:r>
            <a:r>
              <a:rPr lang="en-US" sz="2400" dirty="0" smtClean="0">
                <a:solidFill>
                  <a:schemeClr val="bg1"/>
                </a:solidFill>
              </a:rPr>
              <a:t> </a:t>
            </a:r>
            <a:r>
              <a:rPr lang="en-US" sz="2400" dirty="0" err="1" smtClean="0">
                <a:solidFill>
                  <a:schemeClr val="bg1"/>
                </a:solidFill>
              </a:rPr>
              <a:t>Belajar</a:t>
            </a:r>
            <a:r>
              <a:rPr lang="en-US" sz="2400" dirty="0" smtClean="0">
                <a:solidFill>
                  <a:schemeClr val="bg1"/>
                </a:solidFill>
              </a:rPr>
              <a:t>..</a:t>
            </a:r>
            <a:endParaRPr 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286349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 to PowerPoint.potx" id="{43699C43-EC89-4A55-9A99-3FD944590577}" vid="{3C36ED3A-1C33-4ECB-8650-37D568EF45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1584528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 xsi:nil="true"/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2012-06-20T23:39:00+00:00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TP102923943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843282</LocLastLocAttemptVersionLookup>
    <IsSearchable xmlns="4873beb7-5857-4685-be1f-d57550cc96cc">true</IsSearchable>
    <TemplateTemplateType xmlns="4873beb7-5857-4685-be1f-d57550cc96cc">PowerPoint Template - Slideshow Launch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LocMarketGroupTiers2 xmlns="4873beb7-5857-4685-be1f-d57550cc96cc" xsi:nil="true"/>
    <APAuthor xmlns="4873beb7-5857-4685-be1f-d57550cc96cc">
      <UserInfo>
        <DisplayName>REDMOND\v-sa</DisplayName>
        <AccountId>2467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Props1.xml><?xml version="1.0" encoding="utf-8"?>
<ds:datastoreItem xmlns:ds="http://schemas.openxmlformats.org/officeDocument/2006/customXml" ds:itemID="{B970C04F-E7AC-41AB-9C6D-1B1BB88BFF7F}">
  <ds:schemaRefs>
    <ds:schemaRef ds:uri="http://purl.org/dc/elements/1.1/"/>
    <ds:schemaRef ds:uri="http://schemas.microsoft.com/office/2006/metadata/properties"/>
    <ds:schemaRef ds:uri="4873beb7-5857-4685-be1f-d57550cc96cc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3EE7759-C66F-4EA4-9863-7EBA32518D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3DEC53A-9DF1-4780-BE92-17E971B7A9E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 2013</Template>
  <TotalTime>1243</TotalTime>
  <Words>434</Words>
  <Application>Microsoft Office PowerPoint</Application>
  <PresentationFormat>Widescreen</PresentationFormat>
  <Paragraphs>85</Paragraphs>
  <Slides>20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Arial</vt:lpstr>
      <vt:lpstr>Calibri</vt:lpstr>
      <vt:lpstr>inherit</vt:lpstr>
      <vt:lpstr>Segoe UI</vt:lpstr>
      <vt:lpstr>Segoe UI Light</vt:lpstr>
      <vt:lpstr>Times New Roman</vt:lpstr>
      <vt:lpstr>Webdings</vt:lpstr>
      <vt:lpstr>WelcomeDoc</vt:lpstr>
      <vt:lpstr>Pengolahan Citra Digital</vt:lpstr>
      <vt:lpstr>Color / Warna</vt:lpstr>
      <vt:lpstr>Color Models for Hardware</vt:lpstr>
      <vt:lpstr>Color Models RGB</vt:lpstr>
      <vt:lpstr>Contoh Color Modes RGB</vt:lpstr>
      <vt:lpstr>RGB all-systems-safe 216 colors</vt:lpstr>
      <vt:lpstr>Color models CMYK</vt:lpstr>
      <vt:lpstr>Contoh Color Modes CMYK</vt:lpstr>
      <vt:lpstr>Pseudo-color Image Processing</vt:lpstr>
      <vt:lpstr>Intensity Slicing (1)</vt:lpstr>
      <vt:lpstr>Intensity Slicing (2)</vt:lpstr>
      <vt:lpstr>Graylevel to Color</vt:lpstr>
      <vt:lpstr>Full-color Image Processing</vt:lpstr>
      <vt:lpstr>Intensity Adjustment</vt:lpstr>
      <vt:lpstr>Intensity Adjustment</vt:lpstr>
      <vt:lpstr>Histogram Equalization (1)</vt:lpstr>
      <vt:lpstr>Histogram Equalization (2)</vt:lpstr>
      <vt:lpstr>Smoothing</vt:lpstr>
      <vt:lpstr>Sharpening</vt:lpstr>
      <vt:lpstr>TERIMAH KASIH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 Digital</dc:title>
  <dc:creator>LENOVO</dc:creator>
  <cp:keywords/>
  <cp:lastModifiedBy>LENOVO</cp:lastModifiedBy>
  <cp:revision>155</cp:revision>
  <dcterms:created xsi:type="dcterms:W3CDTF">2022-03-01T01:11:31Z</dcterms:created>
  <dcterms:modified xsi:type="dcterms:W3CDTF">2022-03-29T04:31:47Z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_TemplateID">
    <vt:lpwstr>TC029239449991</vt:lpwstr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LocalizationTags">
    <vt:lpwstr/>
  </property>
  <property fmtid="{D5CDD505-2E9C-101B-9397-08002B2CF9AE}" pid="7" name="ScenarioTags">
    <vt:lpwstr/>
  </property>
  <property fmtid="{D5CDD505-2E9C-101B-9397-08002B2CF9AE}" pid="8" name="CampaignTags">
    <vt:lpwstr/>
  </property>
</Properties>
</file>