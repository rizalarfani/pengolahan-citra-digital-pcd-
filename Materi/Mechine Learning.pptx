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B4A6"/>
    <a:srgbClr val="734F29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111902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4952" y="3495313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solidFill>
                  <a:schemeClr val="bg1"/>
                </a:solidFill>
              </a:rPr>
              <a:t>Mechine</a:t>
            </a:r>
            <a:r>
              <a:rPr lang="en-US" sz="2400" i="1" dirty="0" smtClean="0">
                <a:solidFill>
                  <a:schemeClr val="bg1"/>
                </a:solidFill>
              </a:rPr>
              <a:t> Learning for image </a:t>
            </a:r>
            <a:r>
              <a:rPr lang="en-US" sz="2400" i="1" dirty="0" err="1" smtClean="0">
                <a:solidFill>
                  <a:schemeClr val="bg1"/>
                </a:solidFill>
              </a:rPr>
              <a:t>Proccessing</a:t>
            </a:r>
            <a:r>
              <a:rPr lang="en-US" sz="2400" i="1" dirty="0" smtClean="0">
                <a:solidFill>
                  <a:schemeClr val="bg1"/>
                </a:solidFill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</a:rPr>
              <a:t>dan</a:t>
            </a:r>
            <a:r>
              <a:rPr lang="en-US" sz="2400" i="1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Evaluasi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performan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spc="-240" dirty="0" err="1"/>
              <a:t>Pembelajaran</a:t>
            </a:r>
            <a:r>
              <a:rPr lang="en-US" spc="-341" dirty="0"/>
              <a:t> </a:t>
            </a:r>
            <a:r>
              <a:rPr lang="en-US" spc="-176" dirty="0" err="1" smtClean="0"/>
              <a:t>Mesin</a:t>
            </a:r>
            <a:r>
              <a:rPr lang="en-US" spc="-176" dirty="0" smtClean="0"/>
              <a:t> (</a:t>
            </a:r>
            <a:r>
              <a:rPr lang="en-US" i="1" dirty="0" err="1"/>
              <a:t>Mechine</a:t>
            </a:r>
            <a:r>
              <a:rPr lang="en-US" i="1" dirty="0"/>
              <a:t> Learning</a:t>
            </a:r>
            <a:r>
              <a:rPr lang="en-US" spc="-176" dirty="0" smtClean="0"/>
              <a:t>)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748086"/>
            <a:ext cx="90504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5275" indent="-285750">
              <a:spcBef>
                <a:spcPts val="971"/>
              </a:spcBef>
              <a:buFont typeface="Arial" panose="020B0604020202020204" pitchFamily="34" charset="0"/>
              <a:buChar char="•"/>
            </a:pP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Cabang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ilmu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yang </a:t>
            </a:r>
            <a:r>
              <a:rPr lang="en-US" dirty="0" err="1">
                <a:solidFill>
                  <a:srgbClr val="404040"/>
                </a:solidFill>
                <a:latin typeface="Carlito"/>
                <a:cs typeface="Carlito"/>
              </a:rPr>
              <a:t>mempelajari</a:t>
            </a:r>
            <a:r>
              <a:rPr lang="en-US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tentang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bagaimana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11" dirty="0" err="1">
                <a:solidFill>
                  <a:srgbClr val="404040"/>
                </a:solidFill>
                <a:latin typeface="Carlito"/>
                <a:cs typeface="Carlito"/>
              </a:rPr>
              <a:t>cara</a:t>
            </a:r>
            <a:r>
              <a:rPr lang="en-US" spc="-11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untuk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memerikan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kemampuan</a:t>
            </a:r>
            <a:r>
              <a:rPr lang="en-US" spc="10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dirty="0" err="1" smtClean="0">
                <a:solidFill>
                  <a:srgbClr val="404040"/>
                </a:solidFill>
                <a:latin typeface="Carlito"/>
                <a:cs typeface="Carlito"/>
              </a:rPr>
              <a:t>bagi</a:t>
            </a:r>
            <a:r>
              <a:rPr lang="en-US" dirty="0" smtClean="0">
                <a:latin typeface="Carlito"/>
                <a:cs typeface="Carlito"/>
              </a:rPr>
              <a:t> </a:t>
            </a:r>
            <a:r>
              <a:rPr lang="en-US" spc="-11" dirty="0" err="1" smtClean="0">
                <a:solidFill>
                  <a:srgbClr val="404040"/>
                </a:solidFill>
                <a:latin typeface="Carlito"/>
                <a:cs typeface="Carlito"/>
              </a:rPr>
              <a:t>komputer</a:t>
            </a:r>
            <a:r>
              <a:rPr lang="en-US" spc="-11" dirty="0" smtClean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untuk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belajar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tanpa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secara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eksplisit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melalui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sebuah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program </a:t>
            </a:r>
            <a:r>
              <a:rPr lang="en-US" dirty="0">
                <a:solidFill>
                  <a:srgbClr val="404040"/>
                </a:solidFill>
                <a:latin typeface="Carlito"/>
                <a:cs typeface="Carlito"/>
              </a:rPr>
              <a:t>(Arthur</a:t>
            </a:r>
            <a:r>
              <a:rPr lang="en-US" spc="3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Samuel)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2850123"/>
            <a:ext cx="84619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5275" marR="37624" indent="-285750">
              <a:lnSpc>
                <a:spcPct val="1501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Sis</a:t>
            </a:r>
            <a:r>
              <a:rPr lang="en-US" spc="-15" dirty="0" err="1">
                <a:solidFill>
                  <a:srgbClr val="404040"/>
                </a:solidFill>
                <a:latin typeface="Carlito"/>
                <a:cs typeface="Carlito"/>
              </a:rPr>
              <a:t>tem</a:t>
            </a:r>
            <a:r>
              <a:rPr lang="en-US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dapat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belajar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dari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data,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mengidentifikasi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pola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dan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mampu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membuat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keputusan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sendiri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dengan</a:t>
            </a:r>
            <a:r>
              <a:rPr lang="en-US" spc="-8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4" dirty="0" err="1">
                <a:solidFill>
                  <a:srgbClr val="404040"/>
                </a:solidFill>
                <a:latin typeface="Carlito"/>
                <a:cs typeface="Carlito"/>
              </a:rPr>
              <a:t>sedikit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rlito"/>
                <a:cs typeface="Carlito"/>
              </a:rPr>
              <a:t>campur</a:t>
            </a:r>
            <a:r>
              <a:rPr lang="en-US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spc="-8" dirty="0" err="1">
                <a:solidFill>
                  <a:srgbClr val="404040"/>
                </a:solidFill>
                <a:latin typeface="Carlito"/>
                <a:cs typeface="Carlito"/>
              </a:rPr>
              <a:t>tangan</a:t>
            </a:r>
            <a:r>
              <a:rPr lang="en-US" spc="-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rlito"/>
                <a:cs typeface="Carlito"/>
              </a:rPr>
              <a:t>manusia</a:t>
            </a:r>
            <a:endParaRPr lang="en-US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0097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Bagaimana</a:t>
            </a:r>
            <a:r>
              <a:rPr lang="en-US" altLang="ja-JP" dirty="0"/>
              <a:t> machine learning </a:t>
            </a:r>
            <a:r>
              <a:rPr lang="en-US" altLang="ja-JP" dirty="0" err="1" smtClean="0"/>
              <a:t>bekerja</a:t>
            </a:r>
            <a:r>
              <a:rPr lang="en-US" altLang="ja-JP" dirty="0" smtClean="0"/>
              <a:t>??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705244"/>
            <a:ext cx="7051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Pembelajaran</a:t>
            </a:r>
            <a:r>
              <a:rPr lang="en-US" altLang="ja-JP" dirty="0"/>
              <a:t> </a:t>
            </a:r>
            <a:r>
              <a:rPr lang="en-US" altLang="ja-JP" dirty="0" err="1"/>
              <a:t>mesin</a:t>
            </a:r>
            <a:r>
              <a:rPr lang="en-US" altLang="ja-JP" dirty="0"/>
              <a:t> </a:t>
            </a:r>
            <a:r>
              <a:rPr lang="en-US" altLang="ja-JP" dirty="0" err="1"/>
              <a:t>menggunakan</a:t>
            </a:r>
            <a:r>
              <a:rPr lang="en-US" altLang="ja-JP" dirty="0"/>
              <a:t> </a:t>
            </a:r>
            <a:r>
              <a:rPr lang="en-US" altLang="ja-JP" dirty="0" err="1"/>
              <a:t>dua</a:t>
            </a:r>
            <a:r>
              <a:rPr lang="en-US" altLang="ja-JP" dirty="0"/>
              <a:t> </a:t>
            </a:r>
            <a:r>
              <a:rPr lang="en-US" altLang="ja-JP" dirty="0" err="1"/>
              <a:t>jenis</a:t>
            </a:r>
            <a:r>
              <a:rPr lang="en-US" altLang="ja-JP" dirty="0"/>
              <a:t> </a:t>
            </a:r>
            <a:r>
              <a:rPr lang="en-US" altLang="ja-JP" dirty="0" err="1"/>
              <a:t>teknik</a:t>
            </a:r>
            <a:r>
              <a:rPr lang="en-US" altLang="ja-JP" dirty="0"/>
              <a:t>: </a:t>
            </a:r>
            <a:endParaRPr lang="en-US" altLang="ja-JP" dirty="0"/>
          </a:p>
        </p:txBody>
      </p:sp>
      <p:sp>
        <p:nvSpPr>
          <p:cNvPr id="4" name="Rectangle 3"/>
          <p:cNvSpPr/>
          <p:nvPr/>
        </p:nvSpPr>
        <p:spPr>
          <a:xfrm>
            <a:off x="609600" y="2280236"/>
            <a:ext cx="60597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Supervised learning</a:t>
            </a:r>
            <a:r>
              <a:rPr lang="en-US" altLang="ja-JP" dirty="0"/>
              <a:t>, yang </a:t>
            </a:r>
            <a:r>
              <a:rPr lang="en-US" altLang="ja-JP" dirty="0" err="1"/>
              <a:t>melatih</a:t>
            </a:r>
            <a:r>
              <a:rPr lang="en-US" altLang="ja-JP" dirty="0"/>
              <a:t> model </a:t>
            </a:r>
            <a:r>
              <a:rPr lang="en-US" altLang="ja-JP" dirty="0" err="1"/>
              <a:t>dengan</a:t>
            </a:r>
            <a:r>
              <a:rPr lang="en-US" altLang="ja-JP" dirty="0"/>
              <a:t> input </a:t>
            </a:r>
            <a:r>
              <a:rPr lang="en-US" altLang="ja-JP" dirty="0" err="1"/>
              <a:t>dan</a:t>
            </a:r>
            <a:r>
              <a:rPr lang="en-US" altLang="ja-JP" dirty="0"/>
              <a:t> output data yang </a:t>
            </a:r>
            <a:r>
              <a:rPr lang="en-US" altLang="ja-JP" dirty="0" err="1"/>
              <a:t>dikenal</a:t>
            </a:r>
            <a:r>
              <a:rPr lang="en-US" altLang="ja-JP" dirty="0"/>
              <a:t>, </a:t>
            </a:r>
            <a:r>
              <a:rPr lang="en-US" altLang="ja-JP" dirty="0" err="1"/>
              <a:t>sehingga</a:t>
            </a:r>
            <a:r>
              <a:rPr lang="en-US" altLang="ja-JP" dirty="0"/>
              <a:t> </a:t>
            </a:r>
            <a:r>
              <a:rPr lang="en-US" altLang="ja-JP" dirty="0" err="1"/>
              <a:t>dapat</a:t>
            </a:r>
            <a:r>
              <a:rPr lang="en-US" altLang="ja-JP" dirty="0"/>
              <a:t> </a:t>
            </a:r>
            <a:r>
              <a:rPr lang="en-US" altLang="ja-JP" dirty="0" err="1"/>
              <a:t>memprediksi</a:t>
            </a:r>
            <a:r>
              <a:rPr lang="en-US" altLang="ja-JP" dirty="0"/>
              <a:t> </a:t>
            </a:r>
            <a:r>
              <a:rPr lang="en-US" altLang="ja-JP" dirty="0" err="1"/>
              <a:t>masa</a:t>
            </a:r>
            <a:r>
              <a:rPr lang="en-US" altLang="ja-JP" dirty="0"/>
              <a:t> </a:t>
            </a:r>
            <a:r>
              <a:rPr lang="en-US" altLang="ja-JP" dirty="0" err="1"/>
              <a:t>depan</a:t>
            </a:r>
            <a:r>
              <a:rPr lang="en-US" altLang="ja-JP" dirty="0"/>
              <a:t> </a:t>
            </a:r>
            <a:r>
              <a:rPr lang="en-US" altLang="ja-JP" dirty="0" smtClean="0"/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3244081"/>
            <a:ext cx="59873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Unsupervised learning</a:t>
            </a:r>
            <a:r>
              <a:rPr lang="en-US" altLang="ja-JP" dirty="0"/>
              <a:t>, yang </a:t>
            </a:r>
            <a:r>
              <a:rPr lang="en-US" altLang="ja-JP" dirty="0" err="1"/>
              <a:t>menemukan</a:t>
            </a:r>
            <a:r>
              <a:rPr lang="en-US" altLang="ja-JP" dirty="0"/>
              <a:t> </a:t>
            </a:r>
            <a:r>
              <a:rPr lang="en-US" altLang="ja-JP" dirty="0" err="1"/>
              <a:t>pola-pola</a:t>
            </a:r>
            <a:r>
              <a:rPr lang="en-US" altLang="ja-JP" dirty="0"/>
              <a:t> yang </a:t>
            </a:r>
            <a:r>
              <a:rPr lang="en-US" altLang="ja-JP" dirty="0" err="1"/>
              <a:t>tersembunyi</a:t>
            </a:r>
            <a:r>
              <a:rPr lang="en-US" altLang="ja-JP" dirty="0"/>
              <a:t> </a:t>
            </a:r>
            <a:r>
              <a:rPr lang="en-US" altLang="ja-JP" dirty="0" err="1"/>
              <a:t>atau</a:t>
            </a:r>
            <a:r>
              <a:rPr lang="en-US" altLang="ja-JP" dirty="0"/>
              <a:t> </a:t>
            </a:r>
            <a:r>
              <a:rPr lang="en-US" altLang="ja-JP" dirty="0" err="1"/>
              <a:t>struktur</a:t>
            </a:r>
            <a:r>
              <a:rPr lang="en-US" altLang="ja-JP" dirty="0"/>
              <a:t> </a:t>
            </a:r>
            <a:r>
              <a:rPr lang="en-US" altLang="ja-JP" dirty="0" err="1"/>
              <a:t>intrinsik</a:t>
            </a:r>
            <a:r>
              <a:rPr lang="en-US" altLang="ja-JP" dirty="0"/>
              <a:t> </a:t>
            </a:r>
            <a:r>
              <a:rPr lang="en-US" altLang="ja-JP" dirty="0" err="1"/>
              <a:t>dalam</a:t>
            </a:r>
            <a:r>
              <a:rPr lang="en-US" altLang="ja-JP" dirty="0"/>
              <a:t> input data</a:t>
            </a:r>
            <a:endParaRPr kumimoji="1" lang="ja-JP" altLang="en-US" dirty="0"/>
          </a:p>
        </p:txBody>
      </p:sp>
      <p:sp>
        <p:nvSpPr>
          <p:cNvPr id="6" name="object 3"/>
          <p:cNvSpPr/>
          <p:nvPr/>
        </p:nvSpPr>
        <p:spPr>
          <a:xfrm>
            <a:off x="6590921" y="2007605"/>
            <a:ext cx="5395865" cy="4212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08034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Supervised learning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599" y="1572327"/>
            <a:ext cx="95302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/>
              <a:t>Tujuan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dari</a:t>
            </a:r>
            <a:r>
              <a:rPr lang="en-US" altLang="ja-JP" sz="2800" dirty="0"/>
              <a:t> supervised machine learning </a:t>
            </a:r>
            <a:r>
              <a:rPr lang="en-US" altLang="ja-JP" sz="2800" dirty="0" err="1"/>
              <a:t>untuk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membangun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sebuah</a:t>
            </a:r>
            <a:r>
              <a:rPr lang="en-US" altLang="ja-JP" sz="2800" dirty="0"/>
              <a:t> model yang </a:t>
            </a:r>
            <a:r>
              <a:rPr lang="en-US" altLang="ja-JP" sz="2800" dirty="0" err="1"/>
              <a:t>membuat</a:t>
            </a:r>
            <a:r>
              <a:rPr lang="en-US" altLang="ja-JP" sz="2800" dirty="0"/>
              <a:t> </a:t>
            </a:r>
            <a:r>
              <a:rPr lang="en-US" altLang="ja-JP" sz="2800" dirty="0" err="1"/>
              <a:t>prediksi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didasarkan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pada</a:t>
            </a:r>
            <a:r>
              <a:rPr lang="en-US" altLang="ja-JP" sz="2800" dirty="0"/>
              <a:t> </a:t>
            </a:r>
            <a:r>
              <a:rPr lang="en-US" altLang="ja-JP" sz="2800" dirty="0" err="1"/>
              <a:t>bukti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dalam</a:t>
            </a:r>
            <a:r>
              <a:rPr lang="en-US" altLang="ja-JP" sz="2800" dirty="0"/>
              <a:t> </a:t>
            </a:r>
            <a:r>
              <a:rPr lang="en-US" altLang="ja-JP" sz="2800" dirty="0" err="1"/>
              <a:t>kehadiran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ketidakpastian</a:t>
            </a:r>
            <a:r>
              <a:rPr lang="en-US" altLang="ja-JP" sz="2800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99" y="3087434"/>
            <a:ext cx="87215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Supervised </a:t>
            </a:r>
            <a:r>
              <a:rPr lang="en-US" altLang="ja-JP" sz="2800" dirty="0"/>
              <a:t>learning </a:t>
            </a:r>
            <a:r>
              <a:rPr lang="en-US" altLang="ja-JP" sz="2800" dirty="0" err="1"/>
              <a:t>menggunakan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teknik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klasifikasi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dan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regresi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untuk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mengembangkan</a:t>
            </a:r>
            <a:r>
              <a:rPr lang="en-US" altLang="ja-JP" sz="2800" dirty="0"/>
              <a:t> model </a:t>
            </a:r>
            <a:r>
              <a:rPr lang="en-US" altLang="ja-JP" sz="2800" dirty="0" err="1"/>
              <a:t>prediktif</a:t>
            </a:r>
            <a:endParaRPr kumimoji="1" lang="ja-JP" alt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609599" y="4293292"/>
            <a:ext cx="9530281" cy="173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Carlito"/>
                <a:cs typeface="Carlito"/>
              </a:rPr>
              <a:t>Supervised </a:t>
            </a:r>
            <a:r>
              <a:rPr lang="en-US" sz="2800" spc="-5" dirty="0">
                <a:latin typeface="Carlito"/>
                <a:cs typeface="Carlito"/>
              </a:rPr>
              <a:t>learning </a:t>
            </a:r>
            <a:r>
              <a:rPr lang="en-US" sz="2800" spc="-5" dirty="0" err="1">
                <a:latin typeface="Carlito"/>
                <a:cs typeface="Carlito"/>
              </a:rPr>
              <a:t>menggunakan</a:t>
            </a:r>
            <a:r>
              <a:rPr lang="en-US" sz="2800" spc="-5" dirty="0">
                <a:latin typeface="Carlito"/>
                <a:cs typeface="Carlito"/>
              </a:rPr>
              <a:t> </a:t>
            </a:r>
            <a:r>
              <a:rPr lang="en-US" sz="2800" spc="-10" dirty="0">
                <a:latin typeface="Carlito"/>
                <a:cs typeface="Carlito"/>
              </a:rPr>
              <a:t>training </a:t>
            </a:r>
            <a:r>
              <a:rPr lang="en-US" sz="2800" spc="-20" dirty="0">
                <a:latin typeface="Carlito"/>
                <a:cs typeface="Carlito"/>
              </a:rPr>
              <a:t>data  </a:t>
            </a:r>
            <a:r>
              <a:rPr lang="en-US" sz="2800" spc="-15" dirty="0">
                <a:latin typeface="Carlito"/>
                <a:cs typeface="Carlito"/>
              </a:rPr>
              <a:t>yang </a:t>
            </a:r>
            <a:r>
              <a:rPr lang="en-US" sz="2800" spc="-5" dirty="0" err="1">
                <a:latin typeface="Carlito"/>
                <a:cs typeface="Carlito"/>
              </a:rPr>
              <a:t>sudah</a:t>
            </a:r>
            <a:r>
              <a:rPr lang="en-US" sz="2800" spc="-5" dirty="0">
                <a:latin typeface="Carlito"/>
                <a:cs typeface="Carlito"/>
              </a:rPr>
              <a:t> </a:t>
            </a:r>
            <a:r>
              <a:rPr lang="en-US" sz="2800" spc="-5" dirty="0" err="1">
                <a:latin typeface="Carlito"/>
                <a:cs typeface="Carlito"/>
              </a:rPr>
              <a:t>diberi</a:t>
            </a:r>
            <a:r>
              <a:rPr lang="en-US" sz="2800" spc="-5" dirty="0">
                <a:latin typeface="Carlito"/>
                <a:cs typeface="Carlito"/>
              </a:rPr>
              <a:t> label </a:t>
            </a:r>
            <a:r>
              <a:rPr lang="en-US" sz="2800" spc="-10" dirty="0" err="1">
                <a:latin typeface="Carlito"/>
                <a:cs typeface="Carlito"/>
              </a:rPr>
              <a:t>untuk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5" dirty="0" err="1">
                <a:latin typeface="Carlito"/>
                <a:cs typeface="Carlito"/>
              </a:rPr>
              <a:t>mempelajari</a:t>
            </a:r>
            <a:r>
              <a:rPr lang="en-US" sz="2800" spc="-5" dirty="0">
                <a:latin typeface="Carlito"/>
                <a:cs typeface="Carlito"/>
              </a:rPr>
              <a:t>  mapping function, </a:t>
            </a:r>
            <a:r>
              <a:rPr lang="en-US" sz="2800" spc="-5" dirty="0" err="1">
                <a:latin typeface="Carlito"/>
                <a:cs typeface="Carlito"/>
              </a:rPr>
              <a:t>dari</a:t>
            </a:r>
            <a:r>
              <a:rPr lang="en-US" sz="2800" spc="-5" dirty="0">
                <a:latin typeface="Carlito"/>
                <a:cs typeface="Carlito"/>
              </a:rPr>
              <a:t> input </a:t>
            </a:r>
            <a:r>
              <a:rPr lang="en-US" sz="2800" spc="-10" dirty="0">
                <a:latin typeface="Carlito"/>
                <a:cs typeface="Carlito"/>
              </a:rPr>
              <a:t>variable </a:t>
            </a:r>
            <a:r>
              <a:rPr lang="en-US" sz="2800" spc="-5" dirty="0">
                <a:latin typeface="Carlito"/>
                <a:cs typeface="Carlito"/>
              </a:rPr>
              <a:t>(x) </a:t>
            </a:r>
            <a:r>
              <a:rPr lang="en-US" sz="2800" spc="-95" dirty="0" err="1">
                <a:latin typeface="Carlito"/>
                <a:cs typeface="Carlito"/>
              </a:rPr>
              <a:t>ke</a:t>
            </a:r>
            <a:r>
              <a:rPr lang="en-US" sz="2800" spc="-95" dirty="0">
                <a:latin typeface="Carlito"/>
                <a:cs typeface="Carlito"/>
              </a:rPr>
              <a:t>  </a:t>
            </a:r>
            <a:r>
              <a:rPr lang="en-US" sz="2800" spc="-5" dirty="0">
                <a:latin typeface="Carlito"/>
                <a:cs typeface="Carlito"/>
              </a:rPr>
              <a:t>output </a:t>
            </a:r>
            <a:r>
              <a:rPr lang="en-US" sz="2800" spc="-10" dirty="0">
                <a:latin typeface="Carlito"/>
                <a:cs typeface="Carlito"/>
              </a:rPr>
              <a:t>variable </a:t>
            </a:r>
            <a:r>
              <a:rPr lang="en-US" sz="2800" spc="-5" dirty="0">
                <a:latin typeface="Carlito"/>
                <a:cs typeface="Carlito"/>
              </a:rPr>
              <a:t>(y).</a:t>
            </a:r>
            <a:endParaRPr lang="en-US" sz="2800" dirty="0">
              <a:latin typeface="Carlito"/>
              <a:cs typeface="Carlito"/>
            </a:endParaRPr>
          </a:p>
          <a:p>
            <a:pPr marL="3670935">
              <a:lnSpc>
                <a:spcPct val="100000"/>
              </a:lnSpc>
              <a:spcBef>
                <a:spcPts val="365"/>
              </a:spcBef>
              <a:tabLst>
                <a:tab pos="4291965" algn="l"/>
              </a:tabLst>
            </a:pPr>
            <a:r>
              <a:rPr lang="en-US" sz="2800" dirty="0">
                <a:latin typeface="Carlito"/>
                <a:cs typeface="Carlito"/>
              </a:rPr>
              <a:t>y =	</a:t>
            </a:r>
            <a:r>
              <a:rPr lang="en-US" sz="2800" spc="-5" dirty="0">
                <a:latin typeface="Carlito"/>
                <a:cs typeface="Carlito"/>
              </a:rPr>
              <a:t>f(x)</a:t>
            </a:r>
            <a:endParaRPr lang="en-US"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8714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Teknik</a:t>
            </a:r>
            <a:r>
              <a:rPr lang="en-US" altLang="ja-JP" dirty="0"/>
              <a:t> Classification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676230"/>
            <a:ext cx="79429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6465" marR="5080" lvl="1" indent="-457200">
              <a:lnSpc>
                <a:spcPct val="90000"/>
              </a:lnSpc>
              <a:spcBef>
                <a:spcPts val="69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spc="-10" dirty="0">
                <a:latin typeface="Carlito"/>
                <a:cs typeface="Carlito"/>
              </a:rPr>
              <a:t>Classification </a:t>
            </a:r>
            <a:r>
              <a:rPr lang="en-US" sz="2800" spc="-10" dirty="0" err="1">
                <a:latin typeface="Carlito"/>
                <a:cs typeface="Carlito"/>
              </a:rPr>
              <a:t>bertujuan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0" dirty="0" err="1">
                <a:latin typeface="Carlito"/>
                <a:cs typeface="Carlito"/>
              </a:rPr>
              <a:t>untuk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5" dirty="0" err="1">
                <a:latin typeface="Carlito"/>
                <a:cs typeface="Carlito"/>
              </a:rPr>
              <a:t>memprediksi</a:t>
            </a:r>
            <a:r>
              <a:rPr lang="en-US" sz="2800" spc="-15" dirty="0">
                <a:latin typeface="Carlito"/>
                <a:cs typeface="Carlito"/>
              </a:rPr>
              <a:t>  outcome </a:t>
            </a:r>
            <a:r>
              <a:rPr lang="en-US" sz="2800" spc="-10" dirty="0" err="1">
                <a:latin typeface="Carlito"/>
                <a:cs typeface="Carlito"/>
              </a:rPr>
              <a:t>dari</a:t>
            </a:r>
            <a:r>
              <a:rPr lang="en-US" sz="2800" spc="-10" dirty="0">
                <a:latin typeface="Carlito"/>
                <a:cs typeface="Carlito"/>
              </a:rPr>
              <a:t> input </a:t>
            </a:r>
            <a:r>
              <a:rPr lang="en-US" sz="2800" spc="-20" dirty="0">
                <a:latin typeface="Carlito"/>
                <a:cs typeface="Carlito"/>
              </a:rPr>
              <a:t>yang </a:t>
            </a:r>
            <a:r>
              <a:rPr lang="en-US" sz="2800" spc="-15" dirty="0" err="1">
                <a:latin typeface="Carlito"/>
                <a:cs typeface="Carlito"/>
              </a:rPr>
              <a:t>diberikan</a:t>
            </a:r>
            <a:r>
              <a:rPr lang="en-US" sz="2800" spc="-15" dirty="0">
                <a:latin typeface="Carlito"/>
                <a:cs typeface="Carlito"/>
              </a:rPr>
              <a:t> </a:t>
            </a:r>
            <a:r>
              <a:rPr lang="en-US" sz="2800" spc="-5" dirty="0">
                <a:latin typeface="Carlito"/>
                <a:cs typeface="Carlito"/>
              </a:rPr>
              <a:t>, </a:t>
            </a:r>
            <a:r>
              <a:rPr lang="en-US" sz="2800" spc="-10" dirty="0" err="1">
                <a:latin typeface="Carlito"/>
                <a:cs typeface="Carlito"/>
              </a:rPr>
              <a:t>dimana</a:t>
            </a:r>
            <a:r>
              <a:rPr lang="en-US" sz="2800" spc="-10" dirty="0">
                <a:latin typeface="Carlito"/>
                <a:cs typeface="Carlito"/>
              </a:rPr>
              <a:t>  output variable </a:t>
            </a:r>
            <a:r>
              <a:rPr lang="en-US" sz="2800" spc="-10" dirty="0" err="1">
                <a:latin typeface="Carlito"/>
                <a:cs typeface="Carlito"/>
              </a:rPr>
              <a:t>berbentuk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20" dirty="0" err="1">
                <a:latin typeface="Carlito"/>
                <a:cs typeface="Carlito"/>
              </a:rPr>
              <a:t>kategori-kategori</a:t>
            </a:r>
            <a:r>
              <a:rPr lang="en-US" sz="2800" spc="-20" dirty="0">
                <a:latin typeface="Carlito"/>
                <a:cs typeface="Carlito"/>
              </a:rPr>
              <a:t>. </a:t>
            </a:r>
            <a:r>
              <a:rPr lang="en-US" sz="2800" spc="-10" dirty="0" err="1">
                <a:latin typeface="Carlito"/>
                <a:cs typeface="Carlito"/>
              </a:rPr>
              <a:t>Misal</a:t>
            </a:r>
            <a:r>
              <a:rPr lang="en-US" sz="2800" spc="-10" dirty="0">
                <a:latin typeface="Carlito"/>
                <a:cs typeface="Carlito"/>
              </a:rPr>
              <a:t>  </a:t>
            </a:r>
            <a:r>
              <a:rPr lang="en-US" sz="2800" spc="-10" dirty="0" err="1">
                <a:latin typeface="Carlito"/>
                <a:cs typeface="Carlito"/>
              </a:rPr>
              <a:t>pria</a:t>
            </a:r>
            <a:r>
              <a:rPr lang="en-US" sz="2800" spc="-10" dirty="0">
                <a:latin typeface="Carlito"/>
                <a:cs typeface="Carlito"/>
              </a:rPr>
              <a:t>/</a:t>
            </a:r>
            <a:r>
              <a:rPr lang="en-US" sz="2800" spc="-10" dirty="0" err="1">
                <a:latin typeface="Carlito"/>
                <a:cs typeface="Carlito"/>
              </a:rPr>
              <a:t>wanita</a:t>
            </a:r>
            <a:r>
              <a:rPr lang="en-US" sz="2800" spc="-10" dirty="0">
                <a:latin typeface="Carlito"/>
                <a:cs typeface="Carlito"/>
              </a:rPr>
              <a:t>, </a:t>
            </a:r>
            <a:r>
              <a:rPr lang="en-US" sz="2800" spc="-15" dirty="0" err="1">
                <a:latin typeface="Carlito"/>
                <a:cs typeface="Carlito"/>
              </a:rPr>
              <a:t>sakit</a:t>
            </a:r>
            <a:r>
              <a:rPr lang="en-US" sz="2800" spc="-15" dirty="0">
                <a:latin typeface="Carlito"/>
                <a:cs typeface="Carlito"/>
              </a:rPr>
              <a:t>/</a:t>
            </a:r>
            <a:r>
              <a:rPr lang="en-US" sz="2800" spc="-15" dirty="0" err="1">
                <a:latin typeface="Carlito"/>
                <a:cs typeface="Carlito"/>
              </a:rPr>
              <a:t>sehat</a:t>
            </a:r>
            <a:r>
              <a:rPr lang="en-US" sz="2800" spc="-15" dirty="0">
                <a:latin typeface="Carlito"/>
                <a:cs typeface="Carlito"/>
              </a:rPr>
              <a:t>,</a:t>
            </a:r>
            <a:r>
              <a:rPr lang="en-US" sz="2800" spc="55" dirty="0">
                <a:latin typeface="Carlito"/>
                <a:cs typeface="Carlito"/>
              </a:rPr>
              <a:t> </a:t>
            </a:r>
            <a:r>
              <a:rPr lang="en-US" sz="2800" spc="-5" dirty="0" err="1">
                <a:latin typeface="Carlito"/>
                <a:cs typeface="Carlito"/>
              </a:rPr>
              <a:t>tinggi</a:t>
            </a:r>
            <a:r>
              <a:rPr lang="en-US" sz="2800" spc="-5" dirty="0">
                <a:latin typeface="Carlito"/>
                <a:cs typeface="Carlito"/>
              </a:rPr>
              <a:t>/</a:t>
            </a:r>
            <a:r>
              <a:rPr lang="en-US" sz="2800" spc="-5" dirty="0" err="1">
                <a:latin typeface="Carlito"/>
                <a:cs typeface="Carlito"/>
              </a:rPr>
              <a:t>rendah</a:t>
            </a:r>
            <a:endParaRPr lang="en-US" sz="2800" dirty="0">
              <a:latin typeface="Carlito"/>
              <a:cs typeface="Carlit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568" y="3580807"/>
            <a:ext cx="4081878" cy="30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3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Teknik</a:t>
            </a:r>
            <a:r>
              <a:rPr lang="en-US" altLang="ja-JP" dirty="0"/>
              <a:t> Regression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802979"/>
            <a:ext cx="876979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6465" marR="490855" lvl="1" indent="-457200">
              <a:lnSpc>
                <a:spcPct val="90000"/>
              </a:lnSpc>
              <a:spcBef>
                <a:spcPts val="68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spc="-15" dirty="0">
                <a:latin typeface="Carlito"/>
                <a:cs typeface="Carlito"/>
              </a:rPr>
              <a:t>Regression </a:t>
            </a:r>
            <a:r>
              <a:rPr lang="en-US" sz="2800" spc="-10" dirty="0" err="1">
                <a:latin typeface="Carlito"/>
                <a:cs typeface="Carlito"/>
              </a:rPr>
              <a:t>bertujuan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0" dirty="0" err="1">
                <a:latin typeface="Carlito"/>
                <a:cs typeface="Carlito"/>
              </a:rPr>
              <a:t>untuk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5" dirty="0" err="1">
                <a:latin typeface="Carlito"/>
                <a:cs typeface="Carlito"/>
              </a:rPr>
              <a:t>memprediksi</a:t>
            </a:r>
            <a:r>
              <a:rPr lang="en-US" sz="2800" spc="-15" dirty="0">
                <a:latin typeface="Carlito"/>
                <a:cs typeface="Carlito"/>
              </a:rPr>
              <a:t>  outcome </a:t>
            </a:r>
            <a:r>
              <a:rPr lang="en-US" sz="2800" spc="-5" dirty="0" err="1">
                <a:latin typeface="Carlito"/>
                <a:cs typeface="Carlito"/>
              </a:rPr>
              <a:t>dari</a:t>
            </a:r>
            <a:r>
              <a:rPr lang="en-US" sz="2800" spc="-5" dirty="0">
                <a:latin typeface="Carlito"/>
                <a:cs typeface="Carlito"/>
              </a:rPr>
              <a:t> </a:t>
            </a:r>
            <a:r>
              <a:rPr lang="en-US" sz="2800" spc="-10" dirty="0">
                <a:latin typeface="Carlito"/>
                <a:cs typeface="Carlito"/>
              </a:rPr>
              <a:t>input, </a:t>
            </a:r>
            <a:r>
              <a:rPr lang="en-US" sz="2800" spc="-5" dirty="0" err="1">
                <a:latin typeface="Carlito"/>
                <a:cs typeface="Carlito"/>
              </a:rPr>
              <a:t>dimana</a:t>
            </a:r>
            <a:r>
              <a:rPr lang="en-US" sz="2800" spc="-5" dirty="0">
                <a:latin typeface="Carlito"/>
                <a:cs typeface="Carlito"/>
              </a:rPr>
              <a:t> </a:t>
            </a:r>
            <a:r>
              <a:rPr lang="en-US" sz="2800" spc="-10" dirty="0">
                <a:latin typeface="Carlito"/>
                <a:cs typeface="Carlito"/>
              </a:rPr>
              <a:t>output variable  </a:t>
            </a:r>
            <a:r>
              <a:rPr lang="en-US" sz="2800" spc="-10" dirty="0" err="1">
                <a:latin typeface="Carlito"/>
                <a:cs typeface="Carlito"/>
              </a:rPr>
              <a:t>berbentuk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0" dirty="0" err="1">
                <a:latin typeface="Carlito"/>
                <a:cs typeface="Carlito"/>
              </a:rPr>
              <a:t>nilai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5" dirty="0">
                <a:latin typeface="Carlito"/>
                <a:cs typeface="Carlito"/>
              </a:rPr>
              <a:t>actual </a:t>
            </a:r>
            <a:r>
              <a:rPr lang="en-US" sz="2800" spc="-15" dirty="0">
                <a:latin typeface="Carlito"/>
                <a:cs typeface="Carlito"/>
              </a:rPr>
              <a:t>(real </a:t>
            </a:r>
            <a:r>
              <a:rPr lang="en-US" sz="2800" spc="-10" dirty="0">
                <a:latin typeface="Carlito"/>
                <a:cs typeface="Carlito"/>
              </a:rPr>
              <a:t>values), </a:t>
            </a:r>
            <a:r>
              <a:rPr lang="en-US" sz="2800" spc="-10" dirty="0" err="1">
                <a:latin typeface="Carlito"/>
                <a:cs typeface="Carlito"/>
              </a:rPr>
              <a:t>misal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dirty="0" err="1">
                <a:latin typeface="Carlito"/>
                <a:cs typeface="Carlito"/>
              </a:rPr>
              <a:t>tinggi</a:t>
            </a:r>
            <a:r>
              <a:rPr lang="en-US" sz="2800" dirty="0">
                <a:latin typeface="Carlito"/>
                <a:cs typeface="Carlito"/>
              </a:rPr>
              <a:t>  </a:t>
            </a:r>
            <a:r>
              <a:rPr lang="en-US" sz="2800" spc="-10" dirty="0" err="1">
                <a:latin typeface="Carlito"/>
                <a:cs typeface="Carlito"/>
              </a:rPr>
              <a:t>badan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lang="en-US" sz="2800" spc="-10" dirty="0" err="1">
                <a:latin typeface="Carlito"/>
                <a:cs typeface="Carlito"/>
              </a:rPr>
              <a:t>seseorang</a:t>
            </a:r>
            <a:r>
              <a:rPr lang="en-US" sz="2800" spc="-10" dirty="0">
                <a:latin typeface="Carlito"/>
                <a:cs typeface="Carlito"/>
              </a:rPr>
              <a:t>, </a:t>
            </a:r>
            <a:r>
              <a:rPr lang="en-US" sz="2800" spc="-15" dirty="0" err="1">
                <a:latin typeface="Carlito"/>
                <a:cs typeface="Carlito"/>
              </a:rPr>
              <a:t>curah</a:t>
            </a:r>
            <a:r>
              <a:rPr lang="en-US" sz="2800" spc="65" dirty="0">
                <a:latin typeface="Carlito"/>
                <a:cs typeface="Carlito"/>
              </a:rPr>
              <a:t> </a:t>
            </a:r>
            <a:r>
              <a:rPr lang="en-US" sz="2800" spc="-10" dirty="0" err="1">
                <a:latin typeface="Carlito"/>
                <a:cs typeface="Carlito"/>
              </a:rPr>
              <a:t>hujan</a:t>
            </a:r>
            <a:r>
              <a:rPr lang="en-US" sz="2800" spc="-10" dirty="0">
                <a:latin typeface="Carlito"/>
                <a:cs typeface="Carlito"/>
              </a:rPr>
              <a:t>.</a:t>
            </a:r>
            <a:endParaRPr lang="en-US" sz="2800" dirty="0">
              <a:latin typeface="Carlito"/>
              <a:cs typeface="Carlit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105" y="3930512"/>
            <a:ext cx="3695995" cy="206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Algoritma</a:t>
            </a:r>
            <a:r>
              <a:rPr lang="en-US" altLang="ja-JP" dirty="0"/>
              <a:t> Machine Learning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68540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/>
              <a:t>Pemilihan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Algoritma</a:t>
            </a:r>
            <a:r>
              <a:rPr lang="en-US" altLang="ja-JP" sz="2800" dirty="0"/>
              <a:t> yang </a:t>
            </a:r>
            <a:r>
              <a:rPr lang="en-US" altLang="ja-JP" sz="2800" dirty="0" err="1" smtClean="0"/>
              <a:t>tepat</a:t>
            </a:r>
            <a:endParaRPr lang="en-US" altLang="ja-JP" sz="2800" dirty="0"/>
          </a:p>
        </p:txBody>
      </p:sp>
      <p:sp>
        <p:nvSpPr>
          <p:cNvPr id="4" name="Rectangle 3"/>
          <p:cNvSpPr/>
          <p:nvPr/>
        </p:nvSpPr>
        <p:spPr>
          <a:xfrm>
            <a:off x="971738" y="2208621"/>
            <a:ext cx="88693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ja-JP" sz="2800" dirty="0"/>
              <a:t>Ada </a:t>
            </a:r>
            <a:r>
              <a:rPr lang="en-US" altLang="ja-JP" sz="2800" dirty="0" err="1"/>
              <a:t>puluhan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Algoritma</a:t>
            </a:r>
            <a:r>
              <a:rPr lang="en-US" altLang="ja-JP" sz="2800" dirty="0"/>
              <a:t> supervised and unsupervised machine learning algorithms, </a:t>
            </a:r>
            <a:r>
              <a:rPr lang="en-US" altLang="ja-JP" sz="2800" dirty="0" err="1"/>
              <a:t>masing-masing</a:t>
            </a:r>
            <a:r>
              <a:rPr lang="en-US" altLang="ja-JP" sz="2800" dirty="0"/>
              <a:t> </a:t>
            </a:r>
            <a:r>
              <a:rPr lang="en-US" altLang="ja-JP" sz="2800" dirty="0" err="1"/>
              <a:t>mengambil</a:t>
            </a:r>
            <a:r>
              <a:rPr lang="en-US" altLang="ja-JP" sz="2800" dirty="0"/>
              <a:t> </a:t>
            </a:r>
            <a:r>
              <a:rPr lang="en-US" altLang="ja-JP" sz="2800" dirty="0" err="1"/>
              <a:t>pendekatan</a:t>
            </a:r>
            <a:r>
              <a:rPr lang="en-US" altLang="ja-JP" sz="2800" dirty="0"/>
              <a:t> yang </a:t>
            </a:r>
            <a:r>
              <a:rPr lang="en-US" altLang="ja-JP" sz="2800" dirty="0" err="1"/>
              <a:t>berbeda</a:t>
            </a:r>
            <a:r>
              <a:rPr lang="en-US" altLang="ja-JP" sz="2800" dirty="0"/>
              <a:t> </a:t>
            </a:r>
            <a:r>
              <a:rPr lang="en-US" altLang="ja-JP" sz="2800" dirty="0" err="1"/>
              <a:t>untuk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pembelajarannya</a:t>
            </a:r>
            <a:endParaRPr lang="en-US" altLang="ja-JP" sz="2800" dirty="0"/>
          </a:p>
        </p:txBody>
      </p:sp>
      <p:sp>
        <p:nvSpPr>
          <p:cNvPr id="5" name="Rectangle 4"/>
          <p:cNvSpPr/>
          <p:nvPr/>
        </p:nvSpPr>
        <p:spPr>
          <a:xfrm>
            <a:off x="609600" y="4363057"/>
            <a:ext cx="9373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/>
              <a:t>Tidak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ada</a:t>
            </a:r>
            <a:r>
              <a:rPr lang="en-US" altLang="ja-JP" sz="2800" dirty="0"/>
              <a:t> </a:t>
            </a:r>
            <a:r>
              <a:rPr lang="en-US" altLang="ja-JP" sz="2800" dirty="0" err="1"/>
              <a:t>metode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terbaik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atau</a:t>
            </a:r>
            <a:r>
              <a:rPr lang="en-US" altLang="ja-JP" sz="2800" dirty="0"/>
              <a:t> </a:t>
            </a:r>
            <a:r>
              <a:rPr lang="en-US" altLang="ja-JP" sz="2800" dirty="0" err="1"/>
              <a:t>satu</a:t>
            </a:r>
            <a:r>
              <a:rPr lang="en-US" altLang="ja-JP" sz="2800" dirty="0"/>
              <a:t> </a:t>
            </a:r>
            <a:r>
              <a:rPr lang="en-US" altLang="ja-JP" sz="2800" dirty="0" err="1"/>
              <a:t>ukuran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cocok</a:t>
            </a:r>
            <a:r>
              <a:rPr lang="en-US" altLang="ja-JP" sz="2800" dirty="0"/>
              <a:t> </a:t>
            </a:r>
            <a:r>
              <a:rPr lang="en-US" altLang="ja-JP" sz="2800" dirty="0" err="1"/>
              <a:t>untuk</a:t>
            </a:r>
            <a:r>
              <a:rPr lang="en-US" altLang="ja-JP" sz="2800" dirty="0"/>
              <a:t> 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971738" y="4963221"/>
            <a:ext cx="81456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ja-JP" sz="2800" dirty="0" err="1"/>
              <a:t>Algoritma</a:t>
            </a:r>
            <a:r>
              <a:rPr lang="en-US" altLang="ja-JP" sz="2800" dirty="0"/>
              <a:t> yang </a:t>
            </a:r>
            <a:r>
              <a:rPr lang="en-US" altLang="ja-JP" sz="2800" dirty="0" err="1"/>
              <a:t>tepat</a:t>
            </a:r>
            <a:r>
              <a:rPr lang="en-US" altLang="ja-JP" sz="2800" dirty="0"/>
              <a:t> </a:t>
            </a:r>
            <a:r>
              <a:rPr lang="en-US" altLang="ja-JP" sz="2800" dirty="0" err="1"/>
              <a:t>adalah</a:t>
            </a:r>
            <a:r>
              <a:rPr lang="en-US" altLang="ja-JP" sz="2800" dirty="0"/>
              <a:t>: just trial and error</a:t>
            </a:r>
          </a:p>
        </p:txBody>
      </p:sp>
    </p:spTree>
    <p:extLst>
      <p:ext uri="{BB962C8B-B14F-4D97-AF65-F5344CB8AC3E}">
        <p14:creationId xmlns:p14="http://schemas.microsoft.com/office/powerpoint/2010/main" val="73430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Pilihan</a:t>
            </a:r>
            <a:r>
              <a:rPr kumimoji="1" lang="en-US" altLang="ja-JP" dirty="0"/>
              <a:t> </a:t>
            </a:r>
            <a:r>
              <a:rPr lang="en-US" spc="-5" dirty="0" err="1"/>
              <a:t>Algoritma</a:t>
            </a:r>
            <a:r>
              <a:rPr lang="en-US" spc="-5" dirty="0"/>
              <a:t> </a:t>
            </a:r>
            <a:r>
              <a:rPr lang="en-US" dirty="0"/>
              <a:t>Supervised</a:t>
            </a:r>
            <a:r>
              <a:rPr lang="en-US" spc="-10" dirty="0"/>
              <a:t> </a:t>
            </a:r>
            <a:r>
              <a:rPr lang="en-US" spc="-5" dirty="0"/>
              <a:t>Learning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9021" y="2823616"/>
            <a:ext cx="3200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Carlito"/>
                <a:cs typeface="Carlito"/>
              </a:rPr>
              <a:t>Decision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lang="en-US" sz="2800" spc="-10" dirty="0">
                <a:latin typeface="Carlito"/>
                <a:cs typeface="Carlito"/>
              </a:rPr>
              <a:t>tree</a:t>
            </a:r>
            <a:endParaRPr lang="en-US" sz="2800" spc="-10" dirty="0">
              <a:latin typeface="Carlito"/>
              <a:cs typeface="Carli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9021" y="3385180"/>
            <a:ext cx="45135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D" sz="2800" spc="-10" dirty="0">
                <a:latin typeface="Carlito"/>
                <a:cs typeface="Carlito"/>
              </a:rPr>
              <a:t>Random Forest</a:t>
            </a:r>
            <a:endParaRPr lang="en-ID" sz="2800" dirty="0">
              <a:latin typeface="Carlito"/>
              <a:cs typeface="Carli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3946744"/>
            <a:ext cx="4233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Carlito"/>
                <a:cs typeface="Carlito"/>
              </a:rPr>
              <a:t>Artificial </a:t>
            </a:r>
            <a:r>
              <a:rPr lang="en-US" sz="2800" spc="-15" dirty="0">
                <a:latin typeface="Carlito"/>
                <a:cs typeface="Carlito"/>
              </a:rPr>
              <a:t>neural</a:t>
            </a:r>
            <a:r>
              <a:rPr lang="en-US" sz="2800" spc="-10" dirty="0">
                <a:latin typeface="Carlito"/>
                <a:cs typeface="Carlito"/>
              </a:rPr>
              <a:t> network</a:t>
            </a:r>
            <a:endParaRPr lang="en-US" sz="2800" dirty="0">
              <a:latin typeface="Carlito"/>
              <a:cs typeface="Carlit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4508308"/>
            <a:ext cx="45708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rlito"/>
                <a:cs typeface="Carlito"/>
              </a:rPr>
              <a:t>Support </a:t>
            </a:r>
            <a:r>
              <a:rPr lang="en-US" sz="2800" b="1" spc="-10" dirty="0">
                <a:latin typeface="Carlito"/>
                <a:cs typeface="Carlito"/>
              </a:rPr>
              <a:t>vector</a:t>
            </a:r>
            <a:r>
              <a:rPr lang="en-US" sz="2800" b="1" spc="-75" dirty="0">
                <a:latin typeface="Carlito"/>
                <a:cs typeface="Carlito"/>
              </a:rPr>
              <a:t> </a:t>
            </a:r>
            <a:r>
              <a:rPr lang="en-US" sz="2800" b="1" dirty="0">
                <a:latin typeface="Carlito"/>
                <a:cs typeface="Carlito"/>
              </a:rPr>
              <a:t>machine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609600" y="5070464"/>
            <a:ext cx="4893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Carlito"/>
                <a:cs typeface="Carlito"/>
              </a:rPr>
              <a:t>KNN </a:t>
            </a:r>
            <a:r>
              <a:rPr lang="en-US" sz="2800" spc="-10" dirty="0">
                <a:latin typeface="Carlito"/>
                <a:cs typeface="Carlito"/>
              </a:rPr>
              <a:t>(K- </a:t>
            </a:r>
            <a:r>
              <a:rPr lang="en-US" sz="2800" spc="-15" dirty="0">
                <a:latin typeface="Carlito"/>
                <a:cs typeface="Carlito"/>
              </a:rPr>
              <a:t>Nearest</a:t>
            </a:r>
            <a:r>
              <a:rPr lang="en-US" sz="2800" spc="-75" dirty="0">
                <a:latin typeface="Carlito"/>
                <a:cs typeface="Carlito"/>
              </a:rPr>
              <a:t> </a:t>
            </a:r>
            <a:r>
              <a:rPr lang="en-US" sz="2800" dirty="0">
                <a:latin typeface="Carlito"/>
                <a:cs typeface="Carlito"/>
              </a:rPr>
              <a:t>Neighbor)</a:t>
            </a:r>
            <a:endParaRPr lang="en-US" sz="2800" dirty="0">
              <a:latin typeface="Carlito"/>
              <a:cs typeface="Carlito"/>
            </a:endParaRPr>
          </a:p>
        </p:txBody>
      </p:sp>
      <p:pic>
        <p:nvPicPr>
          <p:cNvPr id="9" name="コンテンツ プレースホルダー 3"/>
          <p:cNvPicPr>
            <a:picLocks noChangeAspect="1"/>
          </p:cNvPicPr>
          <p:nvPr/>
        </p:nvPicPr>
        <p:blipFill rotWithShape="1">
          <a:blip r:embed="rId2"/>
          <a:srcRect l="1972" t="8696" r="1976"/>
          <a:stretch/>
        </p:blipFill>
        <p:spPr>
          <a:xfrm>
            <a:off x="6337425" y="1765095"/>
            <a:ext cx="5495453" cy="47597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9545" y="1665838"/>
            <a:ext cx="48436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Ada </a:t>
            </a:r>
            <a:r>
              <a:rPr lang="en-US" sz="2400" dirty="0" err="1" smtClean="0"/>
              <a:t>beberapa</a:t>
            </a:r>
            <a:r>
              <a:rPr lang="en-US" sz="2400" dirty="0" smtClean="0"/>
              <a:t> </a:t>
            </a:r>
            <a:r>
              <a:rPr lang="en-US" sz="2400" dirty="0" err="1" smtClean="0"/>
              <a:t>pilihan</a:t>
            </a:r>
            <a:r>
              <a:rPr lang="en-US" sz="2400" dirty="0" smtClean="0"/>
              <a:t> </a:t>
            </a:r>
            <a:r>
              <a:rPr lang="en-US" sz="2400" dirty="0" err="1" smtClean="0"/>
              <a:t>algoritma</a:t>
            </a:r>
            <a:r>
              <a:rPr lang="en-US" sz="2400" dirty="0" smtClean="0"/>
              <a:t> </a:t>
            </a:r>
            <a:r>
              <a:rPr lang="en-US" sz="2400" dirty="0" err="1" smtClean="0"/>
              <a:t>Mechine</a:t>
            </a:r>
            <a:r>
              <a:rPr lang="en-US" sz="2400" dirty="0" smtClean="0"/>
              <a:t> learning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434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spc="-195" dirty="0"/>
              <a:t>Classification Performance</a:t>
            </a:r>
            <a:r>
              <a:rPr lang="en-ID" b="1" spc="-335" dirty="0"/>
              <a:t> </a:t>
            </a:r>
            <a:r>
              <a:rPr lang="en-ID" b="1" spc="-195" dirty="0" smtClean="0"/>
              <a:t>Evaluation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857509" y="2514367"/>
            <a:ext cx="7792016" cy="18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7865" lvl="1" indent="-342900">
              <a:lnSpc>
                <a:spcPct val="100000"/>
              </a:lnSpc>
              <a:spcBef>
                <a:spcPts val="155"/>
              </a:spcBef>
              <a:buFont typeface="Arial" panose="020B0604020202020204" pitchFamily="34" charset="0"/>
              <a:buChar char="•"/>
              <a:tabLst>
                <a:tab pos="591185" algn="l"/>
                <a:tab pos="591820" algn="l"/>
              </a:tabLst>
            </a:pPr>
            <a:r>
              <a:rPr lang="en-US" sz="2200" spc="-10" dirty="0" smtClean="0">
                <a:latin typeface="Carlito"/>
                <a:cs typeface="Carlito"/>
              </a:rPr>
              <a:t>Accuracy </a:t>
            </a:r>
            <a:r>
              <a:rPr lang="en-US" sz="2200" spc="-10" dirty="0">
                <a:latin typeface="Carlito"/>
                <a:cs typeface="Carlito"/>
              </a:rPr>
              <a:t>(</a:t>
            </a:r>
            <a:r>
              <a:rPr lang="en-US" sz="2200" spc="-10" dirty="0" err="1">
                <a:latin typeface="Carlito"/>
                <a:cs typeface="Carlito"/>
              </a:rPr>
              <a:t>akurasi</a:t>
            </a:r>
            <a:r>
              <a:rPr lang="en-US" sz="2200" spc="-10" dirty="0">
                <a:latin typeface="Carlito"/>
                <a:cs typeface="Carlito"/>
              </a:rPr>
              <a:t>)</a:t>
            </a:r>
            <a:endParaRPr lang="en-US" sz="2200" dirty="0">
              <a:latin typeface="Carlito"/>
              <a:cs typeface="Carlito"/>
            </a:endParaRPr>
          </a:p>
          <a:p>
            <a:pPr marL="591185" lvl="1" indent="-2362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91185" algn="l"/>
                <a:tab pos="591820" algn="l"/>
              </a:tabLst>
            </a:pPr>
            <a:r>
              <a:rPr lang="en-US" sz="2200" spc="-10" dirty="0">
                <a:latin typeface="Carlito"/>
                <a:cs typeface="Carlito"/>
              </a:rPr>
              <a:t>Speed (</a:t>
            </a:r>
            <a:r>
              <a:rPr lang="en-US" sz="2200" spc="-10" dirty="0" err="1">
                <a:latin typeface="Carlito"/>
                <a:cs typeface="Carlito"/>
              </a:rPr>
              <a:t>kecepatan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dalam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komputasi</a:t>
            </a:r>
            <a:r>
              <a:rPr lang="en-US" sz="2200" spc="-10" dirty="0">
                <a:latin typeface="Carlito"/>
                <a:cs typeface="Carlito"/>
              </a:rPr>
              <a:t>)</a:t>
            </a:r>
            <a:endParaRPr lang="en-US" sz="2200" dirty="0">
              <a:latin typeface="Carlito"/>
              <a:cs typeface="Carlito"/>
            </a:endParaRPr>
          </a:p>
          <a:p>
            <a:pPr marL="591185" lvl="1" indent="-2362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91185" algn="l"/>
                <a:tab pos="591820" algn="l"/>
              </a:tabLst>
            </a:pPr>
            <a:r>
              <a:rPr lang="en-US" sz="2200" spc="-15" dirty="0">
                <a:latin typeface="Carlito"/>
                <a:cs typeface="Carlito"/>
              </a:rPr>
              <a:t>Robustness </a:t>
            </a:r>
            <a:r>
              <a:rPr lang="en-US" sz="2200" spc="-15" dirty="0" smtClean="0">
                <a:latin typeface="Carlito"/>
                <a:cs typeface="Carlito"/>
              </a:rPr>
              <a:t>(</a:t>
            </a:r>
            <a:r>
              <a:rPr lang="en-US" sz="2200" spc="-15" dirty="0" err="1" smtClean="0">
                <a:latin typeface="Carlito"/>
                <a:cs typeface="Carlito"/>
              </a:rPr>
              <a:t>hasil</a:t>
            </a:r>
            <a:r>
              <a:rPr lang="en-US" sz="2200" spc="-15" dirty="0" smtClean="0">
                <a:latin typeface="Carlito"/>
                <a:cs typeface="Carlito"/>
              </a:rPr>
              <a:t> </a:t>
            </a:r>
            <a:r>
              <a:rPr lang="en-US" sz="2200" spc="-15" dirty="0" err="1">
                <a:latin typeface="Carlito"/>
                <a:cs typeface="Carlito"/>
              </a:rPr>
              <a:t>tidak</a:t>
            </a:r>
            <a:r>
              <a:rPr lang="en-US" sz="2200" spc="-15" dirty="0">
                <a:latin typeface="Carlito"/>
                <a:cs typeface="Carlito"/>
              </a:rPr>
              <a:t> </a:t>
            </a:r>
            <a:r>
              <a:rPr lang="en-US" sz="2200" spc="-15" dirty="0" err="1">
                <a:latin typeface="Carlito"/>
                <a:cs typeface="Carlito"/>
              </a:rPr>
              <a:t>berubah-ubah</a:t>
            </a:r>
            <a:r>
              <a:rPr lang="en-US" sz="2200" spc="-15" dirty="0">
                <a:latin typeface="Carlito"/>
                <a:cs typeface="Carlito"/>
              </a:rPr>
              <a:t>)</a:t>
            </a:r>
            <a:endParaRPr lang="en-US" sz="2200" dirty="0">
              <a:latin typeface="Carlito"/>
              <a:cs typeface="Carlito"/>
            </a:endParaRPr>
          </a:p>
          <a:p>
            <a:pPr marL="591185" lvl="1" indent="-2362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91185" algn="l"/>
                <a:tab pos="591820" algn="l"/>
              </a:tabLst>
            </a:pPr>
            <a:r>
              <a:rPr lang="en-US" sz="2200" spc="-10" dirty="0">
                <a:latin typeface="Carlito"/>
                <a:cs typeface="Carlito"/>
              </a:rPr>
              <a:t>Scalability (</a:t>
            </a:r>
            <a:r>
              <a:rPr lang="en-US" sz="2200" spc="-10" dirty="0" err="1">
                <a:latin typeface="Carlito"/>
                <a:cs typeface="Carlito"/>
              </a:rPr>
              <a:t>dapat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diukur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secara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matematis</a:t>
            </a:r>
            <a:r>
              <a:rPr lang="en-US" sz="2200" spc="-10" dirty="0">
                <a:latin typeface="Carlito"/>
                <a:cs typeface="Carlito"/>
              </a:rPr>
              <a:t>)</a:t>
            </a:r>
            <a:endParaRPr lang="en-US" sz="2200" dirty="0">
              <a:latin typeface="Carlito"/>
              <a:cs typeface="Carlito"/>
            </a:endParaRPr>
          </a:p>
          <a:p>
            <a:pPr marL="591185" lvl="1" indent="-23622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91185" algn="l"/>
                <a:tab pos="591820" algn="l"/>
              </a:tabLst>
            </a:pPr>
            <a:r>
              <a:rPr lang="en-US" sz="2200" spc="-10" dirty="0">
                <a:latin typeface="Carlito"/>
                <a:cs typeface="Carlito"/>
              </a:rPr>
              <a:t>Interpretability (</a:t>
            </a:r>
            <a:r>
              <a:rPr lang="en-US" sz="2200" spc="-10" dirty="0" err="1">
                <a:latin typeface="Carlito"/>
                <a:cs typeface="Carlito"/>
              </a:rPr>
              <a:t>hasil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tergambar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dengan</a:t>
            </a:r>
            <a:r>
              <a:rPr lang="en-US" sz="2200" spc="-10" dirty="0">
                <a:latin typeface="Carlito"/>
                <a:cs typeface="Carlito"/>
              </a:rPr>
              <a:t> </a:t>
            </a:r>
            <a:r>
              <a:rPr lang="en-US" sz="2200" spc="-10" dirty="0" err="1">
                <a:latin typeface="Carlito"/>
                <a:cs typeface="Carlito"/>
              </a:rPr>
              <a:t>jelas</a:t>
            </a:r>
            <a:r>
              <a:rPr lang="en-US" sz="2200" spc="-10" dirty="0">
                <a:latin typeface="Carlito"/>
                <a:cs typeface="Carlito"/>
              </a:rPr>
              <a:t>)</a:t>
            </a:r>
            <a:endParaRPr lang="en-US" sz="2200" dirty="0">
              <a:latin typeface="Carlito"/>
              <a:cs typeface="Carli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7509" y="1777673"/>
            <a:ext cx="8285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-15" dirty="0" err="1">
                <a:latin typeface="Carlito"/>
                <a:cs typeface="Carlito"/>
              </a:rPr>
              <a:t>Kriteria</a:t>
            </a:r>
            <a:r>
              <a:rPr lang="en-US" sz="2800" spc="-15" dirty="0">
                <a:latin typeface="Carlito"/>
                <a:cs typeface="Carlito"/>
              </a:rPr>
              <a:t> </a:t>
            </a:r>
            <a:r>
              <a:rPr lang="en-US" sz="2800" spc="-15" dirty="0" err="1">
                <a:latin typeface="Carlito"/>
                <a:cs typeface="Carlito"/>
              </a:rPr>
              <a:t>Evaluasi</a:t>
            </a:r>
            <a:r>
              <a:rPr lang="en-US" sz="2800" spc="-15" dirty="0">
                <a:latin typeface="Carlito"/>
                <a:cs typeface="Carlito"/>
              </a:rPr>
              <a:t> yang </a:t>
            </a:r>
            <a:r>
              <a:rPr lang="en-US" sz="2800" spc="-15" dirty="0" err="1">
                <a:latin typeface="Carlito"/>
                <a:cs typeface="Carlito"/>
              </a:rPr>
              <a:t>dicari</a:t>
            </a:r>
            <a:r>
              <a:rPr lang="en-US" sz="2800" spc="-15" dirty="0">
                <a:latin typeface="Carlito"/>
                <a:cs typeface="Carlito"/>
              </a:rPr>
              <a:t> </a:t>
            </a:r>
            <a:r>
              <a:rPr lang="en-US" sz="2800" spc="-15" dirty="0" err="1">
                <a:latin typeface="Carlito"/>
                <a:cs typeface="Carlito"/>
              </a:rPr>
              <a:t>pada</a:t>
            </a:r>
            <a:r>
              <a:rPr lang="en-US" sz="2800" spc="-15" dirty="0">
                <a:latin typeface="Carlito"/>
                <a:cs typeface="Carlito"/>
              </a:rPr>
              <a:t> </a:t>
            </a:r>
            <a:r>
              <a:rPr lang="en-US" sz="2800" spc="-15" dirty="0" err="1">
                <a:latin typeface="Carlito"/>
                <a:cs typeface="Carlito"/>
              </a:rPr>
              <a:t>pengolahan</a:t>
            </a:r>
            <a:r>
              <a:rPr lang="en-US" sz="2800" spc="-15" dirty="0">
                <a:latin typeface="Carlito"/>
                <a:cs typeface="Carlito"/>
              </a:rPr>
              <a:t> </a:t>
            </a:r>
            <a:r>
              <a:rPr lang="en-US" sz="2800" spc="-15" dirty="0" err="1" smtClean="0">
                <a:latin typeface="Carlito"/>
                <a:cs typeface="Carlito"/>
              </a:rPr>
              <a:t>citra</a:t>
            </a:r>
            <a:r>
              <a:rPr lang="en-US" sz="2800" spc="-15" dirty="0" smtClean="0">
                <a:latin typeface="Carlito"/>
                <a:cs typeface="Carlito"/>
              </a:rPr>
              <a:t>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559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Hasil</a:t>
            </a:r>
            <a:r>
              <a:rPr lang="en-US" b="1" dirty="0" smtClean="0"/>
              <a:t> </a:t>
            </a:r>
            <a:r>
              <a:rPr lang="en-US" b="1" dirty="0" err="1" smtClean="0"/>
              <a:t>Klasifikasi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609600" y="1451753"/>
            <a:ext cx="30690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92929"/>
                </a:solidFill>
                <a:latin typeface="charter"/>
              </a:rPr>
              <a:t>True Positive </a:t>
            </a:r>
            <a:r>
              <a:rPr lang="en-US" sz="2400" b="1" dirty="0">
                <a:solidFill>
                  <a:srgbClr val="292929"/>
                </a:solidFill>
                <a:latin typeface="charter"/>
              </a:rPr>
              <a:t>(TP)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992861" y="1877657"/>
            <a:ext cx="103609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positif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benar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.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Contohnya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1)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dari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model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dibuat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memprediksi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tersebut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1).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2567667"/>
            <a:ext cx="32039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92929"/>
                </a:solidFill>
                <a:latin typeface="charter"/>
              </a:rPr>
              <a:t>True Negative</a:t>
            </a:r>
            <a:r>
              <a:rPr lang="en-US" sz="2400" b="1" dirty="0">
                <a:solidFill>
                  <a:srgbClr val="292929"/>
                </a:solidFill>
                <a:latin typeface="charter"/>
              </a:rPr>
              <a:t> (TN)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992861" y="3075845"/>
            <a:ext cx="10043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negatif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benar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.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Contohnya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tidak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2)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dari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model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dibuat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memprediksi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tersebut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tidak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 smtClean="0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 smtClean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 smtClean="0">
                <a:solidFill>
                  <a:srgbClr val="292929"/>
                </a:solidFill>
                <a:latin typeface="charter"/>
              </a:rPr>
              <a:t>class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2).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4088187"/>
            <a:ext cx="3122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92929"/>
                </a:solidFill>
                <a:latin typeface="charter"/>
              </a:rPr>
              <a:t>False </a:t>
            </a:r>
            <a:r>
              <a:rPr lang="en-US" sz="2400" b="1" i="1" dirty="0" err="1">
                <a:solidFill>
                  <a:srgbClr val="292929"/>
                </a:solidFill>
                <a:latin typeface="charter"/>
              </a:rPr>
              <a:t>Postive</a:t>
            </a:r>
            <a:r>
              <a:rPr lang="en-US" sz="2400" b="1" dirty="0">
                <a:solidFill>
                  <a:srgbClr val="292929"/>
                </a:solidFill>
                <a:latin typeface="charter"/>
              </a:rPr>
              <a:t> (FP)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992861" y="4638864"/>
            <a:ext cx="105684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negatif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namun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sebagai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positif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.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Contohnya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tidak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2)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tetapi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dari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model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telah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memprediksi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tersebut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1).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5285195"/>
            <a:ext cx="3329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92929"/>
                </a:solidFill>
                <a:latin typeface="charter"/>
              </a:rPr>
              <a:t>False Negative </a:t>
            </a:r>
            <a:r>
              <a:rPr lang="en-US" sz="2400" b="1" dirty="0">
                <a:solidFill>
                  <a:srgbClr val="292929"/>
                </a:solidFill>
                <a:latin typeface="charter"/>
              </a:rPr>
              <a:t>(FN)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991731" y="5746860"/>
            <a:ext cx="99799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positif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namun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sebagai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data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negatif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.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Contohnya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1)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tetapi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dari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model yang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dibuat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memprediksi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pasien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tersebut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tidak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menderita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kanker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class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2).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88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pc="-135" dirty="0"/>
              <a:t>Confusion</a:t>
            </a:r>
            <a:r>
              <a:rPr lang="en-ID" spc="-275" dirty="0"/>
              <a:t> </a:t>
            </a:r>
            <a:r>
              <a:rPr lang="en-ID" spc="-120" dirty="0" smtClean="0"/>
              <a:t>Matrix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586A189-2288-44ED-B74C-E7E18C1B4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33" y="3069125"/>
            <a:ext cx="6461142" cy="32914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1663635"/>
            <a:ext cx="85675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rgbClr val="292929"/>
                </a:solidFill>
                <a:latin typeface="charter"/>
              </a:rPr>
              <a:t>Pada</a:t>
            </a:r>
            <a:r>
              <a:rPr lang="en-US" sz="2400" dirty="0" smtClean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 smtClean="0">
                <a:solidFill>
                  <a:srgbClr val="292929"/>
                </a:solidFill>
                <a:latin typeface="charter"/>
              </a:rPr>
              <a:t>dasarnya</a:t>
            </a:r>
            <a:r>
              <a:rPr lang="en-US" sz="2400" dirty="0" smtClean="0">
                <a:solidFill>
                  <a:srgbClr val="292929"/>
                </a:solidFill>
                <a:latin typeface="charter"/>
              </a:rPr>
              <a:t> </a:t>
            </a:r>
            <a:r>
              <a:rPr lang="en-ID" sz="2400" spc="-135" dirty="0"/>
              <a:t>Confusion</a:t>
            </a:r>
            <a:r>
              <a:rPr lang="en-ID" sz="2400" spc="-275" dirty="0"/>
              <a:t> </a:t>
            </a:r>
            <a:r>
              <a:rPr lang="en-ID" sz="2400" spc="-120" dirty="0"/>
              <a:t>Matrix </a:t>
            </a:r>
            <a:r>
              <a:rPr lang="en-ID" sz="2400" spc="-120" dirty="0" smtClean="0"/>
              <a:t> </a:t>
            </a:r>
            <a:r>
              <a:rPr lang="en-ID" sz="2400" spc="-120" dirty="0" err="1" smtClean="0"/>
              <a:t>itu</a:t>
            </a:r>
            <a:r>
              <a:rPr lang="en-ID" sz="2400" spc="-120" dirty="0" smtClean="0"/>
              <a:t> </a:t>
            </a:r>
            <a:r>
              <a:rPr lang="en-US" sz="2400" dirty="0" err="1" smtClean="0">
                <a:solidFill>
                  <a:srgbClr val="292929"/>
                </a:solidFill>
                <a:latin typeface="charter"/>
              </a:rPr>
              <a:t>memberikan</a:t>
            </a:r>
            <a:r>
              <a:rPr lang="en-US" sz="2400" dirty="0" smtClean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informasi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perbandingan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hasil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klasifikasi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yang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dilakukan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oleh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sistem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(model)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dengan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hasil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klasifikasi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sebenarnya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72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pc="-135" dirty="0"/>
              <a:t>Confusion</a:t>
            </a:r>
            <a:r>
              <a:rPr lang="en-ID" spc="-275" dirty="0"/>
              <a:t> </a:t>
            </a:r>
            <a:r>
              <a:rPr lang="en-ID" spc="-120" dirty="0" smtClean="0"/>
              <a:t>Matrix | </a:t>
            </a:r>
            <a:r>
              <a:rPr lang="en-US" b="1" dirty="0" smtClean="0"/>
              <a:t>Accuracy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599" y="1842008"/>
            <a:ext cx="92224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92929"/>
                </a:solidFill>
                <a:latin typeface="charter"/>
              </a:rPr>
              <a:t>Accuracy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menggambarkan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seberapa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akurat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model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dapat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mengklasifikasikan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dengan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benar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.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Maka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, </a:t>
            </a:r>
            <a:r>
              <a:rPr lang="en-US" sz="2400" i="1" dirty="0">
                <a:solidFill>
                  <a:srgbClr val="292929"/>
                </a:solidFill>
                <a:latin typeface="charter"/>
              </a:rPr>
              <a:t>accuracy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rasio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prediksi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benar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(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positif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negatif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)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dengan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keseluruhan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data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64" y="4025239"/>
            <a:ext cx="5886753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2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Precision (Positive Predictive Value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599" y="1821204"/>
            <a:ext cx="101459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92929"/>
                </a:solidFill>
                <a:latin typeface="charter"/>
              </a:rPr>
              <a:t>Precision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menggambarkan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tingkat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keakuratan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antara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data yang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diminta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dengan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hasil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prediksi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yang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diberikan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oleh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model.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Maka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, </a:t>
            </a:r>
            <a:r>
              <a:rPr lang="en-US" sz="2400" i="1" dirty="0">
                <a:solidFill>
                  <a:srgbClr val="292929"/>
                </a:solidFill>
                <a:latin typeface="charter"/>
              </a:rPr>
              <a:t>precision 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merupakan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rasio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prediksi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benar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positif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dibandingkan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dengan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keseluruhan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hasil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yang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diprediksi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2400" dirty="0" err="1">
                <a:solidFill>
                  <a:srgbClr val="292929"/>
                </a:solidFill>
                <a:latin typeface="charter"/>
              </a:rPr>
              <a:t>positf</a:t>
            </a:r>
            <a:r>
              <a:rPr lang="en-US" sz="2400" dirty="0">
                <a:solidFill>
                  <a:srgbClr val="292929"/>
                </a:solidFill>
                <a:latin typeface="charter"/>
              </a:rPr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17" y="4222184"/>
            <a:ext cx="3162463" cy="12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6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Recall </a:t>
            </a:r>
            <a:r>
              <a:rPr lang="en-US" b="1" dirty="0" err="1"/>
              <a:t>atau</a:t>
            </a:r>
            <a:r>
              <a:rPr lang="en-US" b="1" dirty="0"/>
              <a:t> Sensitivity (True Positive Rate)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1910777"/>
            <a:ext cx="96660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/>
              <a:t>Recall</a:t>
            </a:r>
            <a:r>
              <a:rPr lang="en-US" sz="2400" dirty="0"/>
              <a:t> </a:t>
            </a:r>
            <a:r>
              <a:rPr lang="en-US" sz="2400" dirty="0" err="1"/>
              <a:t>menggambarkan</a:t>
            </a:r>
            <a:r>
              <a:rPr lang="en-US" sz="2400" dirty="0"/>
              <a:t> </a:t>
            </a:r>
            <a:r>
              <a:rPr lang="en-US" sz="2400" dirty="0" err="1"/>
              <a:t>keberhasilan</a:t>
            </a:r>
            <a:r>
              <a:rPr lang="en-US" sz="2400" dirty="0"/>
              <a:t> model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menemukan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. </a:t>
            </a:r>
            <a:r>
              <a:rPr lang="en-US" sz="2400" dirty="0" err="1"/>
              <a:t>Maka</a:t>
            </a:r>
            <a:r>
              <a:rPr lang="en-US" sz="2400" dirty="0"/>
              <a:t>, </a:t>
            </a:r>
            <a:r>
              <a:rPr lang="en-US" sz="2400" i="1" dirty="0"/>
              <a:t>recall</a:t>
            </a:r>
            <a:r>
              <a:rPr lang="en-US" sz="2400" dirty="0"/>
              <a:t> 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rasio</a:t>
            </a:r>
            <a:r>
              <a:rPr lang="en-US" sz="2400" dirty="0"/>
              <a:t> </a:t>
            </a:r>
            <a:r>
              <a:rPr lang="en-US" sz="2400" dirty="0" err="1"/>
              <a:t>prediksi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positif</a:t>
            </a:r>
            <a:r>
              <a:rPr lang="en-US" sz="2400" dirty="0"/>
              <a:t> </a:t>
            </a:r>
            <a:r>
              <a:rPr lang="en-US" sz="2400" dirty="0" err="1"/>
              <a:t>dibandingkan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keseluruhan</a:t>
            </a:r>
            <a:r>
              <a:rPr lang="en-US" sz="2400" dirty="0"/>
              <a:t> data yang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positif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700" y="4513096"/>
            <a:ext cx="2597283" cy="9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873beb7-5857-4685-be1f-d57550cc96c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1256</TotalTime>
  <Words>449</Words>
  <Application>Microsoft Office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Carlito</vt:lpstr>
      <vt:lpstr>charter</vt:lpstr>
      <vt:lpstr>Segoe UI</vt:lpstr>
      <vt:lpstr>Segoe UI Light</vt:lpstr>
      <vt:lpstr>WelcomeDoc</vt:lpstr>
      <vt:lpstr>Pengolahan Citra Digital</vt:lpstr>
      <vt:lpstr>Apa itu Pembelajaran Mesin (Mechine Learning) </vt:lpstr>
      <vt:lpstr>Bagaimana machine learning bekerja??</vt:lpstr>
      <vt:lpstr>Supervised learning</vt:lpstr>
      <vt:lpstr>Teknik Classification</vt:lpstr>
      <vt:lpstr>Teknik Regression</vt:lpstr>
      <vt:lpstr>Algoritma Machine Learning</vt:lpstr>
      <vt:lpstr>Pilihan Algoritma Supervised Learning</vt:lpstr>
      <vt:lpstr>Classification Performance Evaluation</vt:lpstr>
      <vt:lpstr>Hasil Klasifikasi</vt:lpstr>
      <vt:lpstr>Confusion Matrix</vt:lpstr>
      <vt:lpstr>Confusion Matrix | Accuracy</vt:lpstr>
      <vt:lpstr>Precision (Positive Predictive Value)</vt:lpstr>
      <vt:lpstr>Recall atau Sensitivity (True Positive Rate)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162</cp:revision>
  <dcterms:created xsi:type="dcterms:W3CDTF">2022-03-01T01:11:31Z</dcterms:created>
  <dcterms:modified xsi:type="dcterms:W3CDTF">2022-06-06T01:29:01Z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