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73" r:id="rId6"/>
    <p:sldId id="274" r:id="rId7"/>
    <p:sldId id="275" r:id="rId8"/>
    <p:sldId id="278" r:id="rId9"/>
    <p:sldId id="279" r:id="rId10"/>
    <p:sldId id="280" r:id="rId11"/>
    <p:sldId id="276" r:id="rId12"/>
    <p:sldId id="277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8"/>
            <p14:sldId id="279"/>
            <p14:sldId id="280"/>
            <p14:sldId id="276"/>
            <p14:sldId id="277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D2B4A6"/>
    <a:srgbClr val="734F29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03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3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8324" y="3857452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List,Array,Operation</a:t>
            </a:r>
            <a:r>
              <a:rPr lang="en-US" sz="2400" dirty="0" smtClean="0">
                <a:solidFill>
                  <a:schemeClr val="bg1"/>
                </a:solidFill>
              </a:rPr>
              <a:t> Array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/>
          <a:lstStyle/>
          <a:p>
            <a:r>
              <a:rPr lang="en-US" b="1" dirty="0" err="1" smtClean="0"/>
              <a:t>Apa</a:t>
            </a:r>
            <a:r>
              <a:rPr lang="en-US" b="1" dirty="0" smtClean="0"/>
              <a:t> </a:t>
            </a:r>
            <a:r>
              <a:rPr lang="en-US" b="1" dirty="0" err="1" smtClean="0"/>
              <a:t>itu</a:t>
            </a:r>
            <a:r>
              <a:rPr lang="en-US" b="1" dirty="0" smtClean="0"/>
              <a:t> Array </a:t>
            </a:r>
            <a:r>
              <a:rPr lang="en-US" b="1" dirty="0" err="1" smtClean="0"/>
              <a:t>dan</a:t>
            </a:r>
            <a:r>
              <a:rPr lang="en-US" b="1" dirty="0" smtClean="0"/>
              <a:t> List?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51438" y="1774479"/>
            <a:ext cx="10692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kumpulan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item 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dipesan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bersamaan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item 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disebut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68310" y="4181770"/>
            <a:ext cx="10855105" cy="157530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951423" y="4567473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1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418084" y="4567473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2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884745" y="4567473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3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351406" y="4567473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4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18067" y="4567473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5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218092" y="4970352"/>
            <a:ext cx="624689" cy="181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54307" y="5394995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2150" y="5354574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0968" y="5352425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54290" y="5326209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220951" y="5354574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018916" y="5579661"/>
            <a:ext cx="1018515" cy="9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16863" y="4784755"/>
            <a:ext cx="10230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/>
              <a:t>Data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134314" y="5352425"/>
            <a:ext cx="10230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err="1" smtClean="0"/>
              <a:t>Indek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571992" y="3643782"/>
            <a:ext cx="204608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 smtClean="0"/>
              <a:t>Array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06925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Array </a:t>
            </a:r>
            <a:r>
              <a:rPr lang="en-US" b="1" dirty="0" err="1"/>
              <a:t>dan</a:t>
            </a:r>
            <a:r>
              <a:rPr lang="en-US" b="1" dirty="0"/>
              <a:t> List?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0491" y="1883121"/>
            <a:ext cx="106649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sv-SE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 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 </a:t>
            </a:r>
            <a:r>
              <a:rPr lang="sv-S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 data 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dibangun ke dalam Python untuk </a:t>
            </a:r>
            <a:r>
              <a:rPr lang="sv-S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sekumpulan item yang diapit oleh dua kurung </a:t>
            </a:r>
            <a:r>
              <a:rPr lang="sv-SE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siku.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diubah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imana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menghapus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elemennya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diperbolehkan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duplikasi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22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cs typeface="Times New Roman" panose="02020603050405020304" pitchFamily="18" charset="0"/>
              </a:rPr>
              <a:t>Lalu</a:t>
            </a:r>
            <a:r>
              <a:rPr lang="en-US" b="1" dirty="0" smtClean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apa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bedanya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antaran</a:t>
            </a:r>
            <a:r>
              <a:rPr lang="en-US" b="1" dirty="0">
                <a:cs typeface="Times New Roman" panose="02020603050405020304" pitchFamily="18" charset="0"/>
              </a:rPr>
              <a:t> List Dan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347" y="1855960"/>
            <a:ext cx="101851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dideklarasikan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terlibih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dahulu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Sedangkang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handal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efesien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begitu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Selainitu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unggul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dibandingkan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Operasi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6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Array </a:t>
            </a:r>
            <a:r>
              <a:rPr lang="en-US" b="1" dirty="0" err="1" smtClean="0"/>
              <a:t>Satu</a:t>
            </a:r>
            <a:r>
              <a:rPr lang="en-US" b="1" dirty="0" smtClean="0"/>
              <a:t> </a:t>
            </a:r>
            <a:r>
              <a:rPr lang="en-US" b="1" dirty="0" err="1" smtClean="0"/>
              <a:t>Demensi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04935" y="1801640"/>
            <a:ext cx="9189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diminsi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disimpen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yang paling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974" y="3575188"/>
            <a:ext cx="10855105" cy="157530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25087" y="3960891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1748" y="3960891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2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58409" y="3960891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3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125070" y="3960891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4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591731" y="3960891"/>
            <a:ext cx="1466661" cy="8057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5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991756" y="4363770"/>
            <a:ext cx="624689" cy="181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27971" y="4788413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5814" y="4747992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594632" y="4745843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527954" y="4719627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994615" y="4747992"/>
            <a:ext cx="6790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792580" y="4973079"/>
            <a:ext cx="1018515" cy="9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90527" y="4178173"/>
            <a:ext cx="10230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/>
              <a:t>Data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07978" y="4745843"/>
            <a:ext cx="10230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err="1" smtClean="0"/>
              <a:t>Indek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065005" y="3016652"/>
            <a:ext cx="35670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 smtClean="0"/>
              <a:t>Array </a:t>
            </a:r>
            <a:r>
              <a:rPr lang="en-US" sz="2800" b="1" dirty="0" err="1" smtClean="0"/>
              <a:t>Satu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Dimensi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837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Array </a:t>
            </a:r>
            <a:r>
              <a:rPr lang="en-US" b="1" dirty="0" err="1" smtClean="0"/>
              <a:t>Dua</a:t>
            </a:r>
            <a:r>
              <a:rPr lang="en-US" b="1" dirty="0" smtClean="0"/>
              <a:t> </a:t>
            </a:r>
            <a:r>
              <a:rPr lang="en-US" b="1" dirty="0" err="1" smtClean="0"/>
              <a:t>Demensi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51026" y="1810693"/>
            <a:ext cx="9406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biasanya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biasanya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Citra.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diakses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menyebutkan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menyebutkan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kolom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ontoh Array 2 Dimensi Inisialisasi, input keyboard, Input Elemen, Matriks,  Penjumlahan Matriks Bahasa C++ [informatika 2] ~ Coding IsmyNR - Cara Dan  Contoh Pemrogram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23" y="3957915"/>
            <a:ext cx="7568698" cy="24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62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Array </a:t>
            </a:r>
            <a:r>
              <a:rPr lang="en-US" b="1" dirty="0" err="1" smtClean="0"/>
              <a:t>Tiga</a:t>
            </a:r>
            <a:r>
              <a:rPr lang="en-US" b="1" dirty="0" smtClean="0"/>
              <a:t> </a:t>
            </a:r>
            <a:r>
              <a:rPr lang="en-US" b="1" dirty="0" err="1" smtClean="0"/>
              <a:t>Dimensi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31683" y="2037030"/>
            <a:ext cx="9053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Array </a:t>
            </a:r>
            <a:r>
              <a:rPr lang="en-US" sz="2400" dirty="0" err="1" smtClean="0"/>
              <a:t>tiga</a:t>
            </a:r>
            <a:r>
              <a:rPr lang="en-US" sz="2400" dirty="0" smtClean="0"/>
              <a:t> </a:t>
            </a:r>
            <a:r>
              <a:rPr lang="en-US" sz="2400" dirty="0" err="1" smtClean="0"/>
              <a:t>dimensi</a:t>
            </a:r>
            <a:r>
              <a:rPr lang="en-US" sz="2400" dirty="0" smtClean="0"/>
              <a:t> </a:t>
            </a:r>
            <a:r>
              <a:rPr lang="en-US" sz="2400" dirty="0" err="1" smtClean="0"/>
              <a:t>melibatkan</a:t>
            </a:r>
            <a:r>
              <a:rPr lang="en-US" sz="2400" dirty="0" smtClean="0"/>
              <a:t> </a:t>
            </a:r>
            <a:r>
              <a:rPr lang="en-US" sz="2400" dirty="0" err="1" smtClean="0"/>
              <a:t>tiga</a:t>
            </a:r>
            <a:r>
              <a:rPr lang="en-US" sz="2400" dirty="0" smtClean="0"/>
              <a:t> </a:t>
            </a:r>
            <a:r>
              <a:rPr lang="en-US" sz="2400" dirty="0" err="1" smtClean="0"/>
              <a:t>indeks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menyatakan</a:t>
            </a:r>
            <a:r>
              <a:rPr lang="en-US" sz="2400" dirty="0" smtClean="0"/>
              <a:t> </a:t>
            </a:r>
            <a:r>
              <a:rPr lang="en-US" sz="2400" dirty="0" err="1" smtClean="0"/>
              <a:t>setiap</a:t>
            </a:r>
            <a:r>
              <a:rPr lang="en-US" sz="2400" dirty="0" smtClean="0"/>
              <a:t> </a:t>
            </a:r>
            <a:r>
              <a:rPr lang="en-US" sz="2400" dirty="0" err="1" smtClean="0"/>
              <a:t>kolom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Array </a:t>
            </a:r>
            <a:r>
              <a:rPr lang="en-US" sz="2400" dirty="0" err="1" smtClean="0"/>
              <a:t>ini</a:t>
            </a:r>
            <a:r>
              <a:rPr lang="en-US" sz="2400" dirty="0" smtClean="0"/>
              <a:t> </a:t>
            </a:r>
            <a:r>
              <a:rPr lang="en-US" sz="2400" dirty="0" err="1" smtClean="0"/>
              <a:t>biasanya</a:t>
            </a:r>
            <a:r>
              <a:rPr lang="en-US" sz="2400" dirty="0" smtClean="0"/>
              <a:t> </a:t>
            </a:r>
            <a:r>
              <a:rPr lang="en-US" sz="2400" dirty="0" err="1" smtClean="0"/>
              <a:t>digunkan</a:t>
            </a:r>
            <a:r>
              <a:rPr lang="en-US" sz="2400" dirty="0" smtClean="0"/>
              <a:t> di </a:t>
            </a:r>
            <a:r>
              <a:rPr lang="en-US" sz="2400" dirty="0" err="1" smtClean="0"/>
              <a:t>pada</a:t>
            </a:r>
            <a:r>
              <a:rPr lang="en-US" sz="2400" dirty="0" smtClean="0"/>
              <a:t> </a:t>
            </a:r>
            <a:r>
              <a:rPr lang="en-US" sz="2400" dirty="0" err="1" smtClean="0"/>
              <a:t>citra</a:t>
            </a:r>
            <a:r>
              <a:rPr lang="en-US" sz="2400" dirty="0" smtClean="0"/>
              <a:t> </a:t>
            </a:r>
            <a:r>
              <a:rPr lang="en-US" sz="2400" dirty="0" err="1" smtClean="0"/>
              <a:t>berwarna</a:t>
            </a:r>
            <a:r>
              <a:rPr lang="en-US" sz="2400" dirty="0" smtClean="0"/>
              <a:t>, yang </a:t>
            </a:r>
            <a:r>
              <a:rPr lang="en-US" sz="2400" dirty="0" err="1" smtClean="0"/>
              <a:t>mengandung</a:t>
            </a:r>
            <a:r>
              <a:rPr lang="en-US" sz="2400" dirty="0" smtClean="0"/>
              <a:t> </a:t>
            </a:r>
            <a:r>
              <a:rPr lang="en-US" sz="2400" dirty="0" err="1" smtClean="0"/>
              <a:t>komponen</a:t>
            </a:r>
            <a:r>
              <a:rPr lang="en-US" sz="2400" dirty="0" smtClean="0"/>
              <a:t> </a:t>
            </a:r>
            <a:r>
              <a:rPr lang="en-US" sz="2400" b="1" dirty="0" smtClean="0"/>
              <a:t>R,G,B</a:t>
            </a:r>
            <a:endParaRPr lang="en-US" sz="2400" b="1" dirty="0"/>
          </a:p>
        </p:txBody>
      </p:sp>
      <p:pic>
        <p:nvPicPr>
          <p:cNvPr id="5122" name="Picture 2" descr="Array Multidimensi Dimensi C++, Lengkap Contoh Program dan Penjelasan -  Materi Dos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865" y="3765978"/>
            <a:ext cx="6055102" cy="29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01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Bagaimana</a:t>
            </a:r>
            <a:r>
              <a:rPr lang="en-US" b="1" dirty="0" smtClean="0"/>
              <a:t> </a:t>
            </a:r>
            <a:r>
              <a:rPr lang="en-US" b="1" dirty="0" err="1" smtClean="0"/>
              <a:t>cara</a:t>
            </a:r>
            <a:r>
              <a:rPr lang="en-US" b="1" dirty="0" smtClean="0"/>
              <a:t> </a:t>
            </a:r>
            <a:r>
              <a:rPr lang="en-US" b="1" dirty="0" err="1" smtClean="0"/>
              <a:t>buat</a:t>
            </a:r>
            <a:r>
              <a:rPr lang="en-US" b="1" dirty="0" smtClean="0"/>
              <a:t> Array di 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68721" y="1792586"/>
            <a:ext cx="8935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Array di python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Modul</a:t>
            </a:r>
            <a:r>
              <a:rPr lang="en-US" dirty="0" smtClean="0"/>
              <a:t> array </a:t>
            </a:r>
            <a:r>
              <a:rPr lang="en-US" dirty="0" err="1" smtClean="0"/>
              <a:t>atau</a:t>
            </a:r>
            <a:r>
              <a:rPr lang="en-US" dirty="0" smtClean="0"/>
              <a:t> module </a:t>
            </a:r>
            <a:r>
              <a:rPr lang="en-US" dirty="0" err="1" smtClean="0"/>
              <a:t>Numpy</a:t>
            </a:r>
            <a:r>
              <a:rPr lang="en-US" dirty="0" smtClean="0"/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Ada </a:t>
            </a:r>
            <a:r>
              <a:rPr lang="en-US" dirty="0" err="1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tiga</a:t>
            </a:r>
            <a:r>
              <a:rPr lang="en-US" dirty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metode</a:t>
            </a:r>
            <a:r>
              <a:rPr lang="en-US" dirty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untuk</a:t>
            </a:r>
            <a:r>
              <a:rPr lang="en-US" dirty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mengimpor</a:t>
            </a:r>
            <a:r>
              <a:rPr lang="en-US" dirty="0" smtClean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 library </a:t>
            </a:r>
            <a:r>
              <a:rPr lang="en-US" b="1" dirty="0" err="1" smtClean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Numpy</a:t>
            </a:r>
            <a:r>
              <a:rPr lang="en-US" b="1" dirty="0" smtClean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99152" y="3095399"/>
            <a:ext cx="374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b="1" dirty="0" smtClean="0"/>
              <a:t>alias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924392" y="4335932"/>
            <a:ext cx="374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smtClean="0"/>
              <a:t>alias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924391" y="5596396"/>
            <a:ext cx="374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dengan</a:t>
            </a:r>
            <a:r>
              <a:rPr lang="en-US" dirty="0"/>
              <a:t> </a:t>
            </a:r>
            <a:r>
              <a:rPr lang="en-US" b="1" dirty="0" smtClean="0"/>
              <a:t>*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875" y="3095399"/>
            <a:ext cx="5277121" cy="74933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875" y="4343295"/>
            <a:ext cx="5283472" cy="7239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874" y="5596396"/>
            <a:ext cx="5277121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9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Contoh</a:t>
            </a:r>
            <a:r>
              <a:rPr lang="en-US" b="1" dirty="0" smtClean="0"/>
              <a:t> </a:t>
            </a:r>
            <a:r>
              <a:rPr lang="en-US" b="1" dirty="0" err="1" smtClean="0"/>
              <a:t>buat</a:t>
            </a:r>
            <a:r>
              <a:rPr lang="en-US" b="1" dirty="0" smtClean="0"/>
              <a:t> </a:t>
            </a:r>
            <a:r>
              <a:rPr lang="en-US" b="1" dirty="0"/>
              <a:t>Array di Python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-18106"/>
            <a:ext cx="10744200" cy="12284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99" y="2127015"/>
            <a:ext cx="6002101" cy="18796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3699" y="1656784"/>
            <a:ext cx="5377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Array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Dimensi</a:t>
            </a:r>
            <a:endParaRPr lang="en-US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752" y="4452210"/>
            <a:ext cx="5188217" cy="20638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2752" y="3958255"/>
            <a:ext cx="5377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Array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Dimensi</a:t>
            </a:r>
            <a:endParaRPr lang="en-US" sz="20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866646" y="2299580"/>
            <a:ext cx="19555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30835" y="2127015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Library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5703683" y="2688880"/>
            <a:ext cx="2118511" cy="9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30833" y="2484884"/>
            <a:ext cx="399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Membuat</a:t>
            </a:r>
            <a:r>
              <a:rPr lang="en-US" dirty="0" smtClean="0"/>
              <a:t> array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Array</a:t>
            </a:r>
            <a:endParaRPr lang="en-US" b="1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286408" y="2951430"/>
            <a:ext cx="4535786" cy="3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30834" y="2127015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Library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930833" y="2766764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Print </a:t>
            </a:r>
            <a:r>
              <a:rPr lang="en-US" dirty="0" err="1" smtClean="0"/>
              <a:t>Hasil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3286408" y="3467289"/>
            <a:ext cx="4535786" cy="280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30832" y="3296672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Hasil</a:t>
            </a:r>
            <a:r>
              <a:rPr lang="en-US" dirty="0" smtClean="0"/>
              <a:t> Array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5131807" y="4656194"/>
            <a:ext cx="19555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968843" y="5198949"/>
            <a:ext cx="2118511" cy="9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95993" y="4994953"/>
            <a:ext cx="399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Membuat</a:t>
            </a:r>
            <a:r>
              <a:rPr lang="en-US" dirty="0" smtClean="0"/>
              <a:t> array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Array</a:t>
            </a:r>
            <a:endParaRPr lang="en-US" b="1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4045391" y="5656149"/>
            <a:ext cx="3041964" cy="18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95995" y="4483629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Library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195993" y="5554773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Print </a:t>
            </a:r>
            <a:r>
              <a:rPr lang="en-US" dirty="0" err="1" smtClean="0"/>
              <a:t>Hasil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3678726" y="6167473"/>
            <a:ext cx="3423718" cy="361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95994" y="6028455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Hasil</a:t>
            </a:r>
            <a:r>
              <a:rPr lang="en-US" dirty="0" smtClean="0"/>
              <a:t>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1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buat</a:t>
            </a:r>
            <a:r>
              <a:rPr lang="en-US" b="1" dirty="0"/>
              <a:t> Array di Python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71" y="2293107"/>
            <a:ext cx="7564927" cy="236232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4662535" y="2477032"/>
            <a:ext cx="3874883" cy="46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91742" y="2323144"/>
            <a:ext cx="1702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Import Library</a:t>
            </a:r>
            <a:endParaRPr lang="en-US" sz="14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7930836" y="2710742"/>
            <a:ext cx="606582" cy="5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82683" y="2523199"/>
            <a:ext cx="339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Membuat</a:t>
            </a:r>
            <a:r>
              <a:rPr lang="en-US" sz="1600" dirty="0" smtClean="0"/>
              <a:t> Array </a:t>
            </a:r>
            <a:r>
              <a:rPr lang="en-US" sz="1600" dirty="0" err="1" smtClean="0"/>
              <a:t>tiga</a:t>
            </a:r>
            <a:r>
              <a:rPr lang="en-US" sz="1600" dirty="0" smtClean="0"/>
              <a:t> </a:t>
            </a:r>
            <a:r>
              <a:rPr lang="en-US" sz="1600" dirty="0" err="1" smtClean="0"/>
              <a:t>dimensi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8582682" y="2830976"/>
            <a:ext cx="339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Cetak</a:t>
            </a:r>
            <a:r>
              <a:rPr lang="en-US" sz="1600" dirty="0" smtClean="0"/>
              <a:t> </a:t>
            </a:r>
            <a:r>
              <a:rPr lang="en-US" sz="1600" dirty="0" err="1" smtClean="0"/>
              <a:t>Hasil</a:t>
            </a:r>
            <a:r>
              <a:rPr lang="en-US" sz="1600" dirty="0" smtClean="0"/>
              <a:t> Array</a:t>
            </a:r>
            <a:endParaRPr lang="en-US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793402" y="2964407"/>
            <a:ext cx="47334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rot="16200000" flipH="1">
            <a:off x="3331678" y="3304518"/>
            <a:ext cx="1783531" cy="176542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78178" y="5096635"/>
            <a:ext cx="485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shape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medapatkan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baris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b="1" dirty="0" smtClean="0"/>
              <a:t>Array</a:t>
            </a:r>
            <a:endParaRPr lang="en-US" b="1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390115" y="3780710"/>
            <a:ext cx="6038661" cy="39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91742" y="3556351"/>
            <a:ext cx="2009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Hasil</a:t>
            </a:r>
            <a:r>
              <a:rPr lang="en-US" dirty="0" smtClean="0"/>
              <a:t> array </a:t>
            </a:r>
            <a:r>
              <a:rPr lang="en-US" dirty="0" err="1" smtClean="0"/>
              <a:t>nya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647731" y="4655428"/>
            <a:ext cx="0" cy="7643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44440" y="5419800"/>
            <a:ext cx="67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Baris</a:t>
            </a:r>
            <a:endParaRPr lang="en-US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874067" y="4655428"/>
            <a:ext cx="217283" cy="541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69952" y="5196689"/>
            <a:ext cx="88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Kolom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30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Bagaimana</a:t>
            </a:r>
            <a:r>
              <a:rPr lang="en-US" b="1" dirty="0" smtClean="0"/>
              <a:t> </a:t>
            </a:r>
            <a:r>
              <a:rPr lang="en-US" b="1" dirty="0" err="1" smtClean="0"/>
              <a:t>untuk</a:t>
            </a:r>
            <a:r>
              <a:rPr lang="en-US" b="1" dirty="0" smtClean="0"/>
              <a:t> </a:t>
            </a:r>
            <a:r>
              <a:rPr lang="en-US" b="1" dirty="0" err="1" smtClean="0"/>
              <a:t>akses</a:t>
            </a:r>
            <a:r>
              <a:rPr lang="en-US" b="1" dirty="0" smtClean="0"/>
              <a:t> array </a:t>
            </a:r>
            <a:r>
              <a:rPr lang="en-US" b="1" dirty="0" err="1" smtClean="0"/>
              <a:t>nya</a:t>
            </a:r>
            <a:r>
              <a:rPr lang="en-US" b="1" dirty="0" smtClean="0"/>
              <a:t> ??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22630" y="1855960"/>
            <a:ext cx="88723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Mengakses</a:t>
            </a:r>
            <a:r>
              <a:rPr lang="en-US" sz="2400" dirty="0" smtClean="0"/>
              <a:t> element array </a:t>
            </a:r>
            <a:r>
              <a:rPr lang="en-US" sz="2400" dirty="0" err="1" smtClean="0"/>
              <a:t>dengan</a:t>
            </a:r>
            <a:r>
              <a:rPr lang="en-US" sz="2400" dirty="0" smtClean="0"/>
              <a:t> </a:t>
            </a:r>
            <a:r>
              <a:rPr lang="en-US" sz="2400" dirty="0" err="1" smtClean="0"/>
              <a:t>menungunakan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nilai</a:t>
            </a:r>
            <a:r>
              <a:rPr lang="en-US" sz="2400" dirty="0" smtClean="0"/>
              <a:t> </a:t>
            </a:r>
            <a:r>
              <a:rPr lang="en-US" sz="2400" b="1" dirty="0" err="1" smtClean="0"/>
              <a:t>indexs</a:t>
            </a:r>
            <a:r>
              <a:rPr lang="en-US" sz="2400" b="1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Indexs</a:t>
            </a:r>
            <a:r>
              <a:rPr lang="en-US" sz="2400" b="1" dirty="0" smtClean="0"/>
              <a:t> </a:t>
            </a:r>
            <a:r>
              <a:rPr lang="en-US" sz="2400" dirty="0" err="1" smtClean="0"/>
              <a:t>dimulai</a:t>
            </a:r>
            <a:r>
              <a:rPr lang="en-US" sz="2400" dirty="0" smtClean="0"/>
              <a:t>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b="1" dirty="0" smtClean="0"/>
              <a:t>0 </a:t>
            </a:r>
            <a:r>
              <a:rPr lang="en-US" sz="2400" dirty="0" err="1" smtClean="0"/>
              <a:t>sampai</a:t>
            </a:r>
            <a:r>
              <a:rPr lang="en-US" sz="2400" dirty="0" smtClean="0"/>
              <a:t> </a:t>
            </a:r>
            <a:r>
              <a:rPr lang="en-US" sz="2400" b="1" dirty="0" smtClean="0"/>
              <a:t>n-1 </a:t>
            </a:r>
            <a:r>
              <a:rPr lang="en-US" sz="2400" dirty="0" err="1" smtClean="0"/>
              <a:t>dimana</a:t>
            </a:r>
            <a:r>
              <a:rPr lang="en-US" sz="2400" dirty="0" smtClean="0"/>
              <a:t> </a:t>
            </a:r>
            <a:r>
              <a:rPr lang="en-US" sz="2400" b="1" dirty="0" smtClean="0"/>
              <a:t>“n”</a:t>
            </a:r>
            <a:r>
              <a:rPr lang="en-US" sz="2400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 smtClean="0"/>
              <a:t>jumlah</a:t>
            </a:r>
            <a:r>
              <a:rPr lang="en-US" sz="2400" dirty="0" smtClean="0"/>
              <a:t> element.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09" y="3617230"/>
            <a:ext cx="6249373" cy="290941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960483" y="3802455"/>
            <a:ext cx="4807390" cy="90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67873" y="3617230"/>
            <a:ext cx="194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Nama</a:t>
            </a:r>
            <a:r>
              <a:rPr lang="en-US" dirty="0" smtClean="0"/>
              <a:t> array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708618" y="5812325"/>
            <a:ext cx="14123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20958" y="5627659"/>
            <a:ext cx="106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545655" y="6274051"/>
            <a:ext cx="146666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20958" y="6043187"/>
            <a:ext cx="97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Indeks</a:t>
            </a:r>
            <a:endParaRPr lang="en-US" dirty="0"/>
          </a:p>
        </p:txBody>
      </p:sp>
      <p:cxnSp>
        <p:nvCxnSpPr>
          <p:cNvPr id="15" name="Elbow Connector 14"/>
          <p:cNvCxnSpPr/>
          <p:nvPr/>
        </p:nvCxnSpPr>
        <p:spPr>
          <a:xfrm>
            <a:off x="6708618" y="4291343"/>
            <a:ext cx="1412340" cy="464764"/>
          </a:xfrm>
          <a:prstGeom prst="bentConnector3">
            <a:avLst>
              <a:gd name="adj1" fmla="val -64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20958" y="4545552"/>
            <a:ext cx="33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Diawal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array</a:t>
            </a:r>
            <a:endParaRPr lang="en-US" dirty="0"/>
          </a:p>
        </p:txBody>
      </p:sp>
      <p:cxnSp>
        <p:nvCxnSpPr>
          <p:cNvPr id="21" name="Elbow Connector 20"/>
          <p:cNvCxnSpPr/>
          <p:nvPr/>
        </p:nvCxnSpPr>
        <p:spPr>
          <a:xfrm>
            <a:off x="6925901" y="4327665"/>
            <a:ext cx="1367073" cy="33222"/>
          </a:xfrm>
          <a:prstGeom prst="bentConnector3">
            <a:avLst>
              <a:gd name="adj1" fmla="val 3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74455" y="426852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Diberi</a:t>
            </a:r>
            <a:r>
              <a:rPr lang="en-US" dirty="0" smtClean="0"/>
              <a:t> </a:t>
            </a:r>
            <a:r>
              <a:rPr lang="en-US" dirty="0" err="1" smtClean="0"/>
              <a:t>tanda</a:t>
            </a:r>
            <a:r>
              <a:rPr lang="en-US" dirty="0" smtClean="0"/>
              <a:t> </a:t>
            </a:r>
            <a:r>
              <a:rPr lang="en-US" b="1" dirty="0" smtClean="0"/>
              <a:t>[index </a:t>
            </a:r>
            <a:r>
              <a:rPr lang="en-US" b="1" dirty="0" err="1" smtClean="0"/>
              <a:t>nya</a:t>
            </a:r>
            <a:r>
              <a:rPr lang="en-US" b="1" dirty="0" smtClean="0"/>
              <a:t>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226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Contoh</a:t>
            </a:r>
            <a:r>
              <a:rPr lang="en-US" b="1" dirty="0" smtClean="0"/>
              <a:t> </a:t>
            </a:r>
            <a:r>
              <a:rPr lang="en-US" b="1" dirty="0" err="1" smtClean="0"/>
              <a:t>Akes</a:t>
            </a:r>
            <a:r>
              <a:rPr lang="en-US" b="1" dirty="0" smtClean="0"/>
              <a:t> Array di python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20152"/>
            <a:ext cx="5664491" cy="3651438"/>
          </a:xfrm>
          <a:prstGeom prst="rect">
            <a:avLst/>
          </a:prstGeom>
        </p:spPr>
      </p:pic>
      <p:cxnSp>
        <p:nvCxnSpPr>
          <p:cNvPr id="6" name="Elbow Connector 5"/>
          <p:cNvCxnSpPr/>
          <p:nvPr/>
        </p:nvCxnSpPr>
        <p:spPr>
          <a:xfrm rot="16200000" flipH="1">
            <a:off x="964195" y="4893398"/>
            <a:ext cx="1249378" cy="733331"/>
          </a:xfrm>
          <a:prstGeom prst="bentConnector3">
            <a:avLst>
              <a:gd name="adj1" fmla="val 10072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55549" y="5616974"/>
            <a:ext cx="53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Len()</a:t>
            </a:r>
            <a:r>
              <a:rPr lang="en-US" dirty="0" smtClean="0"/>
              <a:t> </a:t>
            </a:r>
            <a:r>
              <a:rPr lang="en-US" dirty="0" err="1" smtClean="0"/>
              <a:t>digunkan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element array.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02044" y="2534970"/>
            <a:ext cx="1810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226460" y="2534970"/>
            <a:ext cx="1810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505611" y="2525917"/>
            <a:ext cx="152400" cy="3819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760652" y="2547620"/>
            <a:ext cx="1810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69224" y="2560270"/>
            <a:ext cx="1810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4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386812" y="2761307"/>
            <a:ext cx="12222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17672" y="2560270"/>
            <a:ext cx="99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Indeks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7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Basic Array </a:t>
            </a:r>
            <a:r>
              <a:rPr lang="en-US" b="1" dirty="0" err="1" smtClean="0"/>
              <a:t>Operasi</a:t>
            </a:r>
            <a:endParaRPr lang="en-US" b="1" dirty="0"/>
          </a:p>
        </p:txBody>
      </p:sp>
      <p:sp>
        <p:nvSpPr>
          <p:cNvPr id="3" name="Rounded Rectangle 2"/>
          <p:cNvSpPr/>
          <p:nvPr/>
        </p:nvSpPr>
        <p:spPr>
          <a:xfrm>
            <a:off x="4894045" y="3108959"/>
            <a:ext cx="2367815" cy="151116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OPERATIONS</a:t>
            </a:r>
            <a:endParaRPr lang="en-US" sz="24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417697" y="1946113"/>
            <a:ext cx="229081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Mencari</a:t>
            </a:r>
            <a:r>
              <a:rPr lang="en-US" b="1" dirty="0" smtClean="0"/>
              <a:t> </a:t>
            </a:r>
            <a:r>
              <a:rPr lang="en-US" b="1" dirty="0" err="1" smtClean="0"/>
              <a:t>Panjang</a:t>
            </a:r>
            <a:r>
              <a:rPr lang="en-US" b="1" dirty="0" smtClean="0"/>
              <a:t> Array</a:t>
            </a:r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158815" y="4624937"/>
            <a:ext cx="286512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Menambah</a:t>
            </a:r>
            <a:r>
              <a:rPr lang="en-US" b="1" dirty="0" smtClean="0"/>
              <a:t> / </a:t>
            </a:r>
            <a:r>
              <a:rPr lang="en-US" b="1" dirty="0" err="1" smtClean="0"/>
              <a:t>Mengubah</a:t>
            </a:r>
            <a:r>
              <a:rPr lang="en-US" b="1" dirty="0" smtClean="0"/>
              <a:t> </a:t>
            </a:r>
            <a:r>
              <a:rPr lang="en-US" b="1" dirty="0" err="1" smtClean="0"/>
              <a:t>Elemet</a:t>
            </a:r>
            <a:r>
              <a:rPr lang="en-US" b="1" dirty="0" smtClean="0"/>
              <a:t> Array</a:t>
            </a:r>
            <a:endParaRPr lang="en-US" b="1" dirty="0"/>
          </a:p>
        </p:txBody>
      </p:sp>
      <p:sp>
        <p:nvSpPr>
          <p:cNvPr id="6" name="Rounded Rectangle 5"/>
          <p:cNvSpPr/>
          <p:nvPr/>
        </p:nvSpPr>
        <p:spPr>
          <a:xfrm>
            <a:off x="4645391" y="5492402"/>
            <a:ext cx="286512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Menghapus</a:t>
            </a:r>
            <a:r>
              <a:rPr lang="en-US" b="1" dirty="0" smtClean="0"/>
              <a:t> </a:t>
            </a:r>
            <a:r>
              <a:rPr lang="en-US" b="1" dirty="0" err="1" smtClean="0"/>
              <a:t>Elemet</a:t>
            </a:r>
            <a:r>
              <a:rPr lang="en-US" b="1" dirty="0" smtClean="0"/>
              <a:t> Array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4932546" y="1469664"/>
            <a:ext cx="229081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Slicing</a:t>
            </a:r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9366985" y="1946113"/>
            <a:ext cx="229081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Array Looping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9366985" y="4624937"/>
            <a:ext cx="2290812" cy="1203157"/>
          </a:xfrm>
          <a:prstGeom prst="round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Array </a:t>
            </a:r>
            <a:r>
              <a:rPr lang="en-US" b="1" dirty="0" err="1" smtClean="0"/>
              <a:t>Concanation</a:t>
            </a:r>
            <a:endParaRPr lang="en-US" b="1" dirty="0"/>
          </a:p>
        </p:txBody>
      </p:sp>
      <p:cxnSp>
        <p:nvCxnSpPr>
          <p:cNvPr id="11" name="Straight Arrow Connector 10"/>
          <p:cNvCxnSpPr>
            <a:stCxn id="4" idx="3"/>
            <a:endCxn id="3" idx="1"/>
          </p:cNvCxnSpPr>
          <p:nvPr/>
        </p:nvCxnSpPr>
        <p:spPr>
          <a:xfrm>
            <a:off x="2708509" y="2547692"/>
            <a:ext cx="2185536" cy="1316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3" idx="1"/>
          </p:cNvCxnSpPr>
          <p:nvPr/>
        </p:nvCxnSpPr>
        <p:spPr>
          <a:xfrm flipV="1">
            <a:off x="3023937" y="3864543"/>
            <a:ext cx="1870108" cy="13619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  <a:endCxn id="3" idx="2"/>
          </p:cNvCxnSpPr>
          <p:nvPr/>
        </p:nvCxnSpPr>
        <p:spPr>
          <a:xfrm flipV="1">
            <a:off x="6077952" y="4620126"/>
            <a:ext cx="1" cy="8722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2"/>
            <a:endCxn id="3" idx="0"/>
          </p:cNvCxnSpPr>
          <p:nvPr/>
        </p:nvCxnSpPr>
        <p:spPr>
          <a:xfrm>
            <a:off x="6077952" y="2672821"/>
            <a:ext cx="1" cy="436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1"/>
            <a:endCxn id="3" idx="3"/>
          </p:cNvCxnSpPr>
          <p:nvPr/>
        </p:nvCxnSpPr>
        <p:spPr>
          <a:xfrm flipH="1">
            <a:off x="7261860" y="2547692"/>
            <a:ext cx="2105125" cy="1316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1"/>
            <a:endCxn id="3" idx="3"/>
          </p:cNvCxnSpPr>
          <p:nvPr/>
        </p:nvCxnSpPr>
        <p:spPr>
          <a:xfrm flipH="1" flipV="1">
            <a:off x="7261860" y="3864543"/>
            <a:ext cx="2105125" cy="13619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85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Mencari</a:t>
            </a:r>
            <a:r>
              <a:rPr lang="en-US" b="1" dirty="0" smtClean="0"/>
              <a:t> </a:t>
            </a:r>
            <a:r>
              <a:rPr lang="en-US" b="1" dirty="0" err="1" smtClean="0"/>
              <a:t>panjang</a:t>
            </a:r>
            <a:r>
              <a:rPr lang="en-US" b="1" dirty="0" smtClean="0"/>
              <a:t> array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35780" y="1886552"/>
            <a:ext cx="10626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benar-benar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mecari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interger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array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89" y="3331430"/>
            <a:ext cx="4957844" cy="1164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3790" y="3728969"/>
            <a:ext cx="27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89" y="5137929"/>
            <a:ext cx="4337273" cy="1536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3789" y="5536986"/>
            <a:ext cx="27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829826" y="6497053"/>
            <a:ext cx="4263993" cy="192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09582" y="6331637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Hasil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90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Menambah</a:t>
            </a:r>
            <a:r>
              <a:rPr lang="en-US" b="1" dirty="0" smtClean="0"/>
              <a:t> / </a:t>
            </a:r>
            <a:r>
              <a:rPr lang="en-US" b="1" dirty="0" err="1" smtClean="0"/>
              <a:t>Mengubah</a:t>
            </a:r>
            <a:r>
              <a:rPr lang="en-US" b="1" dirty="0" smtClean="0"/>
              <a:t> Element Array 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23624" y="1771048"/>
            <a:ext cx="1011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Ada </a:t>
            </a:r>
            <a:r>
              <a:rPr lang="en-US" sz="2400" dirty="0" err="1" smtClean="0"/>
              <a:t>Beberapa</a:t>
            </a:r>
            <a:r>
              <a:rPr lang="en-US" sz="2400" dirty="0" smtClean="0"/>
              <a:t> </a:t>
            </a:r>
            <a:r>
              <a:rPr lang="en-US" sz="2400" dirty="0" err="1" smtClean="0"/>
              <a:t>fungsi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menambahkan</a:t>
            </a:r>
            <a:r>
              <a:rPr lang="en-US" sz="2400" dirty="0" smtClean="0"/>
              <a:t> / </a:t>
            </a:r>
            <a:r>
              <a:rPr lang="en-US" sz="2400" dirty="0" err="1" smtClean="0"/>
              <a:t>mengubah</a:t>
            </a:r>
            <a:r>
              <a:rPr lang="en-US" sz="2400" dirty="0" smtClean="0"/>
              <a:t> element array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2560320"/>
            <a:ext cx="7998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append()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24" y="4723200"/>
            <a:ext cx="7194920" cy="20321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86" y="3718924"/>
            <a:ext cx="3092609" cy="742988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3128211" y="4312118"/>
            <a:ext cx="1106905" cy="9625"/>
          </a:xfrm>
          <a:prstGeom prst="straightConnector1">
            <a:avLst/>
          </a:prstGeom>
          <a:ln w="28575">
            <a:solidFill>
              <a:srgbClr val="DD46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47950" y="3876140"/>
            <a:ext cx="522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Parameter 1 </a:t>
            </a:r>
            <a:r>
              <a:rPr lang="en-US" dirty="0" err="1" smtClean="0"/>
              <a:t>berisi</a:t>
            </a:r>
            <a:r>
              <a:rPr lang="en-US" dirty="0" smtClean="0"/>
              <a:t> array yang lama </a:t>
            </a:r>
            <a:r>
              <a:rPr lang="en-US" dirty="0" err="1" smtClean="0"/>
              <a:t>dan</a:t>
            </a:r>
            <a:r>
              <a:rPr lang="en-US" dirty="0" smtClean="0"/>
              <a:t> parameter </a:t>
            </a:r>
            <a:r>
              <a:rPr lang="en-US" dirty="0" err="1" smtClean="0"/>
              <a:t>kedua</a:t>
            </a:r>
            <a:r>
              <a:rPr lang="en-US" dirty="0" smtClean="0"/>
              <a:t> </a:t>
            </a:r>
            <a:r>
              <a:rPr lang="en-US" dirty="0" err="1" smtClean="0"/>
              <a:t>berisi</a:t>
            </a:r>
            <a:r>
              <a:rPr lang="en-US" dirty="0" smtClean="0"/>
              <a:t> array </a:t>
            </a:r>
            <a:r>
              <a:rPr lang="en-US" dirty="0" err="1" smtClean="0"/>
              <a:t>baru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4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Menambah</a:t>
            </a:r>
            <a:r>
              <a:rPr lang="en-US" b="1" dirty="0"/>
              <a:t> / </a:t>
            </a:r>
            <a:r>
              <a:rPr lang="en-US" b="1" dirty="0" err="1"/>
              <a:t>Mengubah</a:t>
            </a:r>
            <a:r>
              <a:rPr lang="en-US" b="1" dirty="0"/>
              <a:t> Element Array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7023" y="1905803"/>
            <a:ext cx="8499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insert()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digunakan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ketika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Anda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ingin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menambahkan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elemen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pada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posisi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tertentu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dalam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array</a:t>
            </a:r>
            <a:r>
              <a:rPr lang="en-US" sz="900" dirty="0"/>
              <a:t> </a:t>
            </a:r>
            <a:r>
              <a:rPr lang="en-US" sz="2000" dirty="0" smtClean="0">
                <a:latin typeface="Arial" panose="020B0604020202020204" pitchFamily="34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51" y="3106132"/>
            <a:ext cx="3168813" cy="711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02493" y="3106132"/>
            <a:ext cx="50436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lama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mendefinisikan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nilai-nilai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dimasukkan</a:t>
            </a:r>
            <a:r>
              <a:rPr lang="en-US" sz="20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dimaukan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kedalam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lama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3" y="5171606"/>
            <a:ext cx="4692891" cy="13081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2792" y="5486400"/>
            <a:ext cx="268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CONTOH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82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Menghapus</a:t>
            </a:r>
            <a:r>
              <a:rPr lang="en-US" b="1" dirty="0" smtClean="0"/>
              <a:t> Element Array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09035" y="1992429"/>
            <a:ext cx="8258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elete()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menghapus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9329"/>
          <a:stretch/>
        </p:blipFill>
        <p:spPr>
          <a:xfrm>
            <a:off x="1676666" y="3089456"/>
            <a:ext cx="2664328" cy="717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7878" y="3089456"/>
            <a:ext cx="5043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 lama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mendefinisikan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20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419" y="4460832"/>
            <a:ext cx="6450050" cy="193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6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Slicing(</a:t>
            </a:r>
            <a:r>
              <a:rPr lang="en-US" b="1" dirty="0" err="1" smtClean="0"/>
              <a:t>Mengisirs</a:t>
            </a:r>
            <a:r>
              <a:rPr lang="en-US" b="1" dirty="0" smtClean="0"/>
              <a:t>) Array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45405" y="1809549"/>
            <a:ext cx="7517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r>
              <a:rPr lang="en-US" sz="24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 </a:t>
            </a:r>
            <a:r>
              <a:rPr lang="en-US" sz="2400" dirty="0" err="1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mengunkan</a:t>
            </a:r>
            <a:r>
              <a:rPr lang="en-US" sz="24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symbol “</a:t>
            </a:r>
            <a:r>
              <a:rPr lang="en-US" sz="2400" b="1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</a:t>
            </a:r>
            <a:r>
              <a:rPr lang="en-US" sz="24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mengembalikan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berbagai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elemen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yang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telah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kami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tentukan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dengan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nomor</a:t>
            </a:r>
            <a:r>
              <a:rPr lang="en-US" sz="24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400" dirty="0" err="1">
                <a:solidFill>
                  <a:srgbClr val="202124"/>
                </a:solidFill>
                <a:latin typeface="inherit"/>
              </a:rPr>
              <a:t>indeks</a:t>
            </a:r>
            <a:r>
              <a:rPr lang="en-US" sz="900" dirty="0"/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68" y="3261549"/>
            <a:ext cx="9832192" cy="25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5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</a:t>
            </a:r>
            <a:r>
              <a:rPr lang="en-US" b="1" dirty="0" smtClean="0"/>
              <a:t>KASIH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1323" y="4348340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Selemat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Belajar</a:t>
            </a:r>
            <a:r>
              <a:rPr lang="en-US" sz="2400" dirty="0" smtClean="0">
                <a:solidFill>
                  <a:schemeClr val="bg1"/>
                </a:solidFill>
              </a:rPr>
              <a:t>..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882</TotalTime>
  <Words>699</Words>
  <Application>Microsoft Office PowerPoint</Application>
  <PresentationFormat>Widescreen</PresentationFormat>
  <Paragraphs>134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inherit</vt:lpstr>
      <vt:lpstr>Segoe UI</vt:lpstr>
      <vt:lpstr>Segoe UI Light</vt:lpstr>
      <vt:lpstr>Times New Roman</vt:lpstr>
      <vt:lpstr>WelcomeDoc</vt:lpstr>
      <vt:lpstr>Pengolahan Citra Digital</vt:lpstr>
      <vt:lpstr>Apa itu Array dan List?</vt:lpstr>
      <vt:lpstr>Apa itu Array dan List?</vt:lpstr>
      <vt:lpstr>Lalu apa bedanya antaran List Dan Array?</vt:lpstr>
      <vt:lpstr>Array Satu Demensi</vt:lpstr>
      <vt:lpstr>Array Dua Demensi</vt:lpstr>
      <vt:lpstr>Array Tiga Dimensi</vt:lpstr>
      <vt:lpstr>Bagaimana cara buat Array di Python</vt:lpstr>
      <vt:lpstr>Contoh buat Array di Python</vt:lpstr>
      <vt:lpstr>Contoh buat Array di Python</vt:lpstr>
      <vt:lpstr>Bagaimana untuk akses array nya ??</vt:lpstr>
      <vt:lpstr>Contoh Akes Array di python</vt:lpstr>
      <vt:lpstr>Basic Array Operasi</vt:lpstr>
      <vt:lpstr>Mencari panjang array</vt:lpstr>
      <vt:lpstr>Menambah / Mengubah Element Array </vt:lpstr>
      <vt:lpstr>Menambah / Mengubah Element Array </vt:lpstr>
      <vt:lpstr>Menghapus Element Array</vt:lpstr>
      <vt:lpstr>Slicing(Mengisirs) Array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117</cp:revision>
  <dcterms:created xsi:type="dcterms:W3CDTF">2022-03-01T01:11:31Z</dcterms:created>
  <dcterms:modified xsi:type="dcterms:W3CDTF">2022-03-15T03:50:46Z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