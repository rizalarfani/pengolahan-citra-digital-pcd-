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5"/>
  </p:notesMasterIdLst>
  <p:sldIdLst>
    <p:sldId id="256" r:id="rId5"/>
    <p:sldId id="273" r:id="rId6"/>
    <p:sldId id="274" r:id="rId7"/>
    <p:sldId id="275" r:id="rId8"/>
    <p:sldId id="278" r:id="rId9"/>
    <p:sldId id="279" r:id="rId10"/>
    <p:sldId id="280" r:id="rId11"/>
    <p:sldId id="276" r:id="rId12"/>
    <p:sldId id="277" r:id="rId13"/>
    <p:sldId id="281" r:id="rId14"/>
    <p:sldId id="282" r:id="rId15"/>
    <p:sldId id="283" r:id="rId16"/>
    <p:sldId id="284" r:id="rId17"/>
    <p:sldId id="285" r:id="rId18"/>
    <p:sldId id="286" r:id="rId19"/>
    <p:sldId id="287" r:id="rId20"/>
    <p:sldId id="288" r:id="rId21"/>
    <p:sldId id="289" r:id="rId22"/>
    <p:sldId id="290" r:id="rId23"/>
    <p:sldId id="272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E75E278A-FF0E-49A4-B170-79828D63BBAD}">
          <p14:sldIdLst>
            <p14:sldId id="256"/>
            <p14:sldId id="273"/>
            <p14:sldId id="274"/>
            <p14:sldId id="275"/>
            <p14:sldId id="278"/>
            <p14:sldId id="279"/>
            <p14:sldId id="280"/>
            <p14:sldId id="276"/>
            <p14:sldId id="277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D24726"/>
    <a:srgbClr val="D2B4A6"/>
    <a:srgbClr val="734F29"/>
    <a:srgbClr val="AEB785"/>
    <a:srgbClr val="EFD5A2"/>
    <a:srgbClr val="3B3026"/>
    <a:srgbClr val="ECE1CA"/>
    <a:srgbClr val="79553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103" autoAdjust="0"/>
  </p:normalViewPr>
  <p:slideViewPr>
    <p:cSldViewPr snapToGrid="0">
      <p:cViewPr varScale="1">
        <p:scale>
          <a:sx n="66" d="100"/>
          <a:sy n="66" d="100"/>
        </p:scale>
        <p:origin x="668" y="4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104"/>
    </p:cViewPr>
  </p:sorterViewPr>
  <p:notesViewPr>
    <p:cSldViewPr snapToGrid="0">
      <p:cViewPr varScale="1">
        <p:scale>
          <a:sx n="53" d="100"/>
          <a:sy n="53" d="100"/>
        </p:scale>
        <p:origin x="2648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3577B-6902-467D-A26C-08A0DD5E4E03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1EA0F-A667-4B49-8422-0062BC55E2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4332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4866468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2061006"/>
            <a:ext cx="10515600" cy="2387600"/>
          </a:xfrm>
        </p:spPr>
        <p:txBody>
          <a:bodyPr anchor="b">
            <a:normAutofit/>
          </a:bodyPr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2" y="5110609"/>
            <a:ext cx="6705599" cy="1137793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600"/>
              </a:spcBef>
              <a:buNone/>
              <a:defRPr sz="2800">
                <a:solidFill>
                  <a:srgbClr val="D24726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12192000" cy="4866468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434" y="0"/>
            <a:ext cx="10749367" cy="1208868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1" y="1825625"/>
            <a:ext cx="4167753" cy="435133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Aft>
                <a:spcPts val="1200"/>
              </a:spcAft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  <a:lvl2pPr>
              <a:lnSpc>
                <a:spcPct val="150000"/>
              </a:lnSpc>
              <a:spcAft>
                <a:spcPts val="1200"/>
              </a:spcAft>
              <a:defRPr sz="1400">
                <a:solidFill>
                  <a:schemeClr val="bg1">
                    <a:lumMod val="50000"/>
                  </a:schemeClr>
                </a:solidFill>
              </a:defRPr>
            </a:lvl2pPr>
            <a:lvl3pPr>
              <a:lnSpc>
                <a:spcPct val="150000"/>
              </a:lnSpc>
              <a:spcAft>
                <a:spcPts val="1200"/>
              </a:spcAft>
              <a:defRPr sz="1200">
                <a:solidFill>
                  <a:schemeClr val="bg1">
                    <a:lumMod val="50000"/>
                  </a:schemeClr>
                </a:solidFill>
              </a:defRPr>
            </a:lvl3pPr>
            <a:lvl4pPr>
              <a:lnSpc>
                <a:spcPct val="150000"/>
              </a:lnSpc>
              <a:spcAft>
                <a:spcPts val="1200"/>
              </a:spcAft>
              <a:defRPr sz="1100">
                <a:solidFill>
                  <a:schemeClr val="bg1">
                    <a:lumMod val="50000"/>
                  </a:schemeClr>
                </a:solidFill>
              </a:defRPr>
            </a:lvl4pPr>
            <a:lvl5pPr>
              <a:lnSpc>
                <a:spcPct val="150000"/>
              </a:lnSpc>
              <a:spcAft>
                <a:spcPts val="1200"/>
              </a:spcAft>
              <a:defRPr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5656882" y="1709738"/>
            <a:ext cx="6535119" cy="357518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1" y="2402238"/>
            <a:ext cx="4508715" cy="2187227"/>
          </a:xfrm>
        </p:spPr>
        <p:txBody>
          <a:bodyPr anchor="ctr">
            <a:noAutofit/>
          </a:bodyPr>
          <a:lstStyle>
            <a:lvl1pPr algn="l">
              <a:defRPr sz="4800">
                <a:solidFill>
                  <a:srgbClr val="D24726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3308" y="2402237"/>
            <a:ext cx="5269424" cy="2187226"/>
          </a:xfrm>
        </p:spPr>
        <p:txBody>
          <a:bodyPr anchor="ctr">
            <a:normAutofit/>
          </a:bodyPr>
          <a:lstStyle>
            <a:lvl1pPr marL="0" indent="0">
              <a:lnSpc>
                <a:spcPct val="150000"/>
              </a:lnSpc>
              <a:buNone/>
              <a:defRPr sz="28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5656882" y="1709738"/>
            <a:ext cx="6535119" cy="357518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"/>
            <a:ext cx="10744200" cy="1228436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3282238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0"/>
            <a:ext cx="10737851" cy="1228436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1489075"/>
            <a:ext cx="5156200" cy="6413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1851" y="2193927"/>
            <a:ext cx="5156200" cy="3978275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9664" y="1489075"/>
            <a:ext cx="5157787" cy="6413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9664" y="2193927"/>
            <a:ext cx="5157787" cy="3978275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606029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"/>
            <a:ext cx="10744200" cy="1228436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00814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432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101850"/>
            <a:ext cx="3932237" cy="37592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1938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101850"/>
            <a:ext cx="3932237" cy="37592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095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"/>
            <a:ext cx="10744200" cy="1228436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596921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95346" y="0"/>
            <a:ext cx="2096655" cy="6858000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15419" y="365125"/>
            <a:ext cx="1819564" cy="5811838"/>
          </a:xfrm>
        </p:spPr>
        <p:txBody>
          <a:bodyPr vert="eaVert"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10095346" y="0"/>
            <a:ext cx="2096655" cy="6858000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302266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3563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77200" y="63563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2" y="1474041"/>
            <a:ext cx="10515600" cy="2387600"/>
          </a:xfrm>
        </p:spPr>
        <p:txBody>
          <a:bodyPr/>
          <a:lstStyle/>
          <a:p>
            <a:r>
              <a:rPr lang="en-US" b="1" dirty="0" err="1" smtClean="0"/>
              <a:t>Pengolahan</a:t>
            </a:r>
            <a:r>
              <a:rPr lang="en-US" b="1" dirty="0" smtClean="0"/>
              <a:t> Citra Digital</a:t>
            </a:r>
            <a:endParaRPr lang="en-US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2" y="5110609"/>
            <a:ext cx="6705599" cy="1588955"/>
          </a:xfrm>
        </p:spPr>
        <p:txBody>
          <a:bodyPr>
            <a:normAutofit/>
          </a:bodyPr>
          <a:lstStyle/>
          <a:p>
            <a:r>
              <a:rPr lang="en-US" dirty="0" err="1" smtClean="0"/>
              <a:t>Oleh</a:t>
            </a:r>
            <a:r>
              <a:rPr lang="en-US" dirty="0" smtClean="0"/>
              <a:t> :</a:t>
            </a:r>
          </a:p>
          <a:p>
            <a:r>
              <a:rPr lang="en-US" dirty="0" smtClean="0"/>
              <a:t>Very </a:t>
            </a:r>
            <a:r>
              <a:rPr lang="en-US" dirty="0" err="1" smtClean="0"/>
              <a:t>Kurnia</a:t>
            </a:r>
            <a:r>
              <a:rPr lang="en-US" dirty="0" smtClean="0"/>
              <a:t> </a:t>
            </a:r>
            <a:r>
              <a:rPr lang="en-US" dirty="0" err="1" smtClean="0"/>
              <a:t>Bakti</a:t>
            </a:r>
            <a:r>
              <a:rPr lang="en-US" dirty="0" smtClean="0"/>
              <a:t>, </a:t>
            </a:r>
            <a:r>
              <a:rPr lang="en-US" dirty="0" err="1" smtClean="0"/>
              <a:t>M.Kom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028324" y="3857452"/>
            <a:ext cx="5359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 smtClean="0">
                <a:solidFill>
                  <a:schemeClr val="bg1"/>
                </a:solidFill>
              </a:rPr>
              <a:t>List,Array,Operation</a:t>
            </a:r>
            <a:r>
              <a:rPr lang="en-US" sz="2400" dirty="0" smtClean="0">
                <a:solidFill>
                  <a:schemeClr val="bg1"/>
                </a:solidFill>
              </a:rPr>
              <a:t> Array</a:t>
            </a:r>
            <a:endParaRPr 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"/>
            <a:ext cx="10744200" cy="1228436"/>
          </a:xfrm>
        </p:spPr>
        <p:txBody>
          <a:bodyPr/>
          <a:lstStyle/>
          <a:p>
            <a:r>
              <a:rPr lang="en-US" b="1" dirty="0" err="1" smtClean="0"/>
              <a:t>Apa</a:t>
            </a:r>
            <a:r>
              <a:rPr lang="en-US" b="1" dirty="0" smtClean="0"/>
              <a:t> </a:t>
            </a:r>
            <a:r>
              <a:rPr lang="en-US" b="1" dirty="0" err="1" smtClean="0"/>
              <a:t>itu</a:t>
            </a:r>
            <a:r>
              <a:rPr lang="en-US" b="1" dirty="0" smtClean="0"/>
              <a:t> Array </a:t>
            </a:r>
            <a:r>
              <a:rPr lang="en-US" b="1" dirty="0" err="1" smtClean="0"/>
              <a:t>dan</a:t>
            </a:r>
            <a:r>
              <a:rPr lang="en-US" b="1" dirty="0" smtClean="0"/>
              <a:t> List?</a:t>
            </a:r>
            <a:endParaRPr lang="en-US" b="1" dirty="0"/>
          </a:p>
        </p:txBody>
      </p:sp>
      <p:sp>
        <p:nvSpPr>
          <p:cNvPr id="3" name="TextBox 2"/>
          <p:cNvSpPr txBox="1"/>
          <p:nvPr/>
        </p:nvSpPr>
        <p:spPr>
          <a:xfrm>
            <a:off x="751438" y="1774479"/>
            <a:ext cx="106921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merupakan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struktur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dapat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menyimpan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berbagai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macam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item yang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bersifat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unik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yang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artinya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boleh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terdapat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 yang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sama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dalam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satu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array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kumpulan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atau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rangkaian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item yang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dipesan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pada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saat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bersamaan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Setiap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item yang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disimpan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dalam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array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disebut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element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Setiap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lokasi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smtClean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element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dalam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array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memiliki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indeks</a:t>
            </a:r>
            <a:r>
              <a:rPr lang="en-US" sz="2000" b="1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smtClean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numeric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digunakan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untuk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mengidentifikasi</a:t>
            </a:r>
            <a:r>
              <a:rPr lang="en-US" sz="2000" b="1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elemen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 smtClean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tersebut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0" y="102920"/>
            <a:ext cx="65" cy="251359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52400" y="255320"/>
            <a:ext cx="65" cy="251359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0" y="102920"/>
            <a:ext cx="65" cy="251359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0" y="102920"/>
            <a:ext cx="65" cy="251359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68310" y="4181770"/>
            <a:ext cx="10855105" cy="1575303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2951423" y="4567473"/>
            <a:ext cx="1466661" cy="80575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Data 1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4418084" y="4567473"/>
            <a:ext cx="1466661" cy="80575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Data 2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5884745" y="4567473"/>
            <a:ext cx="1466661" cy="80575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Data 3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7351406" y="4567473"/>
            <a:ext cx="1466661" cy="80575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Data 4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8818067" y="4567473"/>
            <a:ext cx="1466661" cy="80575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Data 5</a:t>
            </a:r>
            <a:endParaRPr lang="en-US" dirty="0"/>
          </a:p>
        </p:txBody>
      </p:sp>
      <p:cxnSp>
        <p:nvCxnSpPr>
          <p:cNvPr id="16" name="Straight Arrow Connector 15"/>
          <p:cNvCxnSpPr/>
          <p:nvPr/>
        </p:nvCxnSpPr>
        <p:spPr>
          <a:xfrm flipV="1">
            <a:off x="2218092" y="4970352"/>
            <a:ext cx="624689" cy="181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354307" y="5394995"/>
            <a:ext cx="67901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2150" y="5354574"/>
            <a:ext cx="67901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 smtClean="0"/>
              <a:t>2</a:t>
            </a:r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4820968" y="5352425"/>
            <a:ext cx="67901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 smtClean="0"/>
              <a:t>1</a:t>
            </a:r>
            <a:endParaRPr lang="en-US" dirty="0"/>
          </a:p>
        </p:txBody>
      </p:sp>
      <p:sp>
        <p:nvSpPr>
          <p:cNvPr id="25" name="TextBox 24"/>
          <p:cNvSpPr txBox="1"/>
          <p:nvPr/>
        </p:nvSpPr>
        <p:spPr>
          <a:xfrm>
            <a:off x="7754290" y="5326209"/>
            <a:ext cx="67901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 smtClean="0"/>
              <a:t>3</a:t>
            </a:r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9220951" y="5354574"/>
            <a:ext cx="67901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 smtClean="0"/>
              <a:t>4</a:t>
            </a:r>
            <a:endParaRPr lang="en-US" dirty="0"/>
          </a:p>
        </p:txBody>
      </p:sp>
      <p:cxnSp>
        <p:nvCxnSpPr>
          <p:cNvPr id="27" name="Straight Arrow Connector 26"/>
          <p:cNvCxnSpPr/>
          <p:nvPr/>
        </p:nvCxnSpPr>
        <p:spPr>
          <a:xfrm flipV="1">
            <a:off x="2018916" y="5579661"/>
            <a:ext cx="1018515" cy="90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416863" y="4784755"/>
            <a:ext cx="102304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b="1" dirty="0" smtClean="0"/>
              <a:t>Data</a:t>
            </a:r>
            <a:endParaRPr lang="en-US" b="1" dirty="0"/>
          </a:p>
        </p:txBody>
      </p:sp>
      <p:sp>
        <p:nvSpPr>
          <p:cNvPr id="30" name="TextBox 29"/>
          <p:cNvSpPr txBox="1"/>
          <p:nvPr/>
        </p:nvSpPr>
        <p:spPr>
          <a:xfrm>
            <a:off x="1134314" y="5352425"/>
            <a:ext cx="102304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b="1" dirty="0" err="1" smtClean="0"/>
              <a:t>Indek</a:t>
            </a:r>
            <a:endParaRPr lang="en-US" b="1" dirty="0"/>
          </a:p>
        </p:txBody>
      </p:sp>
      <p:sp>
        <p:nvSpPr>
          <p:cNvPr id="31" name="TextBox 30"/>
          <p:cNvSpPr txBox="1"/>
          <p:nvPr/>
        </p:nvSpPr>
        <p:spPr>
          <a:xfrm>
            <a:off x="4571992" y="3643782"/>
            <a:ext cx="2046083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2800" b="1" dirty="0" smtClean="0"/>
              <a:t>Array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3306925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Apa</a:t>
            </a:r>
            <a:r>
              <a:rPr lang="en-US" b="1" dirty="0"/>
              <a:t> </a:t>
            </a:r>
            <a:r>
              <a:rPr lang="en-US" b="1" dirty="0" err="1"/>
              <a:t>itu</a:t>
            </a:r>
            <a:r>
              <a:rPr lang="en-US" b="1" dirty="0"/>
              <a:t> Array </a:t>
            </a:r>
            <a:r>
              <a:rPr lang="en-US" b="1" dirty="0" err="1"/>
              <a:t>dan</a:t>
            </a:r>
            <a:r>
              <a:rPr lang="en-US" b="1" dirty="0"/>
              <a:t> List?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760491" y="1883121"/>
            <a:ext cx="1066498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sv-SE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ist </a:t>
            </a:r>
            <a:r>
              <a:rPr lang="sv-SE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merupakan </a:t>
            </a:r>
            <a:r>
              <a:rPr lang="sv-SE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struktur data </a:t>
            </a:r>
            <a:r>
              <a:rPr lang="sv-SE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yang dibangun ke dalam Python untuk </a:t>
            </a:r>
            <a:r>
              <a:rPr lang="sv-SE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menyimpan</a:t>
            </a:r>
            <a:r>
              <a:rPr lang="sv-SE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sekumpulan item yang diapit oleh dua kurung </a:t>
            </a:r>
            <a:r>
              <a:rPr lang="sv-SE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siku.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List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bersifat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mutable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atau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dapat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diubah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imana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kita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dapat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menambah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atau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menghapus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elemennya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Elemen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dari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list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harus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bersifat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unik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yang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artinya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diperbolehkan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terdapat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duplikasi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5228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 smtClean="0">
                <a:cs typeface="Times New Roman" panose="02020603050405020304" pitchFamily="18" charset="0"/>
              </a:rPr>
              <a:t>Lalu</a:t>
            </a:r>
            <a:r>
              <a:rPr lang="en-US" b="1" dirty="0" smtClean="0">
                <a:cs typeface="Times New Roman" panose="02020603050405020304" pitchFamily="18" charset="0"/>
              </a:rPr>
              <a:t> </a:t>
            </a:r>
            <a:r>
              <a:rPr lang="en-US" b="1" dirty="0" err="1">
                <a:cs typeface="Times New Roman" panose="02020603050405020304" pitchFamily="18" charset="0"/>
              </a:rPr>
              <a:t>apa</a:t>
            </a:r>
            <a:r>
              <a:rPr lang="en-US" b="1" dirty="0">
                <a:cs typeface="Times New Roman" panose="02020603050405020304" pitchFamily="18" charset="0"/>
              </a:rPr>
              <a:t> </a:t>
            </a:r>
            <a:r>
              <a:rPr lang="en-US" b="1" dirty="0" err="1">
                <a:cs typeface="Times New Roman" panose="02020603050405020304" pitchFamily="18" charset="0"/>
              </a:rPr>
              <a:t>bedanya</a:t>
            </a:r>
            <a:r>
              <a:rPr lang="en-US" b="1" dirty="0">
                <a:cs typeface="Times New Roman" panose="02020603050405020304" pitchFamily="18" charset="0"/>
              </a:rPr>
              <a:t> </a:t>
            </a:r>
            <a:r>
              <a:rPr lang="en-US" b="1" dirty="0" err="1">
                <a:cs typeface="Times New Roman" panose="02020603050405020304" pitchFamily="18" charset="0"/>
              </a:rPr>
              <a:t>antaran</a:t>
            </a:r>
            <a:r>
              <a:rPr lang="en-US" b="1" dirty="0">
                <a:cs typeface="Times New Roman" panose="02020603050405020304" pitchFamily="18" charset="0"/>
              </a:rPr>
              <a:t> List Dan Array?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5347" y="1855960"/>
            <a:ext cx="10185148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Array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Harus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dideklarasikan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terlibih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dahulu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apakah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bawah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modul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array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atau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package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Sedangkang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List </a:t>
            </a:r>
            <a:r>
              <a:rPr lang="en-US" sz="28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Perlu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Array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lebih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handal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dan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efesien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dalam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menyimpan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data yang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begitu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Compact.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Selainitu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array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lebih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unggul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dibandingkan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List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untuk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Operasi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Numeric.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8265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Array </a:t>
            </a:r>
            <a:r>
              <a:rPr lang="en-US" b="1" dirty="0" err="1" smtClean="0"/>
              <a:t>Satu</a:t>
            </a:r>
            <a:r>
              <a:rPr lang="en-US" b="1" dirty="0" smtClean="0"/>
              <a:t> </a:t>
            </a:r>
            <a:r>
              <a:rPr lang="en-US" b="1" dirty="0" err="1" smtClean="0"/>
              <a:t>Demensi</a:t>
            </a:r>
            <a:endParaRPr lang="en-US" b="1" dirty="0"/>
          </a:p>
        </p:txBody>
      </p:sp>
      <p:sp>
        <p:nvSpPr>
          <p:cNvPr id="3" name="TextBox 2"/>
          <p:cNvSpPr txBox="1"/>
          <p:nvPr/>
        </p:nvSpPr>
        <p:spPr>
          <a:xfrm>
            <a:off x="1004935" y="1801640"/>
            <a:ext cx="9189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Array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satu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diminsi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artinya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data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akan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disimpen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dalam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satu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baris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array.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Array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ini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adalah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Array yang paling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sederhana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841974" y="3575188"/>
            <a:ext cx="10855105" cy="1575303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25087" y="3960891"/>
            <a:ext cx="1466661" cy="80575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Data 1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4191748" y="3960891"/>
            <a:ext cx="1466661" cy="80575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Data 2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5658409" y="3960891"/>
            <a:ext cx="1466661" cy="80575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Data 3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7125070" y="3960891"/>
            <a:ext cx="1466661" cy="80575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Data 4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8591731" y="3960891"/>
            <a:ext cx="1466661" cy="80575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Data 5</a:t>
            </a:r>
            <a:endParaRPr lang="en-US" dirty="0"/>
          </a:p>
        </p:txBody>
      </p:sp>
      <p:cxnSp>
        <p:nvCxnSpPr>
          <p:cNvPr id="10" name="Straight Arrow Connector 9"/>
          <p:cNvCxnSpPr/>
          <p:nvPr/>
        </p:nvCxnSpPr>
        <p:spPr>
          <a:xfrm flipV="1">
            <a:off x="1991756" y="4363770"/>
            <a:ext cx="624689" cy="181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127971" y="4788413"/>
            <a:ext cx="67901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5814" y="4747992"/>
            <a:ext cx="67901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 smtClean="0"/>
              <a:t>2</a:t>
            </a:r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4594632" y="4745843"/>
            <a:ext cx="67901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 smtClean="0"/>
              <a:t>1</a:t>
            </a:r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7527954" y="4719627"/>
            <a:ext cx="67901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 smtClean="0"/>
              <a:t>3</a:t>
            </a:r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8994615" y="4747992"/>
            <a:ext cx="67901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 smtClean="0"/>
              <a:t>4</a:t>
            </a:r>
            <a:endParaRPr lang="en-US" dirty="0"/>
          </a:p>
        </p:txBody>
      </p:sp>
      <p:cxnSp>
        <p:nvCxnSpPr>
          <p:cNvPr id="16" name="Straight Arrow Connector 15"/>
          <p:cNvCxnSpPr/>
          <p:nvPr/>
        </p:nvCxnSpPr>
        <p:spPr>
          <a:xfrm flipV="1">
            <a:off x="1792580" y="4973079"/>
            <a:ext cx="1018515" cy="90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90527" y="4178173"/>
            <a:ext cx="102304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b="1" dirty="0" smtClean="0"/>
              <a:t>Data</a:t>
            </a:r>
            <a:endParaRPr lang="en-US" b="1" dirty="0"/>
          </a:p>
        </p:txBody>
      </p:sp>
      <p:sp>
        <p:nvSpPr>
          <p:cNvPr id="18" name="TextBox 17"/>
          <p:cNvSpPr txBox="1"/>
          <p:nvPr/>
        </p:nvSpPr>
        <p:spPr>
          <a:xfrm>
            <a:off x="907978" y="4745843"/>
            <a:ext cx="102304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b="1" dirty="0" err="1" smtClean="0"/>
              <a:t>Indek</a:t>
            </a:r>
            <a:endParaRPr lang="en-US" b="1" dirty="0"/>
          </a:p>
        </p:txBody>
      </p:sp>
      <p:sp>
        <p:nvSpPr>
          <p:cNvPr id="19" name="TextBox 18"/>
          <p:cNvSpPr txBox="1"/>
          <p:nvPr/>
        </p:nvSpPr>
        <p:spPr>
          <a:xfrm>
            <a:off x="4065005" y="3016652"/>
            <a:ext cx="3567067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2800" b="1" dirty="0" smtClean="0"/>
              <a:t>Array </a:t>
            </a:r>
            <a:r>
              <a:rPr lang="en-US" sz="2800" b="1" dirty="0" err="1" smtClean="0"/>
              <a:t>Satu</a:t>
            </a:r>
            <a:r>
              <a:rPr lang="en-US" sz="2800" b="1" dirty="0" smtClean="0"/>
              <a:t> </a:t>
            </a:r>
            <a:r>
              <a:rPr lang="en-US" sz="2800" b="1" dirty="0" err="1" smtClean="0"/>
              <a:t>Dimensi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28378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Array </a:t>
            </a:r>
            <a:r>
              <a:rPr lang="en-US" b="1" dirty="0" err="1" smtClean="0"/>
              <a:t>Dua</a:t>
            </a:r>
            <a:r>
              <a:rPr lang="en-US" b="1" dirty="0" smtClean="0"/>
              <a:t> </a:t>
            </a:r>
            <a:r>
              <a:rPr lang="en-US" b="1" dirty="0" err="1" smtClean="0"/>
              <a:t>Demensi</a:t>
            </a:r>
            <a:endParaRPr lang="en-US" b="1" dirty="0"/>
          </a:p>
        </p:txBody>
      </p:sp>
      <p:sp>
        <p:nvSpPr>
          <p:cNvPr id="3" name="TextBox 2"/>
          <p:cNvSpPr txBox="1"/>
          <p:nvPr/>
        </p:nvSpPr>
        <p:spPr>
          <a:xfrm>
            <a:off x="851026" y="1810693"/>
            <a:ext cx="940655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Array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dua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dimensi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biasanya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digunakan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untuk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Membuat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Matriks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Array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ini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juga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biasanya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digunakan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untuk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pengolahan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Citra.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Pada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array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setiap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element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diakses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melalui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dua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indeks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Indeks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Pertama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digunakan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untuk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menyebutkan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posisi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baris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indeks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kedua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untuk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menyebutkan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posisi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kolom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Contoh Array 2 Dimensi Inisialisasi, input keyboard, Input Elemen, Matriks,  Penjumlahan Matriks Bahasa C++ [informatika 2] ~ Coding IsmyNR - Cara Dan  Contoh Pemrograma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823" y="3957915"/>
            <a:ext cx="7568698" cy="2484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1627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Array </a:t>
            </a:r>
            <a:r>
              <a:rPr lang="en-US" b="1" dirty="0" err="1" smtClean="0"/>
              <a:t>Tiga</a:t>
            </a:r>
            <a:r>
              <a:rPr lang="en-US" b="1" dirty="0" smtClean="0"/>
              <a:t> </a:t>
            </a:r>
            <a:r>
              <a:rPr lang="en-US" b="1" dirty="0" err="1" smtClean="0"/>
              <a:t>Dimensi</a:t>
            </a:r>
            <a:endParaRPr lang="en-US" b="1" dirty="0"/>
          </a:p>
        </p:txBody>
      </p:sp>
      <p:sp>
        <p:nvSpPr>
          <p:cNvPr id="3" name="TextBox 2"/>
          <p:cNvSpPr txBox="1"/>
          <p:nvPr/>
        </p:nvSpPr>
        <p:spPr>
          <a:xfrm>
            <a:off x="1131683" y="2037030"/>
            <a:ext cx="905346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Array </a:t>
            </a:r>
            <a:r>
              <a:rPr lang="en-US" sz="2400" dirty="0" err="1" smtClean="0"/>
              <a:t>tiga</a:t>
            </a:r>
            <a:r>
              <a:rPr lang="en-US" sz="2400" dirty="0" smtClean="0"/>
              <a:t> </a:t>
            </a:r>
            <a:r>
              <a:rPr lang="en-US" sz="2400" dirty="0" err="1" smtClean="0"/>
              <a:t>dimensi</a:t>
            </a:r>
            <a:r>
              <a:rPr lang="en-US" sz="2400" dirty="0" smtClean="0"/>
              <a:t> </a:t>
            </a:r>
            <a:r>
              <a:rPr lang="en-US" sz="2400" dirty="0" err="1" smtClean="0"/>
              <a:t>melibatkan</a:t>
            </a:r>
            <a:r>
              <a:rPr lang="en-US" sz="2400" dirty="0" smtClean="0"/>
              <a:t> </a:t>
            </a:r>
            <a:r>
              <a:rPr lang="en-US" sz="2400" dirty="0" err="1" smtClean="0"/>
              <a:t>tiga</a:t>
            </a:r>
            <a:r>
              <a:rPr lang="en-US" sz="2400" dirty="0" smtClean="0"/>
              <a:t> </a:t>
            </a:r>
            <a:r>
              <a:rPr lang="en-US" sz="2400" dirty="0" err="1" smtClean="0"/>
              <a:t>indeks</a:t>
            </a:r>
            <a:r>
              <a:rPr lang="en-US" sz="2400" dirty="0" smtClean="0"/>
              <a:t> </a:t>
            </a:r>
            <a:r>
              <a:rPr lang="en-US" sz="2400" dirty="0" err="1" smtClean="0"/>
              <a:t>untuk</a:t>
            </a:r>
            <a:r>
              <a:rPr lang="en-US" sz="2400" dirty="0" smtClean="0"/>
              <a:t> </a:t>
            </a:r>
            <a:r>
              <a:rPr lang="en-US" sz="2400" dirty="0" err="1" smtClean="0"/>
              <a:t>menyatakan</a:t>
            </a:r>
            <a:r>
              <a:rPr lang="en-US" sz="2400" dirty="0" smtClean="0"/>
              <a:t> </a:t>
            </a:r>
            <a:r>
              <a:rPr lang="en-US" sz="2400" dirty="0" err="1" smtClean="0"/>
              <a:t>setiap</a:t>
            </a:r>
            <a:r>
              <a:rPr lang="en-US" sz="2400" dirty="0" smtClean="0"/>
              <a:t> </a:t>
            </a:r>
            <a:r>
              <a:rPr lang="en-US" sz="2400" dirty="0" err="1" smtClean="0"/>
              <a:t>kolom</a:t>
            </a:r>
            <a:r>
              <a:rPr lang="en-US" sz="24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Array </a:t>
            </a:r>
            <a:r>
              <a:rPr lang="en-US" sz="2400" dirty="0" err="1" smtClean="0"/>
              <a:t>ini</a:t>
            </a:r>
            <a:r>
              <a:rPr lang="en-US" sz="2400" dirty="0" smtClean="0"/>
              <a:t> </a:t>
            </a:r>
            <a:r>
              <a:rPr lang="en-US" sz="2400" dirty="0" err="1" smtClean="0"/>
              <a:t>biasanya</a:t>
            </a:r>
            <a:r>
              <a:rPr lang="en-US" sz="2400" dirty="0" smtClean="0"/>
              <a:t> </a:t>
            </a:r>
            <a:r>
              <a:rPr lang="en-US" sz="2400" dirty="0" err="1" smtClean="0"/>
              <a:t>digunkan</a:t>
            </a:r>
            <a:r>
              <a:rPr lang="en-US" sz="2400" dirty="0" smtClean="0"/>
              <a:t> di </a:t>
            </a:r>
            <a:r>
              <a:rPr lang="en-US" sz="2400" dirty="0" err="1" smtClean="0"/>
              <a:t>pada</a:t>
            </a:r>
            <a:r>
              <a:rPr lang="en-US" sz="2400" dirty="0" smtClean="0"/>
              <a:t> </a:t>
            </a:r>
            <a:r>
              <a:rPr lang="en-US" sz="2400" dirty="0" err="1" smtClean="0"/>
              <a:t>citra</a:t>
            </a:r>
            <a:r>
              <a:rPr lang="en-US" sz="2400" dirty="0" smtClean="0"/>
              <a:t> </a:t>
            </a:r>
            <a:r>
              <a:rPr lang="en-US" sz="2400" dirty="0" err="1" smtClean="0"/>
              <a:t>berwarna</a:t>
            </a:r>
            <a:r>
              <a:rPr lang="en-US" sz="2400" dirty="0" smtClean="0"/>
              <a:t>, yang </a:t>
            </a:r>
            <a:r>
              <a:rPr lang="en-US" sz="2400" dirty="0" err="1" smtClean="0"/>
              <a:t>mengandung</a:t>
            </a:r>
            <a:r>
              <a:rPr lang="en-US" sz="2400" dirty="0" smtClean="0"/>
              <a:t> </a:t>
            </a:r>
            <a:r>
              <a:rPr lang="en-US" sz="2400" dirty="0" err="1" smtClean="0"/>
              <a:t>komponen</a:t>
            </a:r>
            <a:r>
              <a:rPr lang="en-US" sz="2400" dirty="0" smtClean="0"/>
              <a:t> </a:t>
            </a:r>
            <a:r>
              <a:rPr lang="en-US" sz="2400" b="1" dirty="0" smtClean="0"/>
              <a:t>R,G,B</a:t>
            </a:r>
            <a:endParaRPr lang="en-US" sz="2400" b="1" dirty="0"/>
          </a:p>
        </p:txBody>
      </p:sp>
      <p:pic>
        <p:nvPicPr>
          <p:cNvPr id="5122" name="Picture 2" descr="Array Multidimensi Dimensi C++, Lengkap Contoh Program dan Penjelasan -  Materi Dose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0865" y="3765978"/>
            <a:ext cx="6055102" cy="2919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20189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 smtClean="0"/>
              <a:t>Bagaimana</a:t>
            </a:r>
            <a:r>
              <a:rPr lang="en-US" b="1" dirty="0" smtClean="0"/>
              <a:t> </a:t>
            </a:r>
            <a:r>
              <a:rPr lang="en-US" b="1" dirty="0" err="1" smtClean="0"/>
              <a:t>cara</a:t>
            </a:r>
            <a:r>
              <a:rPr lang="en-US" b="1" dirty="0" smtClean="0"/>
              <a:t> </a:t>
            </a:r>
            <a:r>
              <a:rPr lang="en-US" b="1" dirty="0" err="1" smtClean="0"/>
              <a:t>buat</a:t>
            </a:r>
            <a:r>
              <a:rPr lang="en-US" b="1" dirty="0" smtClean="0"/>
              <a:t> Array di Python</a:t>
            </a:r>
            <a:endParaRPr lang="en-US" b="1" dirty="0"/>
          </a:p>
        </p:txBody>
      </p:sp>
      <p:sp>
        <p:nvSpPr>
          <p:cNvPr id="3" name="TextBox 2"/>
          <p:cNvSpPr txBox="1"/>
          <p:nvPr/>
        </p:nvSpPr>
        <p:spPr>
          <a:xfrm>
            <a:off x="968721" y="1792586"/>
            <a:ext cx="89357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Array di python </a:t>
            </a:r>
            <a:r>
              <a:rPr lang="en-US" dirty="0" err="1" smtClean="0"/>
              <a:t>dapat</a:t>
            </a:r>
            <a:r>
              <a:rPr lang="en-US" dirty="0" smtClean="0"/>
              <a:t> </a:t>
            </a:r>
            <a:r>
              <a:rPr lang="en-US" dirty="0" err="1" smtClean="0"/>
              <a:t>dibuat</a:t>
            </a:r>
            <a:r>
              <a:rPr lang="en-US" dirty="0" smtClean="0"/>
              <a:t> </a:t>
            </a:r>
            <a:r>
              <a:rPr lang="en-US" dirty="0" err="1" smtClean="0"/>
              <a:t>dengan</a:t>
            </a:r>
            <a:r>
              <a:rPr lang="en-US" dirty="0" smtClean="0"/>
              <a:t> </a:t>
            </a:r>
            <a:r>
              <a:rPr lang="en-US" dirty="0" err="1" smtClean="0"/>
              <a:t>menggunakan</a:t>
            </a:r>
            <a:r>
              <a:rPr lang="en-US" dirty="0" smtClean="0"/>
              <a:t> </a:t>
            </a:r>
            <a:r>
              <a:rPr lang="en-US" dirty="0" err="1" smtClean="0"/>
              <a:t>Modul</a:t>
            </a:r>
            <a:r>
              <a:rPr lang="en-US" dirty="0" smtClean="0"/>
              <a:t> array </a:t>
            </a:r>
            <a:r>
              <a:rPr lang="en-US" dirty="0" err="1" smtClean="0"/>
              <a:t>atau</a:t>
            </a:r>
            <a:r>
              <a:rPr lang="en-US" dirty="0" smtClean="0"/>
              <a:t> module </a:t>
            </a:r>
            <a:r>
              <a:rPr lang="en-US" dirty="0" err="1" smtClean="0"/>
              <a:t>Numpy</a:t>
            </a:r>
            <a:r>
              <a:rPr lang="en-US" dirty="0" smtClean="0"/>
              <a:t>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202124"/>
                </a:solidFill>
                <a:latin typeface="inherit"/>
                <a:cs typeface="Arial" panose="020B0604020202020204" pitchFamily="34" charset="0"/>
              </a:rPr>
              <a:t>Ada </a:t>
            </a:r>
            <a:r>
              <a:rPr lang="en-US" dirty="0" err="1">
                <a:solidFill>
                  <a:srgbClr val="202124"/>
                </a:solidFill>
                <a:latin typeface="inherit"/>
                <a:cs typeface="Arial" panose="020B0604020202020204" pitchFamily="34" charset="0"/>
              </a:rPr>
              <a:t>tiga</a:t>
            </a:r>
            <a:r>
              <a:rPr lang="en-US" dirty="0">
                <a:solidFill>
                  <a:srgbClr val="202124"/>
                </a:solidFill>
                <a:latin typeface="inherit"/>
                <a:cs typeface="Arial" panose="020B0604020202020204" pitchFamily="34" charset="0"/>
              </a:rPr>
              <a:t> </a:t>
            </a:r>
            <a:r>
              <a:rPr lang="en-US" dirty="0" err="1">
                <a:solidFill>
                  <a:srgbClr val="202124"/>
                </a:solidFill>
                <a:latin typeface="inherit"/>
                <a:cs typeface="Arial" panose="020B0604020202020204" pitchFamily="34" charset="0"/>
              </a:rPr>
              <a:t>metode</a:t>
            </a:r>
            <a:r>
              <a:rPr lang="en-US" dirty="0">
                <a:solidFill>
                  <a:srgbClr val="202124"/>
                </a:solidFill>
                <a:latin typeface="inherit"/>
                <a:cs typeface="Arial" panose="020B0604020202020204" pitchFamily="34" charset="0"/>
              </a:rPr>
              <a:t> </a:t>
            </a:r>
            <a:r>
              <a:rPr lang="en-US" dirty="0" err="1">
                <a:solidFill>
                  <a:srgbClr val="202124"/>
                </a:solidFill>
                <a:latin typeface="inherit"/>
                <a:cs typeface="Arial" panose="020B0604020202020204" pitchFamily="34" charset="0"/>
              </a:rPr>
              <a:t>untuk</a:t>
            </a:r>
            <a:r>
              <a:rPr lang="en-US" dirty="0">
                <a:solidFill>
                  <a:srgbClr val="202124"/>
                </a:solidFill>
                <a:latin typeface="inherit"/>
                <a:cs typeface="Arial" panose="020B0604020202020204" pitchFamily="34" charset="0"/>
              </a:rPr>
              <a:t> </a:t>
            </a:r>
            <a:r>
              <a:rPr lang="en-US" dirty="0" err="1" smtClean="0">
                <a:solidFill>
                  <a:srgbClr val="202124"/>
                </a:solidFill>
                <a:latin typeface="inherit"/>
                <a:cs typeface="Arial" panose="020B0604020202020204" pitchFamily="34" charset="0"/>
              </a:rPr>
              <a:t>mengimpor</a:t>
            </a:r>
            <a:r>
              <a:rPr lang="en-US" dirty="0" smtClean="0">
                <a:solidFill>
                  <a:srgbClr val="202124"/>
                </a:solidFill>
                <a:latin typeface="inherit"/>
                <a:cs typeface="Arial" panose="020B0604020202020204" pitchFamily="34" charset="0"/>
              </a:rPr>
              <a:t> library </a:t>
            </a:r>
            <a:r>
              <a:rPr lang="en-US" b="1" dirty="0" err="1" smtClean="0">
                <a:solidFill>
                  <a:srgbClr val="202124"/>
                </a:solidFill>
                <a:latin typeface="inherit"/>
                <a:cs typeface="Arial" panose="020B0604020202020204" pitchFamily="34" charset="0"/>
              </a:rPr>
              <a:t>Numpy</a:t>
            </a:r>
            <a:r>
              <a:rPr lang="en-US" b="1" dirty="0" smtClean="0">
                <a:solidFill>
                  <a:srgbClr val="202124"/>
                </a:solidFill>
                <a:latin typeface="inherit"/>
                <a:cs typeface="Arial" panose="020B0604020202020204" pitchFamily="34" charset="0"/>
              </a:rPr>
              <a:t>.</a:t>
            </a:r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99152" y="3095399"/>
            <a:ext cx="37481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Import </a:t>
            </a:r>
            <a:r>
              <a:rPr lang="en-US" dirty="0" err="1" smtClean="0"/>
              <a:t>tanpa</a:t>
            </a:r>
            <a:r>
              <a:rPr lang="en-US" dirty="0" smtClean="0"/>
              <a:t> </a:t>
            </a:r>
            <a:r>
              <a:rPr lang="en-US" b="1" dirty="0" smtClean="0"/>
              <a:t>alias</a:t>
            </a:r>
            <a:endParaRPr lang="en-US" b="1" dirty="0"/>
          </a:p>
        </p:txBody>
      </p:sp>
      <p:sp>
        <p:nvSpPr>
          <p:cNvPr id="9" name="TextBox 8"/>
          <p:cNvSpPr txBox="1"/>
          <p:nvPr/>
        </p:nvSpPr>
        <p:spPr>
          <a:xfrm>
            <a:off x="6924392" y="4335932"/>
            <a:ext cx="37481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Import </a:t>
            </a:r>
            <a:r>
              <a:rPr lang="en-US" dirty="0" err="1" smtClean="0"/>
              <a:t>dengan</a:t>
            </a:r>
            <a:r>
              <a:rPr lang="en-US" dirty="0" smtClean="0"/>
              <a:t> </a:t>
            </a:r>
            <a:r>
              <a:rPr lang="en-US" b="1" dirty="0" smtClean="0"/>
              <a:t>alias</a:t>
            </a:r>
            <a:endParaRPr lang="en-US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6924391" y="5596396"/>
            <a:ext cx="37481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Import </a:t>
            </a:r>
            <a:r>
              <a:rPr lang="en-US" dirty="0" err="1" smtClean="0"/>
              <a:t>dengan</a:t>
            </a:r>
            <a:r>
              <a:rPr lang="en-US" dirty="0"/>
              <a:t> </a:t>
            </a:r>
            <a:r>
              <a:rPr lang="en-US" b="1" dirty="0" smtClean="0"/>
              <a:t>*</a:t>
            </a:r>
            <a:endParaRPr lang="en-US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875" y="3095399"/>
            <a:ext cx="5277121" cy="74933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9875" y="4343295"/>
            <a:ext cx="5283472" cy="723937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9874" y="5596396"/>
            <a:ext cx="5277121" cy="749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6950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 smtClean="0"/>
              <a:t>Contoh</a:t>
            </a:r>
            <a:r>
              <a:rPr lang="en-US" b="1" dirty="0" smtClean="0"/>
              <a:t> </a:t>
            </a:r>
            <a:r>
              <a:rPr lang="en-US" b="1" dirty="0" err="1" smtClean="0"/>
              <a:t>buat</a:t>
            </a:r>
            <a:r>
              <a:rPr lang="en-US" b="1" dirty="0" smtClean="0"/>
              <a:t> </a:t>
            </a:r>
            <a:r>
              <a:rPr lang="en-US" b="1" dirty="0"/>
              <a:t>Array di Python</a:t>
            </a:r>
            <a:endParaRPr lang="en-US" dirty="0"/>
          </a:p>
        </p:txBody>
      </p:sp>
      <p:sp>
        <p:nvSpPr>
          <p:cNvPr id="3" name="Title 1"/>
          <p:cNvSpPr txBox="1">
            <a:spLocks/>
          </p:cNvSpPr>
          <p:nvPr/>
        </p:nvSpPr>
        <p:spPr>
          <a:xfrm>
            <a:off x="609600" y="-18106"/>
            <a:ext cx="10744200" cy="12284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3699" y="2127015"/>
            <a:ext cx="6002101" cy="18796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03699" y="1656784"/>
            <a:ext cx="53777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/>
              <a:t>Array </a:t>
            </a:r>
            <a:r>
              <a:rPr lang="en-US" sz="2000" dirty="0" err="1" smtClean="0"/>
              <a:t>Satu</a:t>
            </a:r>
            <a:r>
              <a:rPr lang="en-US" sz="2000" dirty="0" smtClean="0"/>
              <a:t> </a:t>
            </a:r>
            <a:r>
              <a:rPr lang="en-US" sz="2000" dirty="0" err="1" smtClean="0"/>
              <a:t>Dimensi</a:t>
            </a:r>
            <a:endParaRPr lang="en-US" sz="2000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752" y="4452210"/>
            <a:ext cx="5188217" cy="20638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12752" y="3958255"/>
            <a:ext cx="53777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/>
              <a:t>Array </a:t>
            </a:r>
            <a:r>
              <a:rPr lang="en-US" sz="2000" dirty="0" err="1" smtClean="0"/>
              <a:t>Dua</a:t>
            </a:r>
            <a:r>
              <a:rPr lang="en-US" sz="2000" dirty="0" smtClean="0"/>
              <a:t> </a:t>
            </a:r>
            <a:r>
              <a:rPr lang="en-US" sz="2000" dirty="0" err="1" smtClean="0"/>
              <a:t>Dimensi</a:t>
            </a:r>
            <a:endParaRPr lang="en-US" sz="2000" dirty="0"/>
          </a:p>
        </p:txBody>
      </p:sp>
      <p:cxnSp>
        <p:nvCxnSpPr>
          <p:cNvPr id="18" name="Straight Arrow Connector 17"/>
          <p:cNvCxnSpPr/>
          <p:nvPr/>
        </p:nvCxnSpPr>
        <p:spPr>
          <a:xfrm>
            <a:off x="5866646" y="2299580"/>
            <a:ext cx="195554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930835" y="2127015"/>
            <a:ext cx="2254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Import Library</a:t>
            </a:r>
            <a:endParaRPr lang="en-US" dirty="0"/>
          </a:p>
        </p:txBody>
      </p:sp>
      <p:cxnSp>
        <p:nvCxnSpPr>
          <p:cNvPr id="21" name="Straight Arrow Connector 20"/>
          <p:cNvCxnSpPr/>
          <p:nvPr/>
        </p:nvCxnSpPr>
        <p:spPr>
          <a:xfrm flipV="1">
            <a:off x="5703683" y="2688880"/>
            <a:ext cx="2118511" cy="905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930833" y="2484884"/>
            <a:ext cx="3992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Membuat</a:t>
            </a:r>
            <a:r>
              <a:rPr lang="en-US" dirty="0" smtClean="0"/>
              <a:t> array </a:t>
            </a:r>
            <a:r>
              <a:rPr lang="en-US" dirty="0" err="1" smtClean="0"/>
              <a:t>dengan</a:t>
            </a:r>
            <a:r>
              <a:rPr lang="en-US" dirty="0" smtClean="0"/>
              <a:t> </a:t>
            </a:r>
            <a:r>
              <a:rPr lang="en-US" dirty="0" err="1" smtClean="0"/>
              <a:t>fungsi</a:t>
            </a:r>
            <a:r>
              <a:rPr lang="en-US" dirty="0" smtClean="0"/>
              <a:t> </a:t>
            </a:r>
            <a:r>
              <a:rPr lang="en-US" b="1" dirty="0" smtClean="0"/>
              <a:t>Array</a:t>
            </a:r>
            <a:endParaRPr lang="en-US" b="1" dirty="0"/>
          </a:p>
        </p:txBody>
      </p:sp>
      <p:cxnSp>
        <p:nvCxnSpPr>
          <p:cNvPr id="24" name="Straight Arrow Connector 23"/>
          <p:cNvCxnSpPr/>
          <p:nvPr/>
        </p:nvCxnSpPr>
        <p:spPr>
          <a:xfrm flipV="1">
            <a:off x="3286408" y="2951430"/>
            <a:ext cx="4535786" cy="3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930834" y="2127015"/>
            <a:ext cx="2254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Import Library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7930833" y="2766764"/>
            <a:ext cx="2254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Print </a:t>
            </a:r>
            <a:r>
              <a:rPr lang="en-US" dirty="0" err="1" smtClean="0"/>
              <a:t>Hasil</a:t>
            </a:r>
            <a:endParaRPr lang="en-US" dirty="0"/>
          </a:p>
        </p:txBody>
      </p:sp>
      <p:cxnSp>
        <p:nvCxnSpPr>
          <p:cNvPr id="30" name="Straight Arrow Connector 29"/>
          <p:cNvCxnSpPr/>
          <p:nvPr/>
        </p:nvCxnSpPr>
        <p:spPr>
          <a:xfrm flipV="1">
            <a:off x="3286408" y="3467289"/>
            <a:ext cx="4535786" cy="280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930832" y="3296672"/>
            <a:ext cx="2254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Hasil</a:t>
            </a:r>
            <a:r>
              <a:rPr lang="en-US" dirty="0" smtClean="0"/>
              <a:t> Array</a:t>
            </a:r>
            <a:endParaRPr lang="en-US" dirty="0"/>
          </a:p>
        </p:txBody>
      </p:sp>
      <p:cxnSp>
        <p:nvCxnSpPr>
          <p:cNvPr id="35" name="Straight Arrow Connector 34"/>
          <p:cNvCxnSpPr/>
          <p:nvPr/>
        </p:nvCxnSpPr>
        <p:spPr>
          <a:xfrm>
            <a:off x="5131807" y="4656194"/>
            <a:ext cx="195554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4968843" y="5198949"/>
            <a:ext cx="2118511" cy="905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195993" y="4994953"/>
            <a:ext cx="3992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Membuat</a:t>
            </a:r>
            <a:r>
              <a:rPr lang="en-US" dirty="0" smtClean="0"/>
              <a:t> array </a:t>
            </a:r>
            <a:r>
              <a:rPr lang="en-US" dirty="0" err="1" smtClean="0"/>
              <a:t>dengan</a:t>
            </a:r>
            <a:r>
              <a:rPr lang="en-US" dirty="0" smtClean="0"/>
              <a:t> </a:t>
            </a:r>
            <a:r>
              <a:rPr lang="en-US" dirty="0" err="1" smtClean="0"/>
              <a:t>fungsi</a:t>
            </a:r>
            <a:r>
              <a:rPr lang="en-US" dirty="0" smtClean="0"/>
              <a:t> </a:t>
            </a:r>
            <a:r>
              <a:rPr lang="en-US" b="1" dirty="0" smtClean="0"/>
              <a:t>Array</a:t>
            </a:r>
            <a:endParaRPr lang="en-US" b="1" dirty="0"/>
          </a:p>
        </p:txBody>
      </p:sp>
      <p:cxnSp>
        <p:nvCxnSpPr>
          <p:cNvPr id="38" name="Straight Arrow Connector 37"/>
          <p:cNvCxnSpPr/>
          <p:nvPr/>
        </p:nvCxnSpPr>
        <p:spPr>
          <a:xfrm flipV="1">
            <a:off x="4045391" y="5656149"/>
            <a:ext cx="3041964" cy="18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195995" y="4483629"/>
            <a:ext cx="2254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Import Library</a:t>
            </a:r>
            <a:endParaRPr lang="en-US" dirty="0"/>
          </a:p>
        </p:txBody>
      </p:sp>
      <p:sp>
        <p:nvSpPr>
          <p:cNvPr id="40" name="TextBox 39"/>
          <p:cNvSpPr txBox="1"/>
          <p:nvPr/>
        </p:nvSpPr>
        <p:spPr>
          <a:xfrm>
            <a:off x="7195993" y="5554773"/>
            <a:ext cx="2254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Print </a:t>
            </a:r>
            <a:r>
              <a:rPr lang="en-US" dirty="0" err="1" smtClean="0"/>
              <a:t>Hasil</a:t>
            </a:r>
            <a:endParaRPr lang="en-US" dirty="0"/>
          </a:p>
        </p:txBody>
      </p:sp>
      <p:cxnSp>
        <p:nvCxnSpPr>
          <p:cNvPr id="41" name="Straight Arrow Connector 40"/>
          <p:cNvCxnSpPr/>
          <p:nvPr/>
        </p:nvCxnSpPr>
        <p:spPr>
          <a:xfrm flipV="1">
            <a:off x="3678726" y="6167473"/>
            <a:ext cx="3423718" cy="361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195994" y="6028455"/>
            <a:ext cx="2254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Hasil</a:t>
            </a:r>
            <a:r>
              <a:rPr lang="en-US" dirty="0" smtClean="0"/>
              <a:t> Array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617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Contoh</a:t>
            </a:r>
            <a:r>
              <a:rPr lang="en-US" b="1" dirty="0"/>
              <a:t> </a:t>
            </a:r>
            <a:r>
              <a:rPr lang="en-US" b="1" dirty="0" err="1"/>
              <a:t>buat</a:t>
            </a:r>
            <a:r>
              <a:rPr lang="en-US" b="1" dirty="0"/>
              <a:t> Array di Python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71" y="2293107"/>
            <a:ext cx="7564927" cy="2362321"/>
          </a:xfrm>
          <a:prstGeom prst="rect">
            <a:avLst/>
          </a:prstGeom>
        </p:spPr>
      </p:pic>
      <p:cxnSp>
        <p:nvCxnSpPr>
          <p:cNvPr id="5" name="Straight Arrow Connector 4"/>
          <p:cNvCxnSpPr/>
          <p:nvPr/>
        </p:nvCxnSpPr>
        <p:spPr>
          <a:xfrm flipV="1">
            <a:off x="4662535" y="2477032"/>
            <a:ext cx="3874883" cy="461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591742" y="2323144"/>
            <a:ext cx="17020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Import Library</a:t>
            </a:r>
            <a:endParaRPr lang="en-US" sz="1400" dirty="0"/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7930836" y="2710742"/>
            <a:ext cx="606582" cy="52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582683" y="2523199"/>
            <a:ext cx="33950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 smtClean="0"/>
              <a:t>Membuat</a:t>
            </a:r>
            <a:r>
              <a:rPr lang="en-US" sz="1600" dirty="0" smtClean="0"/>
              <a:t> Array </a:t>
            </a:r>
            <a:r>
              <a:rPr lang="en-US" sz="1600" dirty="0" err="1" smtClean="0"/>
              <a:t>tiga</a:t>
            </a:r>
            <a:r>
              <a:rPr lang="en-US" sz="1600" dirty="0" smtClean="0"/>
              <a:t> </a:t>
            </a:r>
            <a:r>
              <a:rPr lang="en-US" sz="1600" dirty="0" err="1" smtClean="0"/>
              <a:t>dimensi</a:t>
            </a:r>
            <a:endParaRPr lang="en-US" sz="1600" dirty="0"/>
          </a:p>
        </p:txBody>
      </p:sp>
      <p:sp>
        <p:nvSpPr>
          <p:cNvPr id="15" name="TextBox 14"/>
          <p:cNvSpPr txBox="1"/>
          <p:nvPr/>
        </p:nvSpPr>
        <p:spPr>
          <a:xfrm>
            <a:off x="8582682" y="2830976"/>
            <a:ext cx="33950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 smtClean="0"/>
              <a:t>Cetak</a:t>
            </a:r>
            <a:r>
              <a:rPr lang="en-US" sz="1600" dirty="0" smtClean="0"/>
              <a:t> </a:t>
            </a:r>
            <a:r>
              <a:rPr lang="en-US" sz="1600" dirty="0" err="1" smtClean="0"/>
              <a:t>Hasil</a:t>
            </a:r>
            <a:r>
              <a:rPr lang="en-US" sz="1600" dirty="0" smtClean="0"/>
              <a:t> Array</a:t>
            </a:r>
            <a:endParaRPr lang="en-US" sz="1600" dirty="0"/>
          </a:p>
        </p:txBody>
      </p:sp>
      <p:cxnSp>
        <p:nvCxnSpPr>
          <p:cNvPr id="16" name="Straight Arrow Connector 15"/>
          <p:cNvCxnSpPr/>
          <p:nvPr/>
        </p:nvCxnSpPr>
        <p:spPr>
          <a:xfrm>
            <a:off x="3793402" y="2964407"/>
            <a:ext cx="473345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/>
          <p:nvPr/>
        </p:nvCxnSpPr>
        <p:spPr>
          <a:xfrm rot="16200000" flipH="1">
            <a:off x="3331678" y="3304518"/>
            <a:ext cx="1783531" cy="1765422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078178" y="5096635"/>
            <a:ext cx="4852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Fungsi</a:t>
            </a:r>
            <a:r>
              <a:rPr lang="en-US" dirty="0" smtClean="0"/>
              <a:t> </a:t>
            </a:r>
            <a:r>
              <a:rPr lang="en-US" b="1" dirty="0" smtClean="0"/>
              <a:t>shape </a:t>
            </a:r>
            <a:r>
              <a:rPr lang="en-US" dirty="0" err="1" smtClean="0"/>
              <a:t>digunakan</a:t>
            </a:r>
            <a:r>
              <a:rPr lang="en-US" dirty="0" smtClean="0"/>
              <a:t> </a:t>
            </a:r>
            <a:r>
              <a:rPr lang="en-US" dirty="0" err="1" smtClean="0"/>
              <a:t>untuk</a:t>
            </a:r>
            <a:r>
              <a:rPr lang="en-US" dirty="0" smtClean="0"/>
              <a:t> </a:t>
            </a:r>
            <a:r>
              <a:rPr lang="en-US" dirty="0" err="1" smtClean="0"/>
              <a:t>medapatkan</a:t>
            </a:r>
            <a:r>
              <a:rPr lang="en-US" dirty="0" smtClean="0"/>
              <a:t> </a:t>
            </a:r>
            <a:r>
              <a:rPr lang="en-US" dirty="0" err="1" smtClean="0"/>
              <a:t>jumlah</a:t>
            </a:r>
            <a:r>
              <a:rPr lang="en-US" dirty="0" smtClean="0"/>
              <a:t> </a:t>
            </a:r>
            <a:r>
              <a:rPr lang="en-US" dirty="0" err="1" smtClean="0"/>
              <a:t>baris</a:t>
            </a:r>
            <a:r>
              <a:rPr lang="en-US" dirty="0" smtClean="0"/>
              <a:t> </a:t>
            </a:r>
            <a:r>
              <a:rPr lang="en-US" dirty="0" err="1" smtClean="0"/>
              <a:t>dan</a:t>
            </a:r>
            <a:r>
              <a:rPr lang="en-US" dirty="0" smtClean="0"/>
              <a:t> </a:t>
            </a:r>
            <a:r>
              <a:rPr lang="en-US" dirty="0" err="1" smtClean="0"/>
              <a:t>kolom</a:t>
            </a:r>
            <a:r>
              <a:rPr lang="en-US" dirty="0" smtClean="0"/>
              <a:t> </a:t>
            </a:r>
            <a:r>
              <a:rPr lang="en-US" dirty="0" err="1" smtClean="0"/>
              <a:t>pada</a:t>
            </a:r>
            <a:r>
              <a:rPr lang="en-US" dirty="0" smtClean="0"/>
              <a:t> </a:t>
            </a:r>
            <a:r>
              <a:rPr lang="en-US" b="1" dirty="0" smtClean="0"/>
              <a:t>Array</a:t>
            </a:r>
            <a:endParaRPr lang="en-US" b="1" dirty="0"/>
          </a:p>
        </p:txBody>
      </p:sp>
      <p:cxnSp>
        <p:nvCxnSpPr>
          <p:cNvPr id="24" name="Straight Arrow Connector 23"/>
          <p:cNvCxnSpPr/>
          <p:nvPr/>
        </p:nvCxnSpPr>
        <p:spPr>
          <a:xfrm flipV="1">
            <a:off x="2390115" y="3780710"/>
            <a:ext cx="6038661" cy="398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591742" y="3556351"/>
            <a:ext cx="20098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Hasil</a:t>
            </a:r>
            <a:r>
              <a:rPr lang="en-US" dirty="0" smtClean="0"/>
              <a:t> array </a:t>
            </a:r>
            <a:r>
              <a:rPr lang="en-US" dirty="0" err="1" smtClean="0"/>
              <a:t>nya</a:t>
            </a:r>
            <a:endParaRPr lang="en-US" dirty="0"/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1647731" y="4655428"/>
            <a:ext cx="0" cy="7643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344440" y="5419800"/>
            <a:ext cx="679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Baris</a:t>
            </a:r>
            <a:endParaRPr lang="en-US" dirty="0"/>
          </a:p>
        </p:txBody>
      </p:sp>
      <p:cxnSp>
        <p:nvCxnSpPr>
          <p:cNvPr id="31" name="Straight Arrow Connector 30"/>
          <p:cNvCxnSpPr/>
          <p:nvPr/>
        </p:nvCxnSpPr>
        <p:spPr>
          <a:xfrm>
            <a:off x="1874067" y="4655428"/>
            <a:ext cx="217283" cy="54126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769952" y="5196689"/>
            <a:ext cx="882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Kolom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33045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 smtClean="0"/>
              <a:t>Bagaimana</a:t>
            </a:r>
            <a:r>
              <a:rPr lang="en-US" b="1" dirty="0" smtClean="0"/>
              <a:t> </a:t>
            </a:r>
            <a:r>
              <a:rPr lang="en-US" b="1" dirty="0" err="1" smtClean="0"/>
              <a:t>untuk</a:t>
            </a:r>
            <a:r>
              <a:rPr lang="en-US" b="1" dirty="0" smtClean="0"/>
              <a:t> </a:t>
            </a:r>
            <a:r>
              <a:rPr lang="en-US" b="1" dirty="0" err="1" smtClean="0"/>
              <a:t>akses</a:t>
            </a:r>
            <a:r>
              <a:rPr lang="en-US" b="1" dirty="0" smtClean="0"/>
              <a:t> array </a:t>
            </a:r>
            <a:r>
              <a:rPr lang="en-US" b="1" dirty="0" err="1" smtClean="0"/>
              <a:t>nya</a:t>
            </a:r>
            <a:r>
              <a:rPr lang="en-US" b="1" dirty="0" smtClean="0"/>
              <a:t> ??</a:t>
            </a:r>
            <a:endParaRPr lang="en-US" b="1" dirty="0"/>
          </a:p>
        </p:txBody>
      </p:sp>
      <p:sp>
        <p:nvSpPr>
          <p:cNvPr id="3" name="TextBox 2"/>
          <p:cNvSpPr txBox="1"/>
          <p:nvPr/>
        </p:nvSpPr>
        <p:spPr>
          <a:xfrm>
            <a:off x="1122630" y="1855960"/>
            <a:ext cx="887239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 smtClean="0"/>
              <a:t>Mengakses</a:t>
            </a:r>
            <a:r>
              <a:rPr lang="en-US" sz="2400" dirty="0" smtClean="0"/>
              <a:t> element array </a:t>
            </a:r>
            <a:r>
              <a:rPr lang="en-US" sz="2400" dirty="0" err="1" smtClean="0"/>
              <a:t>dengan</a:t>
            </a:r>
            <a:r>
              <a:rPr lang="en-US" sz="2400" dirty="0" smtClean="0"/>
              <a:t> </a:t>
            </a:r>
            <a:r>
              <a:rPr lang="en-US" sz="2400" dirty="0" err="1" smtClean="0"/>
              <a:t>menungunakan</a:t>
            </a:r>
            <a:r>
              <a:rPr lang="en-US" sz="2400" dirty="0" smtClean="0"/>
              <a:t> </a:t>
            </a:r>
            <a:r>
              <a:rPr lang="en-US" sz="2400" dirty="0" err="1" smtClean="0"/>
              <a:t>nilai</a:t>
            </a:r>
            <a:r>
              <a:rPr lang="en-US" sz="2400" dirty="0" smtClean="0"/>
              <a:t> </a:t>
            </a:r>
            <a:r>
              <a:rPr lang="en-US" sz="2400" b="1" dirty="0" err="1" smtClean="0"/>
              <a:t>indexs</a:t>
            </a:r>
            <a:r>
              <a:rPr lang="en-US" sz="2400" b="1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 err="1" smtClean="0"/>
              <a:t>Indexs</a:t>
            </a:r>
            <a:r>
              <a:rPr lang="en-US" sz="2400" b="1" dirty="0" smtClean="0"/>
              <a:t> </a:t>
            </a:r>
            <a:r>
              <a:rPr lang="en-US" sz="2400" dirty="0" err="1" smtClean="0"/>
              <a:t>dimulai</a:t>
            </a:r>
            <a:r>
              <a:rPr lang="en-US" sz="2400" dirty="0" smtClean="0"/>
              <a:t> </a:t>
            </a:r>
            <a:r>
              <a:rPr lang="en-US" sz="2400" dirty="0" err="1" smtClean="0"/>
              <a:t>dari</a:t>
            </a:r>
            <a:r>
              <a:rPr lang="en-US" sz="2400" dirty="0" smtClean="0"/>
              <a:t> </a:t>
            </a:r>
            <a:r>
              <a:rPr lang="en-US" sz="2400" b="1" dirty="0" smtClean="0"/>
              <a:t>0 </a:t>
            </a:r>
            <a:r>
              <a:rPr lang="en-US" sz="2400" dirty="0" err="1" smtClean="0"/>
              <a:t>sampai</a:t>
            </a:r>
            <a:r>
              <a:rPr lang="en-US" sz="2400" dirty="0" smtClean="0"/>
              <a:t> </a:t>
            </a:r>
            <a:r>
              <a:rPr lang="en-US" sz="2400" b="1" dirty="0" smtClean="0"/>
              <a:t>n-1 </a:t>
            </a:r>
            <a:r>
              <a:rPr lang="en-US" sz="2400" dirty="0" err="1" smtClean="0"/>
              <a:t>dimana</a:t>
            </a:r>
            <a:r>
              <a:rPr lang="en-US" sz="2400" dirty="0" smtClean="0"/>
              <a:t> </a:t>
            </a:r>
            <a:r>
              <a:rPr lang="en-US" sz="2400" b="1" dirty="0" smtClean="0"/>
              <a:t>“n”</a:t>
            </a:r>
            <a:r>
              <a:rPr lang="en-US" sz="2400" dirty="0" smtClean="0"/>
              <a:t> </a:t>
            </a:r>
            <a:r>
              <a:rPr lang="en-US" sz="2400" dirty="0" err="1" smtClean="0"/>
              <a:t>adalah</a:t>
            </a:r>
            <a:r>
              <a:rPr lang="en-US" sz="2400" dirty="0" smtClean="0"/>
              <a:t> </a:t>
            </a:r>
            <a:r>
              <a:rPr lang="en-US" sz="2400" dirty="0" err="1" smtClean="0"/>
              <a:t>jumlah</a:t>
            </a:r>
            <a:r>
              <a:rPr lang="en-US" sz="2400" dirty="0" smtClean="0"/>
              <a:t> element.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109" y="3617230"/>
            <a:ext cx="6249373" cy="2909417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 flipV="1">
            <a:off x="2960483" y="3802455"/>
            <a:ext cx="4807390" cy="90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67873" y="3617230"/>
            <a:ext cx="19464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Nama</a:t>
            </a:r>
            <a:r>
              <a:rPr lang="en-US" dirty="0" smtClean="0"/>
              <a:t> array</a:t>
            </a:r>
            <a:endParaRPr lang="en-US" dirty="0"/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6708618" y="5812325"/>
            <a:ext cx="141234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120958" y="5627659"/>
            <a:ext cx="1068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Data</a:t>
            </a:r>
            <a:endParaRPr lang="en-US" dirty="0"/>
          </a:p>
        </p:txBody>
      </p:sp>
      <p:cxnSp>
        <p:nvCxnSpPr>
          <p:cNvPr id="12" name="Straight Arrow Connector 11"/>
          <p:cNvCxnSpPr/>
          <p:nvPr/>
        </p:nvCxnSpPr>
        <p:spPr>
          <a:xfrm>
            <a:off x="6545655" y="6274051"/>
            <a:ext cx="146666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20958" y="6043187"/>
            <a:ext cx="977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Indeks</a:t>
            </a:r>
            <a:endParaRPr lang="en-US" dirty="0"/>
          </a:p>
        </p:txBody>
      </p:sp>
      <p:cxnSp>
        <p:nvCxnSpPr>
          <p:cNvPr id="15" name="Elbow Connector 14"/>
          <p:cNvCxnSpPr/>
          <p:nvPr/>
        </p:nvCxnSpPr>
        <p:spPr>
          <a:xfrm>
            <a:off x="6708618" y="4291343"/>
            <a:ext cx="1412340" cy="464764"/>
          </a:xfrm>
          <a:prstGeom prst="bentConnector3">
            <a:avLst>
              <a:gd name="adj1" fmla="val -641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0958" y="4545552"/>
            <a:ext cx="33226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Diawal</a:t>
            </a:r>
            <a:r>
              <a:rPr lang="en-US" dirty="0" smtClean="0"/>
              <a:t> </a:t>
            </a:r>
            <a:r>
              <a:rPr lang="en-US" dirty="0" err="1" smtClean="0"/>
              <a:t>dengan</a:t>
            </a:r>
            <a:r>
              <a:rPr lang="en-US" dirty="0" smtClean="0"/>
              <a:t> </a:t>
            </a:r>
            <a:r>
              <a:rPr lang="en-US" dirty="0" err="1" smtClean="0"/>
              <a:t>nama</a:t>
            </a:r>
            <a:r>
              <a:rPr lang="en-US" dirty="0" smtClean="0"/>
              <a:t> array</a:t>
            </a:r>
            <a:endParaRPr lang="en-US" dirty="0"/>
          </a:p>
        </p:txBody>
      </p:sp>
      <p:cxnSp>
        <p:nvCxnSpPr>
          <p:cNvPr id="21" name="Elbow Connector 20"/>
          <p:cNvCxnSpPr/>
          <p:nvPr/>
        </p:nvCxnSpPr>
        <p:spPr>
          <a:xfrm>
            <a:off x="6925901" y="4327665"/>
            <a:ext cx="1367073" cy="33222"/>
          </a:xfrm>
          <a:prstGeom prst="bentConnector3">
            <a:avLst>
              <a:gd name="adj1" fmla="val 331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374455" y="4268523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Diberi</a:t>
            </a:r>
            <a:r>
              <a:rPr lang="en-US" dirty="0" smtClean="0"/>
              <a:t> </a:t>
            </a:r>
            <a:r>
              <a:rPr lang="en-US" dirty="0" err="1" smtClean="0"/>
              <a:t>tanda</a:t>
            </a:r>
            <a:r>
              <a:rPr lang="en-US" dirty="0" smtClean="0"/>
              <a:t> </a:t>
            </a:r>
            <a:r>
              <a:rPr lang="en-US" b="1" dirty="0" smtClean="0"/>
              <a:t>[index </a:t>
            </a:r>
            <a:r>
              <a:rPr lang="en-US" b="1" dirty="0" err="1" smtClean="0"/>
              <a:t>nya</a:t>
            </a:r>
            <a:r>
              <a:rPr lang="en-US" b="1" dirty="0" smtClean="0"/>
              <a:t>]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912263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 smtClean="0"/>
              <a:t>Contoh</a:t>
            </a:r>
            <a:r>
              <a:rPr lang="en-US" b="1" dirty="0" smtClean="0"/>
              <a:t> </a:t>
            </a:r>
            <a:r>
              <a:rPr lang="en-US" b="1" dirty="0" err="1" smtClean="0"/>
              <a:t>Akes</a:t>
            </a:r>
            <a:r>
              <a:rPr lang="en-US" b="1" dirty="0" smtClean="0"/>
              <a:t> Array di python</a:t>
            </a:r>
            <a:endParaRPr lang="en-US" b="1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920152"/>
            <a:ext cx="5664491" cy="3651438"/>
          </a:xfrm>
          <a:prstGeom prst="rect">
            <a:avLst/>
          </a:prstGeom>
        </p:spPr>
      </p:pic>
      <p:cxnSp>
        <p:nvCxnSpPr>
          <p:cNvPr id="6" name="Elbow Connector 5"/>
          <p:cNvCxnSpPr/>
          <p:nvPr/>
        </p:nvCxnSpPr>
        <p:spPr>
          <a:xfrm rot="16200000" flipH="1">
            <a:off x="964195" y="4893398"/>
            <a:ext cx="1249378" cy="733331"/>
          </a:xfrm>
          <a:prstGeom prst="bentConnector3">
            <a:avLst>
              <a:gd name="adj1" fmla="val 100725"/>
            </a:avLst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55549" y="5616974"/>
            <a:ext cx="5314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Fungsi</a:t>
            </a:r>
            <a:r>
              <a:rPr lang="en-US" dirty="0" smtClean="0"/>
              <a:t> </a:t>
            </a:r>
            <a:r>
              <a:rPr lang="en-US" b="1" dirty="0" smtClean="0"/>
              <a:t>Len()</a:t>
            </a:r>
            <a:r>
              <a:rPr lang="en-US" dirty="0" smtClean="0"/>
              <a:t> </a:t>
            </a:r>
            <a:r>
              <a:rPr lang="en-US" dirty="0" err="1" smtClean="0"/>
              <a:t>digunkan</a:t>
            </a:r>
            <a:r>
              <a:rPr lang="en-US" dirty="0" smtClean="0"/>
              <a:t> </a:t>
            </a:r>
            <a:r>
              <a:rPr lang="en-US" dirty="0" err="1" smtClean="0"/>
              <a:t>untuk</a:t>
            </a:r>
            <a:r>
              <a:rPr lang="en-US" dirty="0" smtClean="0"/>
              <a:t> </a:t>
            </a:r>
            <a:r>
              <a:rPr lang="en-US" dirty="0" err="1" smtClean="0"/>
              <a:t>menghitung</a:t>
            </a:r>
            <a:r>
              <a:rPr lang="en-US" dirty="0" smtClean="0"/>
              <a:t> </a:t>
            </a:r>
            <a:r>
              <a:rPr lang="en-US" dirty="0" err="1" smtClean="0"/>
              <a:t>jumlah</a:t>
            </a:r>
            <a:r>
              <a:rPr lang="en-US" dirty="0" smtClean="0"/>
              <a:t> element array.</a:t>
            </a:r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3902044" y="2534970"/>
            <a:ext cx="18107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 smtClean="0"/>
              <a:t>0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4226460" y="2534970"/>
            <a:ext cx="18107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5611" y="2525917"/>
            <a:ext cx="152400" cy="38198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 smtClean="0"/>
              <a:t>2</a:t>
            </a:r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4760652" y="2547620"/>
            <a:ext cx="18107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9224" y="2560270"/>
            <a:ext cx="18107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5386812" y="2761307"/>
            <a:ext cx="122221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717672" y="2560270"/>
            <a:ext cx="995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Indeks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175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Basic Array </a:t>
            </a:r>
            <a:r>
              <a:rPr lang="en-US" b="1" dirty="0" err="1" smtClean="0"/>
              <a:t>Operasi</a:t>
            </a:r>
            <a:endParaRPr lang="en-US" b="1" dirty="0"/>
          </a:p>
        </p:txBody>
      </p:sp>
      <p:sp>
        <p:nvSpPr>
          <p:cNvPr id="3" name="Rounded Rectangle 2"/>
          <p:cNvSpPr/>
          <p:nvPr/>
        </p:nvSpPr>
        <p:spPr>
          <a:xfrm>
            <a:off x="4894045" y="3108959"/>
            <a:ext cx="2367815" cy="1511167"/>
          </a:xfrm>
          <a:prstGeom prst="round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OPERATIONS</a:t>
            </a:r>
            <a:endParaRPr lang="en-US" sz="2400" b="1" dirty="0"/>
          </a:p>
        </p:txBody>
      </p:sp>
      <p:sp>
        <p:nvSpPr>
          <p:cNvPr id="4" name="Rounded Rectangle 3"/>
          <p:cNvSpPr/>
          <p:nvPr/>
        </p:nvSpPr>
        <p:spPr>
          <a:xfrm>
            <a:off x="417697" y="1946113"/>
            <a:ext cx="2290812" cy="1203157"/>
          </a:xfrm>
          <a:prstGeom prst="round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 smtClean="0"/>
              <a:t>Mencari</a:t>
            </a:r>
            <a:r>
              <a:rPr lang="en-US" b="1" dirty="0" smtClean="0"/>
              <a:t> </a:t>
            </a:r>
            <a:r>
              <a:rPr lang="en-US" b="1" dirty="0" err="1" smtClean="0"/>
              <a:t>Panjang</a:t>
            </a:r>
            <a:r>
              <a:rPr lang="en-US" b="1" dirty="0" smtClean="0"/>
              <a:t> Array</a:t>
            </a:r>
            <a:endParaRPr lang="en-US" b="1" dirty="0"/>
          </a:p>
        </p:txBody>
      </p:sp>
      <p:sp>
        <p:nvSpPr>
          <p:cNvPr id="5" name="Rounded Rectangle 4"/>
          <p:cNvSpPr/>
          <p:nvPr/>
        </p:nvSpPr>
        <p:spPr>
          <a:xfrm>
            <a:off x="158815" y="4624937"/>
            <a:ext cx="2865122" cy="1203157"/>
          </a:xfrm>
          <a:prstGeom prst="round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 smtClean="0"/>
              <a:t>Menambah</a:t>
            </a:r>
            <a:r>
              <a:rPr lang="en-US" b="1" dirty="0" smtClean="0"/>
              <a:t> / </a:t>
            </a:r>
            <a:r>
              <a:rPr lang="en-US" b="1" dirty="0" err="1" smtClean="0"/>
              <a:t>Mengubah</a:t>
            </a:r>
            <a:r>
              <a:rPr lang="en-US" b="1" dirty="0" smtClean="0"/>
              <a:t> </a:t>
            </a:r>
            <a:r>
              <a:rPr lang="en-US" b="1" dirty="0" err="1" smtClean="0"/>
              <a:t>Elemet</a:t>
            </a:r>
            <a:r>
              <a:rPr lang="en-US" b="1" dirty="0" smtClean="0"/>
              <a:t> Array</a:t>
            </a:r>
            <a:endParaRPr lang="en-US" b="1" dirty="0"/>
          </a:p>
        </p:txBody>
      </p:sp>
      <p:sp>
        <p:nvSpPr>
          <p:cNvPr id="6" name="Rounded Rectangle 5"/>
          <p:cNvSpPr/>
          <p:nvPr/>
        </p:nvSpPr>
        <p:spPr>
          <a:xfrm>
            <a:off x="4645391" y="5492402"/>
            <a:ext cx="2865122" cy="1203157"/>
          </a:xfrm>
          <a:prstGeom prst="round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 smtClean="0"/>
              <a:t>Menghapus</a:t>
            </a:r>
            <a:r>
              <a:rPr lang="en-US" b="1" dirty="0" smtClean="0"/>
              <a:t> </a:t>
            </a:r>
            <a:r>
              <a:rPr lang="en-US" b="1" dirty="0" err="1" smtClean="0"/>
              <a:t>Elemet</a:t>
            </a:r>
            <a:r>
              <a:rPr lang="en-US" b="1" dirty="0" smtClean="0"/>
              <a:t> Array</a:t>
            </a:r>
            <a:endParaRPr lang="en-US" b="1" dirty="0"/>
          </a:p>
        </p:txBody>
      </p:sp>
      <p:sp>
        <p:nvSpPr>
          <p:cNvPr id="7" name="Rounded Rectangle 6"/>
          <p:cNvSpPr/>
          <p:nvPr/>
        </p:nvSpPr>
        <p:spPr>
          <a:xfrm>
            <a:off x="4932546" y="1469664"/>
            <a:ext cx="2290812" cy="1203157"/>
          </a:xfrm>
          <a:prstGeom prst="round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Slicing</a:t>
            </a:r>
            <a:endParaRPr lang="en-US" b="1" dirty="0"/>
          </a:p>
        </p:txBody>
      </p:sp>
      <p:sp>
        <p:nvSpPr>
          <p:cNvPr id="8" name="Rounded Rectangle 7"/>
          <p:cNvSpPr/>
          <p:nvPr/>
        </p:nvSpPr>
        <p:spPr>
          <a:xfrm>
            <a:off x="9366985" y="1946113"/>
            <a:ext cx="2290812" cy="1203157"/>
          </a:xfrm>
          <a:prstGeom prst="round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Array Looping</a:t>
            </a:r>
            <a:endParaRPr lang="en-US" b="1" dirty="0"/>
          </a:p>
        </p:txBody>
      </p:sp>
      <p:sp>
        <p:nvSpPr>
          <p:cNvPr id="9" name="Rounded Rectangle 8"/>
          <p:cNvSpPr/>
          <p:nvPr/>
        </p:nvSpPr>
        <p:spPr>
          <a:xfrm>
            <a:off x="9366985" y="4624937"/>
            <a:ext cx="2290812" cy="1203157"/>
          </a:xfrm>
          <a:prstGeom prst="round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Array </a:t>
            </a:r>
            <a:r>
              <a:rPr lang="en-US" b="1" dirty="0" err="1" smtClean="0"/>
              <a:t>Concanation</a:t>
            </a:r>
            <a:endParaRPr lang="en-US" b="1" dirty="0"/>
          </a:p>
        </p:txBody>
      </p:sp>
      <p:cxnSp>
        <p:nvCxnSpPr>
          <p:cNvPr id="11" name="Straight Arrow Connector 10"/>
          <p:cNvCxnSpPr>
            <a:stCxn id="4" idx="3"/>
            <a:endCxn id="3" idx="1"/>
          </p:cNvCxnSpPr>
          <p:nvPr/>
        </p:nvCxnSpPr>
        <p:spPr>
          <a:xfrm>
            <a:off x="2708509" y="2547692"/>
            <a:ext cx="2185536" cy="13168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5" idx="3"/>
            <a:endCxn id="3" idx="1"/>
          </p:cNvCxnSpPr>
          <p:nvPr/>
        </p:nvCxnSpPr>
        <p:spPr>
          <a:xfrm flipV="1">
            <a:off x="3023937" y="3864543"/>
            <a:ext cx="1870108" cy="13619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6" idx="0"/>
            <a:endCxn id="3" idx="2"/>
          </p:cNvCxnSpPr>
          <p:nvPr/>
        </p:nvCxnSpPr>
        <p:spPr>
          <a:xfrm flipV="1">
            <a:off x="6077952" y="4620126"/>
            <a:ext cx="1" cy="8722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7" idx="2"/>
            <a:endCxn id="3" idx="0"/>
          </p:cNvCxnSpPr>
          <p:nvPr/>
        </p:nvCxnSpPr>
        <p:spPr>
          <a:xfrm>
            <a:off x="6077952" y="2672821"/>
            <a:ext cx="1" cy="4361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8" idx="1"/>
            <a:endCxn id="3" idx="3"/>
          </p:cNvCxnSpPr>
          <p:nvPr/>
        </p:nvCxnSpPr>
        <p:spPr>
          <a:xfrm flipH="1">
            <a:off x="7261860" y="2547692"/>
            <a:ext cx="2105125" cy="13168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9" idx="1"/>
            <a:endCxn id="3" idx="3"/>
          </p:cNvCxnSpPr>
          <p:nvPr/>
        </p:nvCxnSpPr>
        <p:spPr>
          <a:xfrm flipH="1" flipV="1">
            <a:off x="7261860" y="3864543"/>
            <a:ext cx="2105125" cy="13619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68598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 smtClean="0"/>
              <a:t>Mencari</a:t>
            </a:r>
            <a:r>
              <a:rPr lang="en-US" b="1" dirty="0" smtClean="0"/>
              <a:t> </a:t>
            </a:r>
            <a:r>
              <a:rPr lang="en-US" b="1" dirty="0" err="1" smtClean="0"/>
              <a:t>panjang</a:t>
            </a:r>
            <a:r>
              <a:rPr lang="en-US" b="1" dirty="0" smtClean="0"/>
              <a:t> array</a:t>
            </a:r>
            <a:endParaRPr lang="en-US" b="1" dirty="0"/>
          </a:p>
        </p:txBody>
      </p:sp>
      <p:sp>
        <p:nvSpPr>
          <p:cNvPr id="3" name="TextBox 2"/>
          <p:cNvSpPr txBox="1"/>
          <p:nvPr/>
        </p:nvSpPr>
        <p:spPr>
          <a:xfrm>
            <a:off x="1135780" y="1886552"/>
            <a:ext cx="106262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Panjang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array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adalah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jumlah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elemen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benar-benar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dalam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smtClean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array.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Anda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dapat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menggunakan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fungsi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len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untuk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mecari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panjang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dari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semua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array.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Fungsi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len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mengembalikan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nilai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interger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sama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dengan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element array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0" y="102920"/>
            <a:ext cx="65" cy="251359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089" y="3331430"/>
            <a:ext cx="4957844" cy="11644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43790" y="3728969"/>
            <a:ext cx="2772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SYNTAX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8089" y="5137929"/>
            <a:ext cx="4337273" cy="15367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43789" y="5536986"/>
            <a:ext cx="2772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Contoh</a:t>
            </a:r>
            <a:endParaRPr lang="en-US" dirty="0"/>
          </a:p>
        </p:txBody>
      </p:sp>
      <p:cxnSp>
        <p:nvCxnSpPr>
          <p:cNvPr id="11" name="Straight Arrow Connector 10"/>
          <p:cNvCxnSpPr/>
          <p:nvPr/>
        </p:nvCxnSpPr>
        <p:spPr>
          <a:xfrm flipV="1">
            <a:off x="2829826" y="6497053"/>
            <a:ext cx="4263993" cy="1925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09582" y="6331637"/>
            <a:ext cx="128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Hasil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5909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 smtClean="0"/>
              <a:t>Menambah</a:t>
            </a:r>
            <a:r>
              <a:rPr lang="en-US" b="1" dirty="0" smtClean="0"/>
              <a:t> / </a:t>
            </a:r>
            <a:r>
              <a:rPr lang="en-US" b="1" dirty="0" err="1" smtClean="0"/>
              <a:t>Mengubah</a:t>
            </a:r>
            <a:r>
              <a:rPr lang="en-US" b="1" dirty="0" smtClean="0"/>
              <a:t> Element Array </a:t>
            </a:r>
            <a:endParaRPr lang="en-US" b="1" dirty="0"/>
          </a:p>
        </p:txBody>
      </p:sp>
      <p:sp>
        <p:nvSpPr>
          <p:cNvPr id="3" name="TextBox 2"/>
          <p:cNvSpPr txBox="1"/>
          <p:nvPr/>
        </p:nvSpPr>
        <p:spPr>
          <a:xfrm>
            <a:off x="923624" y="1771048"/>
            <a:ext cx="10116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/>
              <a:t>Ada </a:t>
            </a:r>
            <a:r>
              <a:rPr lang="en-US" sz="2400" dirty="0" err="1" smtClean="0"/>
              <a:t>Beberapa</a:t>
            </a:r>
            <a:r>
              <a:rPr lang="en-US" sz="2400" dirty="0" smtClean="0"/>
              <a:t> </a:t>
            </a:r>
            <a:r>
              <a:rPr lang="en-US" sz="2400" dirty="0" err="1" smtClean="0"/>
              <a:t>fungsi</a:t>
            </a:r>
            <a:r>
              <a:rPr lang="en-US" sz="2400" dirty="0" smtClean="0"/>
              <a:t> </a:t>
            </a:r>
            <a:r>
              <a:rPr lang="en-US" sz="2400" dirty="0" err="1" smtClean="0"/>
              <a:t>untuk</a:t>
            </a:r>
            <a:r>
              <a:rPr lang="en-US" sz="2400" dirty="0" smtClean="0"/>
              <a:t> </a:t>
            </a:r>
            <a:r>
              <a:rPr lang="en-US" sz="2400" dirty="0" err="1" smtClean="0"/>
              <a:t>menambahkan</a:t>
            </a:r>
            <a:r>
              <a:rPr lang="en-US" sz="2400" dirty="0" smtClean="0"/>
              <a:t> / </a:t>
            </a:r>
            <a:r>
              <a:rPr lang="en-US" sz="2400" dirty="0" err="1" smtClean="0"/>
              <a:t>mengubah</a:t>
            </a:r>
            <a:r>
              <a:rPr lang="en-US" sz="2400" dirty="0" smtClean="0"/>
              <a:t> element array</a:t>
            </a:r>
            <a:endParaRPr lang="en-US" sz="2400" dirty="0"/>
          </a:p>
        </p:txBody>
      </p:sp>
      <p:sp>
        <p:nvSpPr>
          <p:cNvPr id="4" name="TextBox 3"/>
          <p:cNvSpPr txBox="1"/>
          <p:nvPr/>
        </p:nvSpPr>
        <p:spPr>
          <a:xfrm>
            <a:off x="609600" y="2560320"/>
            <a:ext cx="79985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append()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digunakan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ketika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Anda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ingin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menambahkan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satu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elemen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akhir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array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0" y="102920"/>
            <a:ext cx="65" cy="251359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624" y="4723200"/>
            <a:ext cx="7194920" cy="203210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286" y="3718924"/>
            <a:ext cx="3092609" cy="742988"/>
          </a:xfrm>
          <a:prstGeom prst="rect">
            <a:avLst/>
          </a:prstGeom>
        </p:spPr>
      </p:pic>
      <p:cxnSp>
        <p:nvCxnSpPr>
          <p:cNvPr id="14" name="Straight Arrow Connector 13"/>
          <p:cNvCxnSpPr/>
          <p:nvPr/>
        </p:nvCxnSpPr>
        <p:spPr>
          <a:xfrm flipV="1">
            <a:off x="3128211" y="4312118"/>
            <a:ext cx="1106905" cy="9625"/>
          </a:xfrm>
          <a:prstGeom prst="straightConnector1">
            <a:avLst/>
          </a:prstGeom>
          <a:ln w="28575">
            <a:solidFill>
              <a:srgbClr val="DD462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247950" y="3876140"/>
            <a:ext cx="52265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Parameter 1 </a:t>
            </a:r>
            <a:r>
              <a:rPr lang="en-US" dirty="0" err="1" smtClean="0"/>
              <a:t>berisi</a:t>
            </a:r>
            <a:r>
              <a:rPr lang="en-US" dirty="0" smtClean="0"/>
              <a:t> array yang lama </a:t>
            </a:r>
            <a:r>
              <a:rPr lang="en-US" dirty="0" err="1" smtClean="0"/>
              <a:t>dan</a:t>
            </a:r>
            <a:r>
              <a:rPr lang="en-US" dirty="0" smtClean="0"/>
              <a:t> parameter </a:t>
            </a:r>
            <a:r>
              <a:rPr lang="en-US" dirty="0" err="1" smtClean="0"/>
              <a:t>kedua</a:t>
            </a:r>
            <a:r>
              <a:rPr lang="en-US" dirty="0" smtClean="0"/>
              <a:t> </a:t>
            </a:r>
            <a:r>
              <a:rPr lang="en-US" dirty="0" err="1" smtClean="0"/>
              <a:t>berisi</a:t>
            </a:r>
            <a:r>
              <a:rPr lang="en-US" dirty="0" smtClean="0"/>
              <a:t> array </a:t>
            </a:r>
            <a:r>
              <a:rPr lang="en-US" dirty="0" err="1" smtClean="0"/>
              <a:t>baru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1469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Menambah</a:t>
            </a:r>
            <a:r>
              <a:rPr lang="en-US" b="1" dirty="0"/>
              <a:t> / </a:t>
            </a:r>
            <a:r>
              <a:rPr lang="en-US" b="1" dirty="0" err="1"/>
              <a:t>Mengubah</a:t>
            </a:r>
            <a:r>
              <a:rPr lang="en-US" b="1" dirty="0"/>
              <a:t> Element Array 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847023" y="1905803"/>
            <a:ext cx="84991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insert() </a:t>
            </a:r>
            <a:r>
              <a:rPr lang="en-US" sz="2400" dirty="0" err="1">
                <a:solidFill>
                  <a:srgbClr val="202124"/>
                </a:solidFill>
                <a:latin typeface="inherit"/>
              </a:rPr>
              <a:t>digunakan</a:t>
            </a:r>
            <a:r>
              <a:rPr lang="en-US" sz="24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inherit"/>
              </a:rPr>
              <a:t>ketika</a:t>
            </a:r>
            <a:r>
              <a:rPr lang="en-US" sz="24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inherit"/>
              </a:rPr>
              <a:t>Anda</a:t>
            </a:r>
            <a:r>
              <a:rPr lang="en-US" sz="24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inherit"/>
              </a:rPr>
              <a:t>ingin</a:t>
            </a:r>
            <a:r>
              <a:rPr lang="en-US" sz="24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inherit"/>
              </a:rPr>
              <a:t>menambahkan</a:t>
            </a:r>
            <a:r>
              <a:rPr lang="en-US" sz="24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inherit"/>
              </a:rPr>
              <a:t>elemen</a:t>
            </a:r>
            <a:r>
              <a:rPr lang="en-US" sz="24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inherit"/>
              </a:rPr>
              <a:t>pada</a:t>
            </a:r>
            <a:r>
              <a:rPr lang="en-US" sz="24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inherit"/>
              </a:rPr>
              <a:t>posisi</a:t>
            </a:r>
            <a:r>
              <a:rPr lang="en-US" sz="24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inherit"/>
              </a:rPr>
              <a:t>tertentu</a:t>
            </a:r>
            <a:r>
              <a:rPr lang="en-US" sz="24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inherit"/>
              </a:rPr>
              <a:t>dalam</a:t>
            </a:r>
            <a:r>
              <a:rPr lang="en-US" sz="2400" dirty="0">
                <a:solidFill>
                  <a:srgbClr val="202124"/>
                </a:solidFill>
                <a:latin typeface="inherit"/>
              </a:rPr>
              <a:t> array</a:t>
            </a:r>
            <a:r>
              <a:rPr lang="en-US" sz="900" dirty="0"/>
              <a:t> </a:t>
            </a:r>
            <a:r>
              <a:rPr lang="en-US" sz="2000" dirty="0" smtClean="0">
                <a:latin typeface="Arial" panose="020B0604020202020204" pitchFamily="34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0" y="102920"/>
            <a:ext cx="65" cy="251359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0" y="102920"/>
            <a:ext cx="65" cy="251359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51" y="3106132"/>
            <a:ext cx="3168813" cy="7112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302493" y="3106132"/>
            <a:ext cx="504363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Parameter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array,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berisi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inputan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array lama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Parameter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obj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yang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mendefinisikan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indeks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atau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indeks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sebelum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nilai-nilai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dimasukkan</a:t>
            </a:r>
            <a:r>
              <a:rPr lang="en-US" sz="2000" dirty="0" smtClean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Parameter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values,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berisi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nilai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akan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dimaukan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kedalam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array lama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0" y="102920"/>
            <a:ext cx="65" cy="251359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23" y="5171606"/>
            <a:ext cx="4692891" cy="13081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2792" y="5486400"/>
            <a:ext cx="2685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CONTOH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68214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 smtClean="0"/>
              <a:t>Menghapus</a:t>
            </a:r>
            <a:r>
              <a:rPr lang="en-US" b="1" dirty="0" smtClean="0"/>
              <a:t> Element Array</a:t>
            </a:r>
            <a:endParaRPr lang="en-US" b="1" dirty="0"/>
          </a:p>
        </p:txBody>
      </p:sp>
      <p:sp>
        <p:nvSpPr>
          <p:cNvPr id="3" name="TextBox 2"/>
          <p:cNvSpPr txBox="1"/>
          <p:nvPr/>
        </p:nvSpPr>
        <p:spPr>
          <a:xfrm>
            <a:off x="1309035" y="1992429"/>
            <a:ext cx="82584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elete()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digunakan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saat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Anda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ingin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menghapus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elemen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dengan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nilai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tertentu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tanpa</a:t>
            </a:r>
            <a:r>
              <a:rPr lang="en-US" sz="24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mengembalikannya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0" y="102920"/>
            <a:ext cx="65" cy="251359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r="49329"/>
          <a:stretch/>
        </p:blipFill>
        <p:spPr>
          <a:xfrm>
            <a:off x="1676666" y="3089456"/>
            <a:ext cx="2664328" cy="717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77878" y="3089456"/>
            <a:ext cx="50436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Parameter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array,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berisi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inputan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array lama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Parameter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obj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yang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mendefinisikan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indeks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atau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 smtClean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indeks</a:t>
            </a:r>
            <a:r>
              <a:rPr lang="en-US" sz="2000" dirty="0" smtClean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419" y="4460832"/>
            <a:ext cx="6450050" cy="1930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7652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Slicing(</a:t>
            </a:r>
            <a:r>
              <a:rPr lang="en-US" b="1" dirty="0" err="1" smtClean="0"/>
              <a:t>Mengisirs</a:t>
            </a:r>
            <a:r>
              <a:rPr lang="en-US" b="1" dirty="0" smtClean="0"/>
              <a:t>) Array</a:t>
            </a:r>
            <a:endParaRPr lang="en-US" b="1" dirty="0"/>
          </a:p>
        </p:txBody>
      </p:sp>
      <p:sp>
        <p:nvSpPr>
          <p:cNvPr id="3" name="TextBox 2"/>
          <p:cNvSpPr txBox="1"/>
          <p:nvPr/>
        </p:nvSpPr>
        <p:spPr>
          <a:xfrm>
            <a:off x="1145405" y="1809549"/>
            <a:ext cx="75173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400" b="1" dirty="0" smtClean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Slicing</a:t>
            </a:r>
            <a:r>
              <a:rPr lang="en-US" sz="2400" dirty="0" smtClean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array </a:t>
            </a:r>
            <a:r>
              <a:rPr lang="en-US" sz="2400" dirty="0" err="1" smtClean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dapat</a:t>
            </a:r>
            <a:r>
              <a:rPr lang="en-US" sz="2400" dirty="0" smtClean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mengunkan</a:t>
            </a:r>
            <a:r>
              <a:rPr lang="en-US" sz="2400" dirty="0" smtClean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symbol “</a:t>
            </a:r>
            <a:r>
              <a:rPr lang="en-US" sz="2400" b="1" dirty="0" smtClean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:”</a:t>
            </a: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400" b="1" dirty="0" smtClean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Slicing </a:t>
            </a:r>
            <a:r>
              <a:rPr lang="en-US" sz="2400" dirty="0" smtClean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array </a:t>
            </a:r>
            <a:r>
              <a:rPr lang="en-US" sz="2400" dirty="0" err="1">
                <a:solidFill>
                  <a:srgbClr val="202124"/>
                </a:solidFill>
                <a:latin typeface="inherit"/>
              </a:rPr>
              <a:t>mengembalikan</a:t>
            </a:r>
            <a:r>
              <a:rPr lang="en-US" sz="24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inherit"/>
              </a:rPr>
              <a:t>berbagai</a:t>
            </a:r>
            <a:r>
              <a:rPr lang="en-US" sz="24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inherit"/>
              </a:rPr>
              <a:t>elemen</a:t>
            </a:r>
            <a:r>
              <a:rPr lang="en-US" sz="2400" dirty="0">
                <a:solidFill>
                  <a:srgbClr val="202124"/>
                </a:solidFill>
                <a:latin typeface="inherit"/>
              </a:rPr>
              <a:t> yang </a:t>
            </a:r>
            <a:r>
              <a:rPr lang="en-US" sz="2400" dirty="0" err="1">
                <a:solidFill>
                  <a:srgbClr val="202124"/>
                </a:solidFill>
                <a:latin typeface="inherit"/>
              </a:rPr>
              <a:t>telah</a:t>
            </a:r>
            <a:r>
              <a:rPr lang="en-US" sz="2400" dirty="0">
                <a:solidFill>
                  <a:srgbClr val="202124"/>
                </a:solidFill>
                <a:latin typeface="inherit"/>
              </a:rPr>
              <a:t> kami </a:t>
            </a:r>
            <a:r>
              <a:rPr lang="en-US" sz="2400" dirty="0" err="1">
                <a:solidFill>
                  <a:srgbClr val="202124"/>
                </a:solidFill>
                <a:latin typeface="inherit"/>
              </a:rPr>
              <a:t>tentukan</a:t>
            </a:r>
            <a:r>
              <a:rPr lang="en-US" sz="24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inherit"/>
              </a:rPr>
              <a:t>dengan</a:t>
            </a:r>
            <a:r>
              <a:rPr lang="en-US" sz="24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inherit"/>
              </a:rPr>
              <a:t>nomor</a:t>
            </a:r>
            <a:r>
              <a:rPr lang="en-US" sz="24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400" dirty="0" err="1">
                <a:solidFill>
                  <a:srgbClr val="202124"/>
                </a:solidFill>
                <a:latin typeface="inherit"/>
              </a:rPr>
              <a:t>indeks</a:t>
            </a:r>
            <a:r>
              <a:rPr lang="en-US" sz="900" dirty="0"/>
              <a:t>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dirty="0">
              <a:latin typeface="Arial" panose="020B0604020202020204" pitchFamily="34" charset="0"/>
            </a:endParaRPr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0" y="102920"/>
            <a:ext cx="65" cy="251359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0" y="102920"/>
            <a:ext cx="65" cy="251359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768" y="3261549"/>
            <a:ext cx="9832192" cy="2542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2529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 smtClean="0"/>
              <a:t>Operasi</a:t>
            </a:r>
            <a:r>
              <a:rPr lang="en-US" b="1" dirty="0" smtClean="0"/>
              <a:t> </a:t>
            </a:r>
            <a:r>
              <a:rPr lang="en-US" b="1" dirty="0" err="1" smtClean="0"/>
              <a:t>Matimatika</a:t>
            </a:r>
            <a:r>
              <a:rPr lang="en-US" b="1" dirty="0" smtClean="0"/>
              <a:t> </a:t>
            </a:r>
            <a:r>
              <a:rPr lang="en-US" b="1" dirty="0" err="1" smtClean="0"/>
              <a:t>pada</a:t>
            </a:r>
            <a:r>
              <a:rPr lang="en-US" b="1" dirty="0" smtClean="0"/>
              <a:t> Array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058553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smtClean="0"/>
              <a:t>TERIMAH KASIH</a:t>
            </a:r>
            <a:endParaRPr lang="en-US" b="1" dirty="0"/>
          </a:p>
        </p:txBody>
      </p:sp>
      <p:sp>
        <p:nvSpPr>
          <p:cNvPr id="3" name="TextBox 2"/>
          <p:cNvSpPr txBox="1"/>
          <p:nvPr/>
        </p:nvSpPr>
        <p:spPr>
          <a:xfrm>
            <a:off x="951323" y="4348340"/>
            <a:ext cx="5359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 smtClean="0">
                <a:solidFill>
                  <a:schemeClr val="bg1"/>
                </a:solidFill>
              </a:rPr>
              <a:t>Selemat</a:t>
            </a:r>
            <a:r>
              <a:rPr lang="en-US" sz="2400" dirty="0" smtClean="0">
                <a:solidFill>
                  <a:schemeClr val="bg1"/>
                </a:solidFill>
              </a:rPr>
              <a:t> </a:t>
            </a:r>
            <a:r>
              <a:rPr lang="en-US" sz="2400" dirty="0" err="1" smtClean="0">
                <a:solidFill>
                  <a:schemeClr val="bg1"/>
                </a:solidFill>
              </a:rPr>
              <a:t>Belajar</a:t>
            </a:r>
            <a:r>
              <a:rPr lang="en-US" sz="2400" dirty="0" smtClean="0">
                <a:solidFill>
                  <a:schemeClr val="bg1"/>
                </a:solidFill>
              </a:rPr>
              <a:t>..</a:t>
            </a:r>
            <a:endParaRPr 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8634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elcome to PowerPoint.potx" id="{43699C43-EC89-4A55-9A99-3FD944590577}" vid="{3C36ED3A-1C33-4ECB-8650-37D568EF454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irectSourceMarket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ThumbnailAssetId xmlns="4873beb7-5857-4685-be1f-d57550cc96cc" xsi:nil="true"/>
    <PrimaryImageGen xmlns="4873beb7-5857-4685-be1f-d57550cc96cc">true</PrimaryImageGen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1584528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 xsi:nil="true"/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2012-06-20T23:39:00+00:00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ShowIn xmlns="4873beb7-5857-4685-be1f-d57550cc96cc">Show everywhere</ShowIn>
    <UANotes xmlns="4873beb7-5857-4685-be1f-d57550cc96cc" xsi:nil="true"/>
    <TemplateStatus xmlns="4873beb7-5857-4685-be1f-d57550cc96cc">Complete</TemplateStatus>
    <InternalTagsTaxHTField0 xmlns="4873beb7-5857-4685-be1f-d57550cc96cc">
      <Terms xmlns="http://schemas.microsoft.com/office/infopath/2007/PartnerControls"/>
    </InternalTagsTaxHTField0>
    <CSXHash xmlns="4873beb7-5857-4685-be1f-d57550cc96cc" xsi:nil="true"/>
    <Downloads xmlns="4873beb7-5857-4685-be1f-d57550cc96cc">0</Downloads>
    <VoteCount xmlns="4873beb7-5857-4685-be1f-d57550cc96cc" xsi:nil="true"/>
    <OOCacheId xmlns="4873beb7-5857-4685-be1f-d57550cc96cc" xsi:nil="true"/>
    <IsDeleted xmlns="4873beb7-5857-4685-be1f-d57550cc96cc">false</IsDeleted>
    <AssetExpire xmlns="4873beb7-5857-4685-be1f-d57550cc96cc">2029-01-01T08:00:00+00:00</AssetExpire>
    <DSATActionTaken xmlns="4873beb7-5857-4685-be1f-d57550cc96cc" xsi:nil="true"/>
    <CSXSubmissionMarket xmlns="4873beb7-5857-4685-be1f-d57550cc96cc" xsi:nil="true"/>
    <TPExecutable xmlns="4873beb7-5857-4685-be1f-d57550cc96cc" xsi:nil="true"/>
    <SubmitterId xmlns="4873beb7-5857-4685-be1f-d57550cc96cc" xsi:nil="true"/>
    <EditorialTags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TP102923943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843282</LocLastLocAttemptVersionLookup>
    <IsSearchable xmlns="4873beb7-5857-4685-be1f-d57550cc96cc">true</IsSearchable>
    <TemplateTemplateType xmlns="4873beb7-5857-4685-be1f-d57550cc96cc">PowerPoint Template - Slideshow Launch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>false</IntlLangReview>
    <OutputCachingOn xmlns="4873beb7-5857-4685-be1f-d57550cc96cc">false</OutputCachingOn>
    <AverageRating xmlns="4873beb7-5857-4685-be1f-d57550cc96cc" xsi:nil="true"/>
    <LocMarketGroupTiers2 xmlns="4873beb7-5857-4685-be1f-d57550cc96cc" xsi:nil="true"/>
    <APAuthor xmlns="4873beb7-5857-4685-be1f-d57550cc96cc">
      <UserInfo>
        <DisplayName>REDMOND\v-sa</DisplayName>
        <AccountId>2467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OriginalRelease xmlns="4873beb7-5857-4685-be1f-d57550cc96cc">15</OriginalRelease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B970C04F-E7AC-41AB-9C6D-1B1BB88BFF7F}">
  <ds:schemaRefs>
    <ds:schemaRef ds:uri="http://purl.org/dc/terms/"/>
    <ds:schemaRef ds:uri="http://schemas.openxmlformats.org/package/2006/metadata/core-properties"/>
    <ds:schemaRef ds:uri="http://schemas.microsoft.com/office/2006/documentManagement/types"/>
    <ds:schemaRef ds:uri="4873beb7-5857-4685-be1f-d57550cc96cc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3EE7759-C66F-4EA4-9863-7EBA32518D3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3DEC53A-9DF1-4780-BE92-17E971B7A9E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Welcome to PowerPoint 2013</Template>
  <TotalTime>923</TotalTime>
  <Words>703</Words>
  <Application>Microsoft Office PowerPoint</Application>
  <PresentationFormat>Widescreen</PresentationFormat>
  <Paragraphs>135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inherit</vt:lpstr>
      <vt:lpstr>Segoe UI</vt:lpstr>
      <vt:lpstr>Segoe UI Light</vt:lpstr>
      <vt:lpstr>Times New Roman</vt:lpstr>
      <vt:lpstr>WelcomeDoc</vt:lpstr>
      <vt:lpstr>Pengolahan Citra Digital</vt:lpstr>
      <vt:lpstr>Apa itu Array dan List?</vt:lpstr>
      <vt:lpstr>Apa itu Array dan List?</vt:lpstr>
      <vt:lpstr>Lalu apa bedanya antaran List Dan Array?</vt:lpstr>
      <vt:lpstr>Array Satu Demensi</vt:lpstr>
      <vt:lpstr>Array Dua Demensi</vt:lpstr>
      <vt:lpstr>Array Tiga Dimensi</vt:lpstr>
      <vt:lpstr>Bagaimana cara buat Array di Python</vt:lpstr>
      <vt:lpstr>Contoh buat Array di Python</vt:lpstr>
      <vt:lpstr>Contoh buat Array di Python</vt:lpstr>
      <vt:lpstr>Bagaimana untuk akses array nya ??</vt:lpstr>
      <vt:lpstr>Contoh Akes Array di python</vt:lpstr>
      <vt:lpstr>Basic Array Operasi</vt:lpstr>
      <vt:lpstr>Mencari panjang array</vt:lpstr>
      <vt:lpstr>Menambah / Mengubah Element Array </vt:lpstr>
      <vt:lpstr>Menambah / Mengubah Element Array </vt:lpstr>
      <vt:lpstr>Menghapus Element Array</vt:lpstr>
      <vt:lpstr>Slicing(Mengisirs) Array</vt:lpstr>
      <vt:lpstr>Operasi Matimatika pada Array</vt:lpstr>
      <vt:lpstr>TERIMAH KASIH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Pengolahan Citra Digital</dc:title>
  <dc:creator>LENOVO</dc:creator>
  <cp:keywords/>
  <cp:lastModifiedBy>LENOVO</cp:lastModifiedBy>
  <cp:revision>120</cp:revision>
  <dcterms:created xsi:type="dcterms:W3CDTF">2022-03-01T01:11:31Z</dcterms:created>
  <dcterms:modified xsi:type="dcterms:W3CDTF">2022-03-15T07:44:48Z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_TemplateID">
    <vt:lpwstr>TC029239449991</vt:lpwstr>
  </property>
  <property fmtid="{D5CDD505-2E9C-101B-9397-08002B2CF9AE}" pid="4" name="ContentTypeId">
    <vt:lpwstr>0x0101006EDDDB5EE6D98C44930B742096920B300400F5B6D36B3EF94B4E9A635CDF2A18F5B8</vt:lpwstr>
  </property>
  <property fmtid="{D5CDD505-2E9C-101B-9397-08002B2CF9AE}" pid="5" name="FeatureTags">
    <vt:lpwstr/>
  </property>
  <property fmtid="{D5CDD505-2E9C-101B-9397-08002B2CF9AE}" pid="6" name="LocalizationTags">
    <vt:lpwstr/>
  </property>
  <property fmtid="{D5CDD505-2E9C-101B-9397-08002B2CF9AE}" pid="7" name="ScenarioTags">
    <vt:lpwstr/>
  </property>
  <property fmtid="{D5CDD505-2E9C-101B-9397-08002B2CF9AE}" pid="8" name="CampaignTags">
    <vt:lpwstr/>
  </property>
</Properties>
</file>