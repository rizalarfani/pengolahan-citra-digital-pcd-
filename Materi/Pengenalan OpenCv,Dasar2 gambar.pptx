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D2B4A6"/>
    <a:srgbClr val="734F29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03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57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94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94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49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9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99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65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78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12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6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8324" y="3857452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Pengenalan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OpenCv,Dasar</a:t>
            </a:r>
            <a:r>
              <a:rPr lang="en-US" sz="2400" dirty="0" smtClean="0">
                <a:solidFill>
                  <a:schemeClr val="bg1"/>
                </a:solidFill>
              </a:rPr>
              <a:t> – </a:t>
            </a:r>
            <a:r>
              <a:rPr lang="en-US" sz="2400" dirty="0" err="1" smtClean="0">
                <a:solidFill>
                  <a:schemeClr val="bg1"/>
                </a:solidFill>
              </a:rPr>
              <a:t>Dasar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Gambar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Apa</a:t>
            </a:r>
            <a:r>
              <a:rPr lang="en-US" b="1" dirty="0" smtClean="0"/>
              <a:t> </a:t>
            </a:r>
            <a:r>
              <a:rPr lang="en-US" b="1" dirty="0" err="1" smtClean="0"/>
              <a:t>itu</a:t>
            </a:r>
            <a:r>
              <a:rPr lang="en-US" b="1" dirty="0" smtClean="0"/>
              <a:t> </a:t>
            </a:r>
            <a:r>
              <a:rPr lang="en-US" b="1" dirty="0" err="1" smtClean="0"/>
              <a:t>OpenCV</a:t>
            </a:r>
            <a:r>
              <a:rPr lang="en-US" b="1" dirty="0" smtClean="0"/>
              <a:t>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41659" y="2040556"/>
            <a:ext cx="94327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OpenCV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open source C++ </a:t>
            </a:r>
            <a:r>
              <a:rPr lang="en-US" sz="2800" dirty="0" smtClean="0"/>
              <a:t>library </a:t>
            </a:r>
            <a:r>
              <a:rPr lang="en-US" sz="2800" dirty="0" err="1" smtClean="0"/>
              <a:t>atau</a:t>
            </a:r>
            <a:r>
              <a:rPr lang="en-US" sz="2800" dirty="0" smtClean="0"/>
              <a:t> </a:t>
            </a:r>
            <a:r>
              <a:rPr lang="en-US" sz="2800" dirty="0" err="1" smtClean="0"/>
              <a:t>pustaka</a:t>
            </a:r>
            <a:r>
              <a:rPr lang="en-US" sz="2800" dirty="0" smtClean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i="1" dirty="0"/>
              <a:t>image processing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i="1" dirty="0"/>
              <a:t>computer </a:t>
            </a:r>
            <a:r>
              <a:rPr lang="en-US" sz="2800" i="1" dirty="0" smtClean="0"/>
              <a:t>vision</a:t>
            </a:r>
            <a:r>
              <a:rPr lang="en-US" sz="2800" dirty="0" smtClean="0"/>
              <a:t>, yang </a:t>
            </a:r>
            <a:r>
              <a:rPr lang="en-US" sz="2800" dirty="0" err="1" smtClean="0"/>
              <a:t>ditulis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C++.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241659" y="3830854"/>
            <a:ext cx="104690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/>
              <a:t>OpenCV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pertama</a:t>
            </a:r>
            <a:r>
              <a:rPr lang="en-US" sz="2800" dirty="0" smtClean="0"/>
              <a:t> </a:t>
            </a:r>
            <a:r>
              <a:rPr lang="en-US" sz="2800" dirty="0" err="1" smtClean="0"/>
              <a:t>diluncurkan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tahun</a:t>
            </a:r>
            <a:r>
              <a:rPr lang="en-US" sz="2800" dirty="0" smtClean="0"/>
              <a:t> 1999,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awalnya</a:t>
            </a:r>
            <a:r>
              <a:rPr lang="en-US" sz="2800" dirty="0" smtClean="0"/>
              <a:t> </a:t>
            </a:r>
            <a:r>
              <a:rPr lang="en-US" sz="2800" dirty="0" err="1" smtClean="0"/>
              <a:t>memerlukan</a:t>
            </a:r>
            <a:r>
              <a:rPr lang="en-US" sz="2800" dirty="0" smtClean="0"/>
              <a:t> library </a:t>
            </a:r>
            <a:r>
              <a:rPr lang="en-US" sz="2800" dirty="0" err="1" smtClean="0"/>
              <a:t>dari</a:t>
            </a:r>
            <a:r>
              <a:rPr lang="en-US" sz="2800" dirty="0" smtClean="0"/>
              <a:t> </a:t>
            </a:r>
            <a:r>
              <a:rPr lang="en-US" sz="2800" dirty="0" err="1" smtClean="0"/>
              <a:t>intel</a:t>
            </a:r>
            <a:r>
              <a:rPr lang="en-US" sz="2800" dirty="0" smtClean="0"/>
              <a:t> </a:t>
            </a:r>
            <a:r>
              <a:rPr lang="en-US" sz="2800" i="1" dirty="0" smtClean="0"/>
              <a:t>image Processing. </a:t>
            </a:r>
            <a:r>
              <a:rPr lang="en-US" sz="2800" dirty="0" err="1" smtClean="0"/>
              <a:t>Kemudian</a:t>
            </a:r>
            <a:r>
              <a:rPr lang="en-US" sz="2800" dirty="0" smtClean="0"/>
              <a:t> dependency </a:t>
            </a:r>
            <a:r>
              <a:rPr lang="en-US" sz="2800" dirty="0" err="1" smtClean="0"/>
              <a:t>itu</a:t>
            </a:r>
            <a:r>
              <a:rPr lang="en-US" sz="2800" dirty="0" smtClean="0"/>
              <a:t> </a:t>
            </a:r>
            <a:r>
              <a:rPr lang="en-US" sz="2800" dirty="0" err="1" smtClean="0"/>
              <a:t>dihilangkan</a:t>
            </a:r>
            <a:r>
              <a:rPr lang="en-US" sz="2800" dirty="0" smtClean="0"/>
              <a:t> </a:t>
            </a:r>
            <a:r>
              <a:rPr lang="en-US" sz="2800" dirty="0" err="1" smtClean="0"/>
              <a:t>sehingga</a:t>
            </a:r>
            <a:r>
              <a:rPr lang="en-US" sz="2800" dirty="0" smtClean="0"/>
              <a:t> </a:t>
            </a:r>
            <a:r>
              <a:rPr lang="en-US" sz="2800" dirty="0" err="1" smtClean="0"/>
              <a:t>tercipta</a:t>
            </a:r>
            <a:r>
              <a:rPr lang="en-US" sz="2800" dirty="0" smtClean="0"/>
              <a:t> </a:t>
            </a:r>
            <a:r>
              <a:rPr lang="en-US" sz="2800" b="1" dirty="0" err="1" smtClean="0"/>
              <a:t>OpenCV</a:t>
            </a:r>
            <a:r>
              <a:rPr lang="en-US" sz="2800" b="1" dirty="0" smtClean="0"/>
              <a:t>. </a:t>
            </a:r>
            <a:endParaRPr 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52922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Fitur</a:t>
            </a:r>
            <a:r>
              <a:rPr lang="en-US" b="1" dirty="0" smtClean="0"/>
              <a:t> – </a:t>
            </a:r>
            <a:r>
              <a:rPr lang="en-US" b="1" dirty="0" err="1" smtClean="0"/>
              <a:t>Fitur</a:t>
            </a:r>
            <a:r>
              <a:rPr lang="en-US" b="1" dirty="0" smtClean="0"/>
              <a:t> </a:t>
            </a:r>
            <a:r>
              <a:rPr lang="en-US" b="1" dirty="0" err="1" smtClean="0"/>
              <a:t>OpenCV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12270" y="1607419"/>
            <a:ext cx="9711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OpenCV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dimanfaatkan</a:t>
            </a:r>
            <a:r>
              <a:rPr lang="en-US" sz="2400" dirty="0"/>
              <a:t>,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OpenCV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lain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2783" y="2704699"/>
            <a:ext cx="770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Image and video </a:t>
            </a:r>
            <a:r>
              <a:rPr lang="en-US" sz="2400" b="1" dirty="0" smtClean="0"/>
              <a:t>I/O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91916" y="3156739"/>
            <a:ext cx="8306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fitur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membaca</a:t>
            </a:r>
            <a:r>
              <a:rPr lang="en-US" dirty="0" smtClean="0"/>
              <a:t> data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file,atau</a:t>
            </a:r>
            <a:r>
              <a:rPr lang="en-US" dirty="0" smtClean="0"/>
              <a:t> </a:t>
            </a:r>
            <a:r>
              <a:rPr lang="en-US" dirty="0" err="1" smtClean="0"/>
              <a:t>umpan</a:t>
            </a:r>
            <a:r>
              <a:rPr lang="en-US" dirty="0" smtClean="0"/>
              <a:t> video </a:t>
            </a:r>
            <a:r>
              <a:rPr lang="en-US" dirty="0" err="1" smtClean="0"/>
              <a:t>langsung</a:t>
            </a:r>
            <a:r>
              <a:rPr lang="en-US" dirty="0" smtClean="0"/>
              <a:t>. Dan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menciptakan</a:t>
            </a:r>
            <a:r>
              <a:rPr lang="en-US" dirty="0" smtClean="0"/>
              <a:t> file </a:t>
            </a:r>
            <a:r>
              <a:rPr lang="en-US" b="1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maupun</a:t>
            </a:r>
            <a:r>
              <a:rPr lang="en-US" dirty="0" smtClean="0"/>
              <a:t> </a:t>
            </a:r>
            <a:r>
              <a:rPr lang="en-US" b="1" dirty="0" err="1" smtClean="0"/>
              <a:t>vidio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12783" y="4196615"/>
            <a:ext cx="743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Modul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Pengolahan</a:t>
            </a:r>
            <a:r>
              <a:rPr lang="en-US" sz="2400" b="1" dirty="0" smtClean="0"/>
              <a:t> Citra Digital (Low, Mid Level)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91915" y="4728659"/>
            <a:ext cx="8653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fitur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experimen</a:t>
            </a:r>
            <a:r>
              <a:rPr lang="en-US" dirty="0"/>
              <a:t> </a:t>
            </a:r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algorima</a:t>
            </a:r>
            <a:r>
              <a:rPr lang="en-US" dirty="0"/>
              <a:t> computer </a:t>
            </a:r>
            <a:r>
              <a:rPr lang="en-US" dirty="0" smtClean="0"/>
              <a:t>vision </a:t>
            </a:r>
            <a:r>
              <a:rPr lang="en-US" dirty="0" err="1" smtClean="0"/>
              <a:t>atau</a:t>
            </a:r>
            <a:r>
              <a:rPr lang="en-US" dirty="0" smtClean="0"/>
              <a:t> PCD.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deteksi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, </a:t>
            </a:r>
            <a:r>
              <a:rPr lang="en-US" dirty="0" err="1"/>
              <a:t>tepi</a:t>
            </a:r>
            <a:r>
              <a:rPr lang="en-US" dirty="0"/>
              <a:t>, </a:t>
            </a:r>
            <a:r>
              <a:rPr lang="en-US" dirty="0" err="1"/>
              <a:t>pucuk</a:t>
            </a:r>
            <a:r>
              <a:rPr lang="en-US" dirty="0"/>
              <a:t>, </a:t>
            </a:r>
            <a:r>
              <a:rPr lang="en-US" dirty="0" err="1"/>
              <a:t>proyeksi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, image pyramid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pemrosesan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multi </a:t>
            </a:r>
            <a:r>
              <a:rPr lang="en-US" dirty="0" err="1"/>
              <a:t>skala</a:t>
            </a:r>
            <a:r>
              <a:rPr lang="en-US" dirty="0"/>
              <a:t>, </a:t>
            </a:r>
            <a:r>
              <a:rPr lang="en-US" dirty="0" err="1"/>
              <a:t>pencocokan</a:t>
            </a:r>
            <a:r>
              <a:rPr lang="en-US" dirty="0"/>
              <a:t> template,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transform ( Fourier, cosine </a:t>
            </a:r>
            <a:r>
              <a:rPr lang="en-US" dirty="0" err="1"/>
              <a:t>diskrit</a:t>
            </a:r>
            <a:r>
              <a:rPr lang="en-US" dirty="0"/>
              <a:t>, distance transform) </a:t>
            </a:r>
            <a:r>
              <a:rPr lang="en-US" dirty="0" err="1"/>
              <a:t>dan</a:t>
            </a:r>
            <a:r>
              <a:rPr lang="en-US" dirty="0"/>
              <a:t> lain </a:t>
            </a:r>
            <a:r>
              <a:rPr lang="en-US" dirty="0" err="1"/>
              <a:t>lain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992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Fitur</a:t>
            </a:r>
            <a:r>
              <a:rPr lang="en-US" b="1" dirty="0" smtClean="0"/>
              <a:t> – </a:t>
            </a:r>
            <a:r>
              <a:rPr lang="en-US" b="1" dirty="0" err="1" smtClean="0"/>
              <a:t>Fitur</a:t>
            </a:r>
            <a:r>
              <a:rPr lang="en-US" b="1" dirty="0" smtClean="0"/>
              <a:t> </a:t>
            </a:r>
            <a:r>
              <a:rPr lang="en-US" b="1" dirty="0" err="1" smtClean="0"/>
              <a:t>OpenCV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62526" y="2040558"/>
            <a:ext cx="770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Modul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Computer Vision </a:t>
            </a:r>
            <a:r>
              <a:rPr lang="en-US" sz="2400" b="1" dirty="0" smtClean="0"/>
              <a:t>high level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41659" y="2502223"/>
            <a:ext cx="8306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OpenCV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“high level”,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b="1" dirty="0" err="1"/>
              <a:t>deteksi</a:t>
            </a:r>
            <a:r>
              <a:rPr lang="en-US" b="1" dirty="0"/>
              <a:t> </a:t>
            </a:r>
            <a:r>
              <a:rPr lang="en-US" b="1" dirty="0" err="1"/>
              <a:t>wajah</a:t>
            </a:r>
            <a:r>
              <a:rPr lang="en-US" dirty="0"/>
              <a:t>, </a:t>
            </a:r>
            <a:r>
              <a:rPr lang="en-US" b="1" dirty="0" err="1"/>
              <a:t>pengenalan</a:t>
            </a:r>
            <a:r>
              <a:rPr lang="en-US" b="1" dirty="0"/>
              <a:t> </a:t>
            </a:r>
            <a:r>
              <a:rPr lang="en-US" b="1" dirty="0" err="1"/>
              <a:t>wajah</a:t>
            </a:r>
            <a:r>
              <a:rPr lang="en-US" dirty="0"/>
              <a:t>, </a:t>
            </a:r>
            <a:r>
              <a:rPr lang="en-US" b="1" dirty="0" err="1"/>
              <a:t>termasuk</a:t>
            </a:r>
            <a:r>
              <a:rPr lang="en-US" b="1" dirty="0"/>
              <a:t> optical </a:t>
            </a:r>
            <a:r>
              <a:rPr lang="en-US" b="1" dirty="0" smtClean="0"/>
              <a:t>flow.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62526" y="3542099"/>
            <a:ext cx="743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/>
              <a:t>Metode untuk AI dan machine </a:t>
            </a:r>
            <a:r>
              <a:rPr lang="it-IT" sz="2400" b="1" dirty="0" smtClean="0"/>
              <a:t>learning</a:t>
            </a:r>
            <a:endParaRPr lang="it-IT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41658" y="4074143"/>
            <a:ext cx="865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/>
              <a:t>computer vision </a:t>
            </a:r>
            <a:r>
              <a:rPr lang="en-US" dirty="0" err="1"/>
              <a:t>sering</a:t>
            </a:r>
            <a:r>
              <a:rPr lang="en-US" dirty="0"/>
              <a:t> kali </a:t>
            </a:r>
            <a:r>
              <a:rPr lang="en-US" dirty="0" err="1"/>
              <a:t>memerlukan</a:t>
            </a:r>
            <a:r>
              <a:rPr lang="en-US" dirty="0"/>
              <a:t> machine learning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AI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OpenCV</a:t>
            </a:r>
            <a:r>
              <a:rPr lang="en-US" dirty="0"/>
              <a:t> machine learning.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527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9250"/>
            <a:ext cx="10744200" cy="1228436"/>
          </a:xfrm>
        </p:spPr>
        <p:txBody>
          <a:bodyPr/>
          <a:lstStyle/>
          <a:p>
            <a:r>
              <a:rPr lang="en-US" b="1" dirty="0" smtClean="0"/>
              <a:t>Install </a:t>
            </a:r>
            <a:r>
              <a:rPr lang="en-US" b="1" dirty="0" err="1" smtClean="0"/>
              <a:t>OpenCV</a:t>
            </a:r>
            <a:r>
              <a:rPr lang="en-US" b="1" dirty="0" smtClean="0"/>
              <a:t> di python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98895" y="1546648"/>
            <a:ext cx="10000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 err="1"/>
              <a:t>Jalankan</a:t>
            </a:r>
            <a:r>
              <a:rPr lang="en-US" dirty="0"/>
              <a:t> command prompt (</a:t>
            </a:r>
            <a:r>
              <a:rPr lang="en-US" dirty="0" err="1"/>
              <a:t>cmd</a:t>
            </a:r>
            <a:r>
              <a:rPr lang="en-US" dirty="0"/>
              <a:t>)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smtClean="0"/>
              <a:t>administrator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 err="1"/>
              <a:t>Pastikan</a:t>
            </a:r>
            <a:r>
              <a:rPr lang="en-US" dirty="0"/>
              <a:t> python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 smtClean="0"/>
              <a:t>terinstall</a:t>
            </a:r>
            <a:r>
              <a:rPr lang="en-US" dirty="0" smtClean="0"/>
              <a:t> </a:t>
            </a:r>
            <a:r>
              <a:rPr lang="en-US" dirty="0" err="1" smtClean="0"/>
              <a:t>diperangkat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!!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 err="1" smtClean="0"/>
              <a:t>Pastikan</a:t>
            </a:r>
            <a:r>
              <a:rPr lang="en-US" dirty="0" smtClean="0"/>
              <a:t> PIP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terinstall</a:t>
            </a:r>
            <a:r>
              <a:rPr lang="en-US" dirty="0" smtClean="0"/>
              <a:t> </a:t>
            </a:r>
            <a:r>
              <a:rPr lang="en-US" dirty="0" err="1" smtClean="0"/>
              <a:t>versi</a:t>
            </a:r>
            <a:r>
              <a:rPr lang="en-US" dirty="0" smtClean="0"/>
              <a:t> </a:t>
            </a:r>
            <a:r>
              <a:rPr lang="en-US" dirty="0" err="1" smtClean="0"/>
              <a:t>terbaru</a:t>
            </a:r>
            <a:r>
              <a:rPr lang="en-US" dirty="0" smtClean="0"/>
              <a:t> (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diversi</a:t>
            </a:r>
            <a:r>
              <a:rPr lang="en-US" dirty="0" smtClean="0"/>
              <a:t> </a:t>
            </a:r>
            <a:r>
              <a:rPr lang="en-US" b="1" dirty="0" smtClean="0"/>
              <a:t>22.0.4</a:t>
            </a:r>
            <a:r>
              <a:rPr lang="en-US" dirty="0" smtClean="0"/>
              <a:t>),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belum</a:t>
            </a:r>
            <a:r>
              <a:rPr lang="en-US" dirty="0" smtClean="0"/>
              <a:t> </a:t>
            </a:r>
            <a:r>
              <a:rPr lang="en-US" dirty="0" err="1" smtClean="0"/>
              <a:t>versi</a:t>
            </a:r>
            <a:r>
              <a:rPr lang="en-US" dirty="0" smtClean="0"/>
              <a:t> </a:t>
            </a:r>
            <a:r>
              <a:rPr lang="en-US" dirty="0" err="1" smtClean="0"/>
              <a:t>terbaru</a:t>
            </a:r>
            <a:r>
              <a:rPr lang="en-US" dirty="0" smtClean="0"/>
              <a:t> </a:t>
            </a:r>
            <a:r>
              <a:rPr lang="en-US" dirty="0" err="1" smtClean="0"/>
              <a:t>gunakan</a:t>
            </a:r>
            <a:r>
              <a:rPr lang="en-US" dirty="0" smtClean="0"/>
              <a:t> </a:t>
            </a:r>
            <a:r>
              <a:rPr lang="en-US" dirty="0" err="1" smtClean="0"/>
              <a:t>perintah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update </a:t>
            </a:r>
            <a:r>
              <a:rPr lang="en-US" dirty="0" err="1" smtClean="0"/>
              <a:t>versi</a:t>
            </a:r>
            <a:r>
              <a:rPr lang="en-US" dirty="0" smtClean="0"/>
              <a:t> </a:t>
            </a:r>
            <a:r>
              <a:rPr lang="en-US" b="1" dirty="0" smtClean="0"/>
              <a:t>PIP</a:t>
            </a:r>
            <a:r>
              <a:rPr lang="en-US" dirty="0" smtClean="0"/>
              <a:t> </a:t>
            </a:r>
            <a:r>
              <a:rPr lang="en-US" dirty="0" err="1" smtClean="0"/>
              <a:t>terbaru</a:t>
            </a:r>
            <a:r>
              <a:rPr lang="en-US" dirty="0" smtClean="0"/>
              <a:t> </a:t>
            </a:r>
            <a:r>
              <a:rPr lang="sv-SE" b="1" dirty="0"/>
              <a:t>python -m pip install –upgrade pip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44" y="3012173"/>
            <a:ext cx="5899453" cy="1276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895" y="4553785"/>
            <a:ext cx="9240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</a:t>
            </a:r>
            <a:r>
              <a:rPr lang="en-US" b="1" dirty="0" err="1"/>
              <a:t>numpy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requirement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menginstall</a:t>
            </a:r>
            <a:r>
              <a:rPr lang="en-US" dirty="0"/>
              <a:t> </a:t>
            </a:r>
            <a:r>
              <a:rPr lang="en-US" dirty="0" err="1"/>
              <a:t>OpenCV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mengetikkan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 </a:t>
            </a:r>
            <a:r>
              <a:rPr lang="en-US" b="1" dirty="0"/>
              <a:t>pip install </a:t>
            </a:r>
            <a:r>
              <a:rPr lang="en-US" b="1" dirty="0" err="1"/>
              <a:t>numpy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44" y="5332061"/>
            <a:ext cx="5956606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85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9250"/>
            <a:ext cx="10744200" cy="1228436"/>
          </a:xfrm>
        </p:spPr>
        <p:txBody>
          <a:bodyPr/>
          <a:lstStyle/>
          <a:p>
            <a:r>
              <a:rPr lang="en-US" b="1" dirty="0" smtClean="0"/>
              <a:t>Install </a:t>
            </a:r>
            <a:r>
              <a:rPr lang="en-US" b="1" dirty="0" err="1" smtClean="0"/>
              <a:t>OpenCV</a:t>
            </a:r>
            <a:r>
              <a:rPr lang="en-US" b="1" dirty="0" smtClean="0"/>
              <a:t> di python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89269" y="1729528"/>
            <a:ext cx="10000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 err="1" smtClean="0"/>
              <a:t>Ketikan</a:t>
            </a:r>
            <a:r>
              <a:rPr lang="en-US" sz="2000" dirty="0" smtClean="0"/>
              <a:t> </a:t>
            </a:r>
            <a:r>
              <a:rPr lang="en-US" sz="2000" dirty="0" err="1" smtClean="0"/>
              <a:t>perintah</a:t>
            </a:r>
            <a:r>
              <a:rPr lang="en-US" sz="2000" dirty="0" smtClean="0"/>
              <a:t> </a:t>
            </a:r>
            <a:r>
              <a:rPr lang="en-US" sz="2000" dirty="0" err="1" smtClean="0"/>
              <a:t>berikut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mejalankan</a:t>
            </a:r>
            <a:r>
              <a:rPr lang="en-US" sz="2000" dirty="0" smtClean="0"/>
              <a:t> </a:t>
            </a:r>
            <a:r>
              <a:rPr lang="en-US" sz="2000" dirty="0" err="1" smtClean="0"/>
              <a:t>perintah</a:t>
            </a:r>
            <a:r>
              <a:rPr lang="en-US" sz="2000" dirty="0" smtClean="0"/>
              <a:t> </a:t>
            </a:r>
            <a:r>
              <a:rPr lang="en-US" sz="2000" b="1" dirty="0" err="1" smtClean="0"/>
              <a:t>OpenCV</a:t>
            </a:r>
            <a:r>
              <a:rPr lang="en-US" sz="2000" b="1" dirty="0" smtClean="0"/>
              <a:t> : </a:t>
            </a:r>
            <a:r>
              <a:rPr lang="en-US" sz="2000" b="1" dirty="0"/>
              <a:t>pip install </a:t>
            </a:r>
            <a:r>
              <a:rPr lang="en-US" sz="2000" b="1" dirty="0" err="1" smtClean="0"/>
              <a:t>opencv</a:t>
            </a:r>
            <a:r>
              <a:rPr lang="en-US" sz="2000" b="1" dirty="0" smtClean="0"/>
              <a:t>-python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 err="1" smtClean="0"/>
              <a:t>Tunggu</a:t>
            </a:r>
            <a:r>
              <a:rPr lang="en-US" sz="2000" dirty="0" smtClean="0"/>
              <a:t> </a:t>
            </a:r>
            <a:r>
              <a:rPr lang="en-US" sz="2000" dirty="0" err="1" smtClean="0"/>
              <a:t>prosess</a:t>
            </a:r>
            <a:r>
              <a:rPr lang="en-US" sz="2000" dirty="0" smtClean="0"/>
              <a:t> </a:t>
            </a:r>
            <a:r>
              <a:rPr lang="en-US" sz="2000" dirty="0" err="1" smtClean="0"/>
              <a:t>intalasi</a:t>
            </a:r>
            <a:r>
              <a:rPr lang="en-US" sz="2000" dirty="0" smtClean="0"/>
              <a:t> </a:t>
            </a:r>
            <a:r>
              <a:rPr lang="en-US" sz="2000" dirty="0" err="1" smtClean="0"/>
              <a:t>nya</a:t>
            </a:r>
            <a:r>
              <a:rPr lang="en-US" sz="2000" dirty="0" smtClean="0"/>
              <a:t> </a:t>
            </a:r>
            <a:r>
              <a:rPr lang="en-US" sz="2000" dirty="0" err="1" smtClean="0"/>
              <a:t>selesai</a:t>
            </a:r>
            <a:r>
              <a:rPr lang="en-US" sz="2000" dirty="0" smtClean="0"/>
              <a:t>!!.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37" y="2957756"/>
            <a:ext cx="4349974" cy="1054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9269" y="4417995"/>
            <a:ext cx="9201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mengecek</a:t>
            </a:r>
            <a:r>
              <a:rPr lang="en-US" sz="2000" dirty="0" smtClean="0"/>
              <a:t> </a:t>
            </a:r>
            <a:r>
              <a:rPr lang="en-US" sz="2000" dirty="0" err="1" smtClean="0"/>
              <a:t>apakah</a:t>
            </a:r>
            <a:r>
              <a:rPr lang="en-US" sz="2000" dirty="0"/>
              <a:t> </a:t>
            </a:r>
            <a:r>
              <a:rPr lang="en-US" sz="2000" dirty="0" err="1" smtClean="0"/>
              <a:t>OpenCV</a:t>
            </a:r>
            <a:r>
              <a:rPr lang="en-US" sz="2000" dirty="0" smtClean="0"/>
              <a:t> </a:t>
            </a:r>
            <a:r>
              <a:rPr lang="en-US" sz="2000" dirty="0" err="1" smtClean="0"/>
              <a:t>sudah</a:t>
            </a:r>
            <a:r>
              <a:rPr lang="en-US" sz="2000" dirty="0" smtClean="0"/>
              <a:t> </a:t>
            </a:r>
            <a:r>
              <a:rPr lang="en-US" sz="2000" dirty="0" err="1" smtClean="0"/>
              <a:t>terinstall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belum</a:t>
            </a:r>
            <a:r>
              <a:rPr lang="en-US" sz="2000" dirty="0" smtClean="0"/>
              <a:t>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mengecek</a:t>
            </a:r>
            <a:r>
              <a:rPr lang="en-US" sz="2000" dirty="0" smtClean="0"/>
              <a:t> </a:t>
            </a:r>
            <a:r>
              <a:rPr lang="en-US" sz="2000" dirty="0" err="1" smtClean="0"/>
              <a:t>versi</a:t>
            </a:r>
            <a:r>
              <a:rPr lang="en-US" sz="2000" dirty="0" smtClean="0"/>
              <a:t> </a:t>
            </a:r>
            <a:r>
              <a:rPr lang="en-US" sz="2000" dirty="0" err="1" smtClean="0"/>
              <a:t>berapakah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terinstall</a:t>
            </a:r>
            <a:r>
              <a:rPr lang="en-US" sz="2000" dirty="0" smtClean="0"/>
              <a:t> </a:t>
            </a:r>
            <a:r>
              <a:rPr lang="en-US" sz="2000" dirty="0" err="1" smtClean="0"/>
              <a:t>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perintah</a:t>
            </a:r>
            <a:r>
              <a:rPr lang="en-US" sz="2000" dirty="0"/>
              <a:t>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37" y="5449442"/>
            <a:ext cx="4539595" cy="10605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87437" y="6266047"/>
            <a:ext cx="920496" cy="234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 flipV="1">
            <a:off x="2107933" y="6383184"/>
            <a:ext cx="387376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02417" y="6142766"/>
            <a:ext cx="357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Versi</a:t>
            </a:r>
            <a:r>
              <a:rPr lang="en-US" dirty="0" smtClean="0"/>
              <a:t> </a:t>
            </a:r>
            <a:r>
              <a:rPr lang="en-US" dirty="0" err="1" smtClean="0"/>
              <a:t>OpenCv</a:t>
            </a:r>
            <a:r>
              <a:rPr lang="en-US" dirty="0" smtClean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di </a:t>
            </a:r>
            <a:r>
              <a:rPr lang="en-US" b="1" dirty="0" smtClean="0"/>
              <a:t>‘4.4.0’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645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04775" y="1722922"/>
            <a:ext cx="743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smtClean="0"/>
              <a:t>Load </a:t>
            </a:r>
            <a:r>
              <a:rPr lang="en-US" sz="2800" b="1" u="sng" dirty="0" err="1" smtClean="0"/>
              <a:t>Gambar</a:t>
            </a:r>
            <a:r>
              <a:rPr lang="en-US" sz="2800" b="1" u="sng" dirty="0" smtClean="0"/>
              <a:t> / </a:t>
            </a:r>
            <a:r>
              <a:rPr lang="en-US" sz="2800" b="1" u="sng" dirty="0" err="1" smtClean="0"/>
              <a:t>Memuat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Gambar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260909" y="2246142"/>
            <a:ext cx="834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Load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b="1" dirty="0" smtClean="0"/>
              <a:t>cv2.imread(path),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menampikannya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cv2.imshow(</a:t>
            </a:r>
            <a:r>
              <a:rPr lang="en-US" b="1" dirty="0" err="1" smtClean="0"/>
              <a:t>window_name,image</a:t>
            </a:r>
            <a:r>
              <a:rPr lang="en-US" b="1" dirty="0" smtClean="0"/>
              <a:t>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09" y="3365485"/>
            <a:ext cx="5156465" cy="3187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0909" y="2878003"/>
            <a:ext cx="190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Contoh</a:t>
            </a:r>
            <a:r>
              <a:rPr lang="en-US" b="1" dirty="0" smtClean="0"/>
              <a:t> Code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1713297" y="3821229"/>
            <a:ext cx="2695074" cy="481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427621" y="4071486"/>
            <a:ext cx="21849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12556" y="3933161"/>
            <a:ext cx="42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File </a:t>
            </a:r>
            <a:r>
              <a:rPr lang="en-US" dirty="0" err="1" smtClean="0"/>
              <a:t>lokasi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713297" y="4437246"/>
            <a:ext cx="2695074" cy="45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1" idx="3"/>
          </p:cNvCxnSpPr>
          <p:nvPr/>
        </p:nvCxnSpPr>
        <p:spPr>
          <a:xfrm>
            <a:off x="4408371" y="4663440"/>
            <a:ext cx="22041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12556" y="4478774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Membaca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cv2.imread(path)</a:t>
            </a:r>
            <a:endParaRPr lang="en-US" b="1" dirty="0"/>
          </a:p>
        </p:txBody>
      </p:sp>
      <p:sp>
        <p:nvSpPr>
          <p:cNvPr id="15" name="Rectangle 14"/>
          <p:cNvSpPr/>
          <p:nvPr/>
        </p:nvSpPr>
        <p:spPr>
          <a:xfrm>
            <a:off x="1713297" y="5043638"/>
            <a:ext cx="3089709" cy="616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5" idx="3"/>
          </p:cNvCxnSpPr>
          <p:nvPr/>
        </p:nvCxnSpPr>
        <p:spPr>
          <a:xfrm flipV="1">
            <a:off x="4803006" y="5351299"/>
            <a:ext cx="1809550" cy="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12556" y="5158340"/>
            <a:ext cx="388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Menampikan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cv2.imshow(</a:t>
            </a:r>
            <a:r>
              <a:rPr lang="en-US" b="1" i="1" dirty="0" err="1" smtClean="0"/>
              <a:t>window_name,image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0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err="1"/>
              <a:t>-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04775" y="1722922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err="1" smtClean="0"/>
              <a:t>Mengetahui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Ukuran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Gambar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dan</a:t>
            </a:r>
            <a:r>
              <a:rPr lang="en-US" sz="2800" b="1" u="sng" dirty="0" smtClean="0"/>
              <a:t> Chanel </a:t>
            </a:r>
            <a:r>
              <a:rPr lang="en-US" sz="2800" b="1" u="sng" dirty="0" err="1" smtClean="0"/>
              <a:t>warna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232033" y="2246142"/>
            <a:ext cx="770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ukuran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shape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32033" y="3051258"/>
            <a:ext cx="190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Contoh</a:t>
            </a:r>
            <a:r>
              <a:rPr lang="en-US" b="1" dirty="0" smtClean="0"/>
              <a:t> Code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33" y="3579375"/>
            <a:ext cx="5137414" cy="23623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65171" y="4090737"/>
            <a:ext cx="2791326" cy="433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3"/>
          </p:cNvCxnSpPr>
          <p:nvPr/>
        </p:nvCxnSpPr>
        <p:spPr>
          <a:xfrm flipV="1">
            <a:off x="4456497" y="4307305"/>
            <a:ext cx="216568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89558" y="4122639"/>
            <a:ext cx="42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File </a:t>
            </a:r>
            <a:r>
              <a:rPr lang="en-US" dirty="0" err="1" smtClean="0"/>
              <a:t>lokasi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665171" y="4523874"/>
            <a:ext cx="2791326" cy="385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56497" y="4740442"/>
            <a:ext cx="2165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89558" y="4445804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Membaca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cv2.imread(path)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665171" y="5092135"/>
            <a:ext cx="3551722" cy="45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226518" y="5284237"/>
            <a:ext cx="13956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89558" y="5075806"/>
            <a:ext cx="4870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err="1" smtClean="0"/>
              <a:t>image.shape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b="1" dirty="0" err="1" smtClean="0"/>
              <a:t>tinggi</a:t>
            </a:r>
            <a:r>
              <a:rPr lang="en-US" dirty="0" err="1" smtClean="0"/>
              <a:t>,</a:t>
            </a:r>
            <a:r>
              <a:rPr lang="en-US" b="1" dirty="0" err="1" smtClean="0"/>
              <a:t>lebar</a:t>
            </a:r>
            <a:r>
              <a:rPr lang="en-US" dirty="0" err="1" smtClean="0"/>
              <a:t>,dan</a:t>
            </a:r>
            <a:r>
              <a:rPr lang="en-US" dirty="0" smtClean="0"/>
              <a:t> </a:t>
            </a:r>
            <a:r>
              <a:rPr lang="en-US" b="1" dirty="0" err="1" smtClean="0"/>
              <a:t>chanel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74010" y="5650885"/>
            <a:ext cx="433138" cy="219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1" idx="2"/>
          </p:cNvCxnSpPr>
          <p:nvPr/>
        </p:nvCxnSpPr>
        <p:spPr>
          <a:xfrm>
            <a:off x="1490579" y="5870444"/>
            <a:ext cx="0" cy="2509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96565" y="6047032"/>
            <a:ext cx="81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Tinggi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1707148" y="5650885"/>
            <a:ext cx="477786" cy="219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913465" y="5870444"/>
            <a:ext cx="0" cy="2509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37591" y="6063960"/>
            <a:ext cx="81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Lebar</a:t>
            </a:r>
            <a:endParaRPr lang="en-US" sz="1200" dirty="0"/>
          </a:p>
        </p:txBody>
      </p:sp>
      <p:sp>
        <p:nvSpPr>
          <p:cNvPr id="28" name="Rectangle 27"/>
          <p:cNvSpPr/>
          <p:nvPr/>
        </p:nvSpPr>
        <p:spPr>
          <a:xfrm>
            <a:off x="2184934" y="5650885"/>
            <a:ext cx="287333" cy="219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337556" y="5870444"/>
            <a:ext cx="0" cy="2509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63817" y="6072433"/>
            <a:ext cx="81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Channel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486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err="1"/>
              <a:t>-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28575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smtClean="0"/>
              <a:t>r</a:t>
            </a:r>
            <a:r>
              <a:rPr lang="en-US" sz="2800" b="1" u="sng" dirty="0"/>
              <a:t>e</a:t>
            </a:r>
            <a:r>
              <a:rPr lang="en-US" sz="2800" b="1" u="sng" dirty="0" smtClean="0"/>
              <a:t>size </a:t>
            </a:r>
            <a:r>
              <a:rPr lang="en-US" sz="2800" b="1" u="sng" dirty="0" err="1" smtClean="0"/>
              <a:t>gambar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155833" y="2085275"/>
            <a:ext cx="770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resize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cv2.resize(path</a:t>
            </a:r>
            <a:r>
              <a:rPr lang="en-US" b="1" dirty="0"/>
              <a:t>,(</a:t>
            </a:r>
            <a:r>
              <a:rPr lang="en-US" b="1" dirty="0" err="1" smtClean="0"/>
              <a:t>width,height</a:t>
            </a:r>
            <a:r>
              <a:rPr lang="en-US" b="1" dirty="0" smtClean="0"/>
              <a:t>), interpolation)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33" y="2819295"/>
            <a:ext cx="5117967" cy="33230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07067" y="3048000"/>
            <a:ext cx="2658533" cy="347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8" idx="3"/>
          </p:cNvCxnSpPr>
          <p:nvPr/>
        </p:nvCxnSpPr>
        <p:spPr>
          <a:xfrm flipV="1">
            <a:off x="4165600" y="3221566"/>
            <a:ext cx="240453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70133" y="3025801"/>
            <a:ext cx="42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File </a:t>
            </a:r>
            <a:r>
              <a:rPr lang="en-US" dirty="0" err="1" smtClean="0"/>
              <a:t>lokasi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507067" y="3395133"/>
            <a:ext cx="2658533" cy="296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18" idx="3"/>
          </p:cNvCxnSpPr>
          <p:nvPr/>
        </p:nvCxnSpPr>
        <p:spPr>
          <a:xfrm>
            <a:off x="4165600" y="3543300"/>
            <a:ext cx="2404533" cy="253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70133" y="3366162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Membaca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cv2.imread(path)</a:t>
            </a:r>
            <a:endParaRPr lang="en-US" b="1" dirty="0"/>
          </a:p>
        </p:txBody>
      </p:sp>
      <p:sp>
        <p:nvSpPr>
          <p:cNvPr id="34" name="Rectangle 33"/>
          <p:cNvSpPr/>
          <p:nvPr/>
        </p:nvSpPr>
        <p:spPr>
          <a:xfrm>
            <a:off x="1507067" y="4480839"/>
            <a:ext cx="3318933" cy="370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4" idx="3"/>
          </p:cNvCxnSpPr>
          <p:nvPr/>
        </p:nvCxnSpPr>
        <p:spPr>
          <a:xfrm flipV="1">
            <a:off x="4826000" y="4666119"/>
            <a:ext cx="16764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2611" y="4335659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lebar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err="1" smtClean="0"/>
              <a:t>scale_persentanse</a:t>
            </a:r>
            <a:endParaRPr lang="en-US" b="1" dirty="0"/>
          </a:p>
        </p:txBody>
      </p:sp>
      <p:sp>
        <p:nvSpPr>
          <p:cNvPr id="38" name="Rectangle 37"/>
          <p:cNvSpPr/>
          <p:nvPr/>
        </p:nvSpPr>
        <p:spPr>
          <a:xfrm>
            <a:off x="1507067" y="4851400"/>
            <a:ext cx="4605866" cy="355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stCxn id="38" idx="3"/>
          </p:cNvCxnSpPr>
          <p:nvPr/>
        </p:nvCxnSpPr>
        <p:spPr>
          <a:xfrm>
            <a:off x="6112933" y="5029200"/>
            <a:ext cx="3894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70132" y="4953019"/>
            <a:ext cx="5063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Resize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cv2.resize(path,(</a:t>
            </a:r>
            <a:r>
              <a:rPr lang="en-US" b="1" dirty="0" err="1" smtClean="0"/>
              <a:t>width,heigth</a:t>
            </a:r>
            <a:r>
              <a:rPr lang="en-US" b="1" dirty="0" smtClean="0"/>
              <a:t>), </a:t>
            </a:r>
            <a:r>
              <a:rPr lang="en-US" b="1" dirty="0"/>
              <a:t>interpolation</a:t>
            </a:r>
            <a:r>
              <a:rPr lang="en-US" b="1" dirty="0" smtClean="0"/>
              <a:t>)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5452533" y="5207000"/>
            <a:ext cx="1049867" cy="482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70133" y="4335659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lebar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err="1" smtClean="0"/>
              <a:t>scale_persentanse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582611" y="5689600"/>
            <a:ext cx="4889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 smtClean="0"/>
              <a:t>Cv2.INTER_AREA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ketika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kita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perlu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mengecilkan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.</a:t>
            </a:r>
            <a:r>
              <a:rPr lang="en-US" sz="600" dirty="0"/>
              <a:t> </a:t>
            </a:r>
            <a:endParaRPr lang="en-US" sz="1400" dirty="0">
              <a:latin typeface="Arial" panose="020B0604020202020204" pitchFamily="34" charset="0"/>
            </a:endParaRPr>
          </a:p>
          <a:p>
            <a:endParaRPr lang="en-US" b="1" dirty="0"/>
          </a:p>
        </p:txBody>
      </p:sp>
      <p:sp>
        <p:nvSpPr>
          <p:cNvPr id="48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8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err="1"/>
              <a:t>-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28575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smtClean="0"/>
              <a:t>Save file </a:t>
            </a:r>
            <a:r>
              <a:rPr lang="en-US" sz="2800" b="1" u="sng" dirty="0" err="1" smtClean="0"/>
              <a:t>gambar</a:t>
            </a:r>
            <a:endParaRPr lang="en-US" sz="2800" b="1" u="sng" dirty="0"/>
          </a:p>
        </p:txBody>
      </p:sp>
      <p:sp>
        <p:nvSpPr>
          <p:cNvPr id="48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3734" y="1957228"/>
            <a:ext cx="10151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b="1" dirty="0" smtClean="0"/>
              <a:t>cv2.imwrite(</a:t>
            </a:r>
            <a:r>
              <a:rPr lang="en-US" b="1" dirty="0" err="1" smtClean="0"/>
              <a:t>filename,image</a:t>
            </a:r>
            <a:r>
              <a:rPr lang="en-US" b="1" dirty="0" smtClean="0"/>
              <a:t>)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digunakan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untuk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menyimpan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ke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perangkat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penyimpanan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apa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pun.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Ini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akan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menyimpan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sesuai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dengan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format yang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ditentukan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di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direktori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kerja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saat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ini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.</a:t>
            </a:r>
            <a:r>
              <a:rPr lang="en-US" sz="600" dirty="0"/>
              <a:t> 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34" y="2968870"/>
            <a:ext cx="4800847" cy="3791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01542" y="3407344"/>
            <a:ext cx="3051208" cy="45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1" idx="3"/>
          </p:cNvCxnSpPr>
          <p:nvPr/>
        </p:nvCxnSpPr>
        <p:spPr>
          <a:xfrm flipV="1">
            <a:off x="4552750" y="3619099"/>
            <a:ext cx="1530416" cy="144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3166" y="3448872"/>
            <a:ext cx="42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File </a:t>
            </a:r>
            <a:r>
              <a:rPr lang="en-US" dirty="0" err="1" smtClean="0"/>
              <a:t>lokasi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501542" y="3859732"/>
            <a:ext cx="3051208" cy="394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15" idx="3"/>
          </p:cNvCxnSpPr>
          <p:nvPr/>
        </p:nvCxnSpPr>
        <p:spPr>
          <a:xfrm flipV="1">
            <a:off x="4552750" y="4042611"/>
            <a:ext cx="1530416" cy="14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83165" y="3845293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Lokasi</a:t>
            </a:r>
            <a:r>
              <a:rPr lang="en-US" dirty="0" smtClean="0"/>
              <a:t> directory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simpan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01542" y="4658628"/>
            <a:ext cx="3051208" cy="186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083165" y="4491624"/>
            <a:ext cx="42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Membaca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b="1" dirty="0" smtClean="0"/>
              <a:t>cv2.imread(path)</a:t>
            </a:r>
            <a:endParaRPr lang="en-US" b="1" dirty="0"/>
          </a:p>
        </p:txBody>
      </p: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4552750" y="4703379"/>
            <a:ext cx="1530415" cy="485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01542" y="5467149"/>
            <a:ext cx="3908658" cy="616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3"/>
          </p:cNvCxnSpPr>
          <p:nvPr/>
        </p:nvCxnSpPr>
        <p:spPr>
          <a:xfrm flipV="1">
            <a:off x="5410200" y="5765533"/>
            <a:ext cx="672965" cy="9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59500" y="5467149"/>
            <a:ext cx="4110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b="1" dirty="0" smtClean="0"/>
              <a:t>cv2.imwrite(</a:t>
            </a:r>
            <a:r>
              <a:rPr lang="en-US" b="1" dirty="0" err="1" smtClean="0"/>
              <a:t>fileNameBaru,path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1501542" y="6260095"/>
            <a:ext cx="2858702" cy="238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>
          <a:xfrm>
            <a:off x="4360244" y="6379467"/>
            <a:ext cx="17229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59500" y="6119508"/>
            <a:ext cx="4552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os.listdir</a:t>
            </a:r>
            <a:r>
              <a:rPr lang="en-US" b="1" dirty="0" smtClean="0"/>
              <a:t>(path)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directori</a:t>
            </a:r>
            <a:r>
              <a:rPr lang="en-US" dirty="0" smtClean="0"/>
              <a:t> path </a:t>
            </a:r>
            <a:r>
              <a:rPr lang="en-US" dirty="0" err="1" smtClean="0"/>
              <a:t>tersebut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4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1198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err="1" smtClean="0"/>
              <a:t>Membuat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Garis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029904" y="2175310"/>
            <a:ext cx="785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b="1" dirty="0" err="1" smtClean="0"/>
              <a:t>Garis</a:t>
            </a:r>
            <a:r>
              <a:rPr lang="en-US" b="1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b="1" dirty="0" smtClean="0"/>
              <a:t>cv2.line(image,(</a:t>
            </a:r>
            <a:r>
              <a:rPr lang="en-US" b="1" dirty="0" err="1" smtClean="0"/>
              <a:t>titik_awal,titik_akhir</a:t>
            </a:r>
            <a:r>
              <a:rPr lang="en-US" b="1" dirty="0" smtClean="0"/>
              <a:t>),</a:t>
            </a:r>
            <a:r>
              <a:rPr lang="en-US" b="1" dirty="0" err="1" smtClean="0"/>
              <a:t>warna,ketebalan_garis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135781" y="3724976"/>
            <a:ext cx="2213810" cy="288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1" y="3170666"/>
            <a:ext cx="6298630" cy="25467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60909" y="3705726"/>
            <a:ext cx="1848051" cy="288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1" idx="3"/>
          </p:cNvCxnSpPr>
          <p:nvPr/>
        </p:nvCxnSpPr>
        <p:spPr>
          <a:xfrm>
            <a:off x="3108960" y="3850105"/>
            <a:ext cx="47260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34963" y="3667225"/>
            <a:ext cx="428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Titik_awal</a:t>
            </a:r>
            <a:r>
              <a:rPr lang="en-US" dirty="0" smtClean="0"/>
              <a:t> = (</a:t>
            </a:r>
            <a:r>
              <a:rPr lang="en-US" b="1" dirty="0" smtClean="0"/>
              <a:t>X </a:t>
            </a:r>
            <a:r>
              <a:rPr lang="en-US" b="1" dirty="0" err="1" smtClean="0"/>
              <a:t>koordinat</a:t>
            </a:r>
            <a:r>
              <a:rPr lang="en-US" dirty="0" smtClean="0"/>
              <a:t>, </a:t>
            </a:r>
            <a:r>
              <a:rPr lang="en-US" b="1" dirty="0" smtClean="0"/>
              <a:t>Y </a:t>
            </a:r>
            <a:r>
              <a:rPr lang="en-US" b="1" dirty="0" err="1" smtClean="0"/>
              <a:t>koordinat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251284" y="4138864"/>
            <a:ext cx="2377440" cy="2406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5" idx="3"/>
          </p:cNvCxnSpPr>
          <p:nvPr/>
        </p:nvCxnSpPr>
        <p:spPr>
          <a:xfrm>
            <a:off x="3628724" y="4259180"/>
            <a:ext cx="42062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81485" y="4031382"/>
            <a:ext cx="428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Titik_akhir</a:t>
            </a:r>
            <a:r>
              <a:rPr lang="en-US" dirty="0" smtClean="0"/>
              <a:t>= (</a:t>
            </a:r>
            <a:r>
              <a:rPr lang="en-US" b="1" dirty="0" smtClean="0"/>
              <a:t>X </a:t>
            </a:r>
            <a:r>
              <a:rPr lang="en-US" b="1" dirty="0" err="1" smtClean="0"/>
              <a:t>koordinat</a:t>
            </a:r>
            <a:r>
              <a:rPr lang="en-US" dirty="0" smtClean="0"/>
              <a:t>, </a:t>
            </a:r>
            <a:r>
              <a:rPr lang="en-US" b="1" dirty="0" smtClean="0"/>
              <a:t>Y </a:t>
            </a:r>
            <a:r>
              <a:rPr lang="en-US" b="1" dirty="0" err="1" smtClean="0"/>
              <a:t>koordinat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60909" y="4533500"/>
            <a:ext cx="1925053" cy="2983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9" idx="3"/>
          </p:cNvCxnSpPr>
          <p:nvPr/>
        </p:nvCxnSpPr>
        <p:spPr>
          <a:xfrm flipV="1">
            <a:off x="3185962" y="4682691"/>
            <a:ext cx="46490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81484" y="4498025"/>
            <a:ext cx="428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nya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260909" y="5014763"/>
            <a:ext cx="1366788" cy="202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5" idx="3"/>
          </p:cNvCxnSpPr>
          <p:nvPr/>
        </p:nvCxnSpPr>
        <p:spPr>
          <a:xfrm>
            <a:off x="2627697" y="5115828"/>
            <a:ext cx="52072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81483" y="4931162"/>
            <a:ext cx="4283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Ketebalan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nya,dalam</a:t>
            </a:r>
            <a:r>
              <a:rPr lang="en-US" dirty="0" smtClean="0"/>
              <a:t> </a:t>
            </a:r>
            <a:r>
              <a:rPr lang="en-US" dirty="0" err="1" smtClean="0"/>
              <a:t>satuan</a:t>
            </a:r>
            <a:r>
              <a:rPr lang="en-US" dirty="0" smtClean="0"/>
              <a:t> </a:t>
            </a:r>
            <a:r>
              <a:rPr lang="en-US" b="1" dirty="0" err="1" smtClean="0"/>
              <a:t>px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0408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52570"/>
            <a:ext cx="6878855" cy="36081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656" y="2652570"/>
            <a:ext cx="3822896" cy="24512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91890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Contoh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Progam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183077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Hasil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1859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1198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err="1" smtClean="0"/>
              <a:t>Membuat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Lingkaran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029904" y="2175310"/>
            <a:ext cx="785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b="1" dirty="0" err="1" smtClean="0"/>
              <a:t>lingkaran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b="1" dirty="0" smtClean="0"/>
              <a:t>cv2.circle(</a:t>
            </a:r>
            <a:r>
              <a:rPr lang="en-US" b="1" dirty="0" err="1" smtClean="0"/>
              <a:t>image,center_coordinat,radius,warna,ketebalan</a:t>
            </a:r>
            <a:r>
              <a:rPr lang="en-US" b="1" dirty="0" smtClean="0"/>
              <a:t>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04" y="3153212"/>
            <a:ext cx="6202039" cy="29107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83907" y="3676851"/>
            <a:ext cx="3108960" cy="5582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4292867" y="3946358"/>
            <a:ext cx="3330341" cy="9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3208" y="3494318"/>
            <a:ext cx="456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Pusat</a:t>
            </a:r>
            <a:r>
              <a:rPr lang="en-US" dirty="0" smtClean="0"/>
              <a:t> </a:t>
            </a:r>
            <a:r>
              <a:rPr lang="en-US" dirty="0" err="1" smtClean="0"/>
              <a:t>koordinat</a:t>
            </a:r>
            <a:r>
              <a:rPr lang="en-US" dirty="0" smtClean="0"/>
              <a:t> </a:t>
            </a:r>
            <a:r>
              <a:rPr lang="en-US" dirty="0" err="1" smtClean="0"/>
              <a:t>lingkaran,dibuat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(</a:t>
            </a:r>
            <a:r>
              <a:rPr lang="en-US" b="1" dirty="0" err="1" smtClean="0"/>
              <a:t>Koordinat</a:t>
            </a:r>
            <a:r>
              <a:rPr lang="en-US" b="1" dirty="0" smtClean="0"/>
              <a:t> X</a:t>
            </a:r>
            <a:r>
              <a:rPr lang="en-US" dirty="0" smtClean="0"/>
              <a:t>, </a:t>
            </a:r>
            <a:r>
              <a:rPr lang="en-US" b="1" dirty="0" err="1" smtClean="0"/>
              <a:t>Koordinat</a:t>
            </a:r>
            <a:r>
              <a:rPr lang="en-US" b="1" dirty="0" smtClean="0"/>
              <a:t> Y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183907" y="4321744"/>
            <a:ext cx="1636295" cy="288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16" idx="3"/>
          </p:cNvCxnSpPr>
          <p:nvPr/>
        </p:nvCxnSpPr>
        <p:spPr>
          <a:xfrm flipV="1">
            <a:off x="2820202" y="4427621"/>
            <a:ext cx="4803006" cy="38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3208" y="4242955"/>
            <a:ext cx="40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Radius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Jari</a:t>
            </a:r>
            <a:r>
              <a:rPr lang="en-US" dirty="0" smtClean="0"/>
              <a:t> – </a:t>
            </a:r>
            <a:r>
              <a:rPr lang="en-US" dirty="0" err="1" smtClean="0"/>
              <a:t>jari</a:t>
            </a:r>
            <a:r>
              <a:rPr lang="en-US" dirty="0" smtClean="0"/>
              <a:t> </a:t>
            </a:r>
            <a:r>
              <a:rPr lang="en-US" dirty="0" err="1" smtClean="0"/>
              <a:t>lingkaran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174282" y="4716380"/>
            <a:ext cx="2011680" cy="7122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28" idx="3"/>
          </p:cNvCxnSpPr>
          <p:nvPr/>
        </p:nvCxnSpPr>
        <p:spPr>
          <a:xfrm>
            <a:off x="3185962" y="5072515"/>
            <a:ext cx="44372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23208" y="4896034"/>
            <a:ext cx="40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ketebalan</a:t>
            </a:r>
            <a:r>
              <a:rPr lang="en-US" dirty="0" smtClean="0"/>
              <a:t> </a:t>
            </a:r>
            <a:r>
              <a:rPr lang="en-US" dirty="0" err="1" smtClean="0"/>
              <a:t>lingkaran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5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91890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Contoh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Progam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183077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Hasil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53" y="2492595"/>
            <a:ext cx="6585288" cy="40070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903" y="2492595"/>
            <a:ext cx="3886400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2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1198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err="1" smtClean="0"/>
              <a:t>Membuat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Persegipanjang</a:t>
            </a:r>
            <a:endParaRPr lang="en-US" sz="2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1049154" y="2165684"/>
            <a:ext cx="10304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202124"/>
                </a:solidFill>
                <a:latin typeface="Segoe UI (Body)"/>
              </a:rPr>
              <a:t>Metode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b="1" dirty="0" smtClean="0">
                <a:solidFill>
                  <a:srgbClr val="202124"/>
                </a:solidFill>
                <a:latin typeface="Segoe UI (Body)"/>
              </a:rPr>
              <a:t>cv2.rectangle(</a:t>
            </a:r>
            <a:r>
              <a:rPr lang="en-US" b="1" dirty="0" err="1" smtClean="0">
                <a:solidFill>
                  <a:srgbClr val="202124"/>
                </a:solidFill>
                <a:latin typeface="Segoe UI (Body)"/>
              </a:rPr>
              <a:t>image,titik_awal,titik_akhir,warna,ketebalan</a:t>
            </a:r>
            <a:r>
              <a:rPr lang="en-US" b="1" dirty="0" smtClean="0">
                <a:solidFill>
                  <a:srgbClr val="202124"/>
                </a:solidFill>
                <a:latin typeface="Segoe UI (Body)"/>
              </a:rPr>
              <a:t>)</a:t>
            </a:r>
            <a:r>
              <a:rPr lang="en-US" dirty="0" smtClean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digunakan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untuk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menggambar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persegi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panjang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pada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apa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pun</a:t>
            </a:r>
            <a:r>
              <a:rPr lang="en-US" dirty="0">
                <a:latin typeface="Segoe UI (Body)"/>
              </a:rPr>
              <a:t> 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94662"/>
            <a:ext cx="6752714" cy="2988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3394" y="3638349"/>
            <a:ext cx="2184934" cy="38501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1" idx="3"/>
          </p:cNvCxnSpPr>
          <p:nvPr/>
        </p:nvCxnSpPr>
        <p:spPr>
          <a:xfrm flipV="1">
            <a:off x="2868328" y="3830854"/>
            <a:ext cx="485113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3394" y="4158115"/>
            <a:ext cx="2791326" cy="2791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5" idx="3"/>
          </p:cNvCxnSpPr>
          <p:nvPr/>
        </p:nvCxnSpPr>
        <p:spPr>
          <a:xfrm flipV="1">
            <a:off x="3474720" y="4297681"/>
            <a:ext cx="424474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3394" y="4588914"/>
            <a:ext cx="2348564" cy="7723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19" idx="3"/>
          </p:cNvCxnSpPr>
          <p:nvPr/>
        </p:nvCxnSpPr>
        <p:spPr>
          <a:xfrm>
            <a:off x="3031958" y="4975093"/>
            <a:ext cx="46875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19460" y="3489426"/>
            <a:ext cx="447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</a:t>
            </a:r>
            <a:r>
              <a:rPr lang="en-US" dirty="0" err="1" smtClean="0"/>
              <a:t>mewakili</a:t>
            </a:r>
            <a:r>
              <a:rPr lang="en-US" dirty="0" smtClean="0"/>
              <a:t> </a:t>
            </a:r>
            <a:r>
              <a:rPr lang="en-US" b="1" dirty="0" err="1" smtClean="0"/>
              <a:t>sudut</a:t>
            </a:r>
            <a:r>
              <a:rPr lang="en-US" b="1" dirty="0" smtClean="0"/>
              <a:t> </a:t>
            </a:r>
            <a:r>
              <a:rPr lang="en-US" b="1" dirty="0" err="1" smtClean="0"/>
              <a:t>kiri</a:t>
            </a:r>
            <a:r>
              <a:rPr lang="en-US" b="1" dirty="0" smtClean="0"/>
              <a:t> </a:t>
            </a:r>
            <a:r>
              <a:rPr lang="en-US" b="1" dirty="0" err="1" smtClean="0"/>
              <a:t>atas</a:t>
            </a:r>
            <a:r>
              <a:rPr lang="en-US" b="1" dirty="0" smtClean="0"/>
              <a:t> </a:t>
            </a:r>
            <a:r>
              <a:rPr lang="en-US" dirty="0" err="1" smtClean="0"/>
              <a:t>persegipanjang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19461" y="4076164"/>
            <a:ext cx="447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mewakili</a:t>
            </a:r>
            <a:r>
              <a:rPr lang="en-US" dirty="0" smtClean="0"/>
              <a:t> </a:t>
            </a:r>
            <a:r>
              <a:rPr lang="en-US" b="1" dirty="0" err="1" smtClean="0"/>
              <a:t>sudut</a:t>
            </a:r>
            <a:r>
              <a:rPr lang="en-US" b="1" dirty="0" smtClean="0"/>
              <a:t> </a:t>
            </a:r>
            <a:r>
              <a:rPr lang="en-US" b="1" dirty="0" err="1" smtClean="0"/>
              <a:t>kanan</a:t>
            </a:r>
            <a:r>
              <a:rPr lang="en-US" b="1" dirty="0" smtClean="0"/>
              <a:t> </a:t>
            </a:r>
            <a:r>
              <a:rPr lang="en-US" b="1" dirty="0" err="1" smtClean="0"/>
              <a:t>bawah</a:t>
            </a:r>
            <a:r>
              <a:rPr lang="en-US" b="1" dirty="0" smtClean="0"/>
              <a:t> </a:t>
            </a:r>
            <a:r>
              <a:rPr lang="en-US" dirty="0" err="1" smtClean="0"/>
              <a:t>persegipanjang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719460" y="4783138"/>
            <a:ext cx="40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ketebalan</a:t>
            </a:r>
            <a:r>
              <a:rPr lang="en-US" dirty="0" smtClean="0"/>
              <a:t> </a:t>
            </a:r>
            <a:r>
              <a:rPr lang="en-US" dirty="0" err="1" smtClean="0"/>
              <a:t>lingkaran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93823" y="5486400"/>
            <a:ext cx="6332619" cy="5967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026442" y="5775158"/>
            <a:ext cx="8373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0" y="5497375"/>
            <a:ext cx="40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Pembuata</a:t>
            </a:r>
            <a:r>
              <a:rPr lang="en-US" dirty="0" smtClean="0"/>
              <a:t> </a:t>
            </a:r>
            <a:r>
              <a:rPr lang="en-US" dirty="0" err="1" smtClean="0"/>
              <a:t>persegipanjang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21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91890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Contoh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Progam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183077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Hasil</a:t>
            </a: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2" y="2492595"/>
            <a:ext cx="6604339" cy="40007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733" y="2492595"/>
            <a:ext cx="3860998" cy="248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3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1198" y="1562055"/>
            <a:ext cx="916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 err="1" smtClean="0"/>
              <a:t>Membuat</a:t>
            </a:r>
            <a:r>
              <a:rPr lang="en-US" sz="2800" b="1" u="sng" dirty="0" smtClean="0"/>
              <a:t> Text(</a:t>
            </a:r>
            <a:r>
              <a:rPr lang="en-US" sz="2800" b="1" u="sng" dirty="0" err="1" smtClean="0"/>
              <a:t>Tulisan</a:t>
            </a:r>
            <a:r>
              <a:rPr lang="en-US" sz="2800" b="1" u="sng" dirty="0" smtClean="0"/>
              <a:t>)</a:t>
            </a:r>
            <a:endParaRPr lang="en-US" sz="2800" b="1" u="sng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029" y="2156059"/>
            <a:ext cx="10645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err="1">
                <a:solidFill>
                  <a:srgbClr val="202124"/>
                </a:solidFill>
                <a:latin typeface="Segoe UI (Body)"/>
              </a:rPr>
              <a:t>Metode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b="1" dirty="0" smtClean="0">
                <a:solidFill>
                  <a:srgbClr val="202124"/>
                </a:solidFill>
                <a:latin typeface="Segoe UI (Body)"/>
              </a:rPr>
              <a:t>cv2.putText(</a:t>
            </a:r>
            <a:r>
              <a:rPr lang="en-US" b="1" dirty="0" err="1" smtClean="0">
                <a:solidFill>
                  <a:srgbClr val="202124"/>
                </a:solidFill>
                <a:latin typeface="Segoe UI (Body)"/>
              </a:rPr>
              <a:t>image,text,koordinat,font</a:t>
            </a:r>
            <a:r>
              <a:rPr lang="en-US" b="1" dirty="0" smtClean="0">
                <a:solidFill>
                  <a:srgbClr val="202124"/>
                </a:solidFill>
                <a:latin typeface="Segoe UI (Body)"/>
              </a:rPr>
              <a:t>,</a:t>
            </a:r>
            <a:r>
              <a:rPr lang="en-US" b="1" i="1" dirty="0">
                <a:latin typeface="Segoe UI (Body)"/>
              </a:rPr>
              <a:t> </a:t>
            </a:r>
            <a:r>
              <a:rPr lang="en-US" b="1" i="1" dirty="0" err="1" smtClean="0">
                <a:latin typeface="Segoe UI (Body)"/>
              </a:rPr>
              <a:t>fontScale,warna,ketebalan</a:t>
            </a:r>
            <a:r>
              <a:rPr lang="en-US" b="1" dirty="0" smtClean="0">
                <a:solidFill>
                  <a:srgbClr val="202124"/>
                </a:solidFill>
                <a:latin typeface="Segoe UI (Body)"/>
              </a:rPr>
              <a:t>)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digunakan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untuk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menggambar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string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teks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pada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Segoe UI (Body)"/>
              </a:rPr>
              <a:t>apa</a:t>
            </a:r>
            <a:r>
              <a:rPr lang="en-US" dirty="0">
                <a:solidFill>
                  <a:srgbClr val="202124"/>
                </a:solidFill>
                <a:latin typeface="Segoe UI (Body)"/>
              </a:rPr>
              <a:t> pun</a:t>
            </a:r>
            <a:r>
              <a:rPr lang="en-US" dirty="0" smtClean="0">
                <a:solidFill>
                  <a:srgbClr val="202124"/>
                </a:solidFill>
                <a:latin typeface="Segoe UI (Body)"/>
              </a:rPr>
              <a:t>.</a:t>
            </a:r>
            <a:endParaRPr lang="en-US" dirty="0">
              <a:latin typeface="Segoe UI (Body)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29" y="3083659"/>
            <a:ext cx="6448252" cy="327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93533" y="3628724"/>
            <a:ext cx="2030930" cy="3272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9" idx="3"/>
          </p:cNvCxnSpPr>
          <p:nvPr/>
        </p:nvCxnSpPr>
        <p:spPr>
          <a:xfrm flipV="1">
            <a:off x="3224463" y="3792353"/>
            <a:ext cx="458162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93533" y="4071488"/>
            <a:ext cx="3205212" cy="2983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6" idx="3"/>
          </p:cNvCxnSpPr>
          <p:nvPr/>
        </p:nvCxnSpPr>
        <p:spPr>
          <a:xfrm flipV="1">
            <a:off x="4398745" y="4220679"/>
            <a:ext cx="340734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93533" y="4514249"/>
            <a:ext cx="1694046" cy="2983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1" idx="3"/>
          </p:cNvCxnSpPr>
          <p:nvPr/>
        </p:nvCxnSpPr>
        <p:spPr>
          <a:xfrm flipV="1">
            <a:off x="2887579" y="4663440"/>
            <a:ext cx="491850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93533" y="4976262"/>
            <a:ext cx="2252311" cy="7315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4" idx="3"/>
          </p:cNvCxnSpPr>
          <p:nvPr/>
        </p:nvCxnSpPr>
        <p:spPr>
          <a:xfrm>
            <a:off x="3445844" y="5342022"/>
            <a:ext cx="43602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92452" y="3201840"/>
            <a:ext cx="4263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202124"/>
                </a:solidFill>
                <a:latin typeface="inherit"/>
              </a:rPr>
              <a:t>koordinat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sudut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202124"/>
                </a:solidFill>
                <a:latin typeface="inherit"/>
              </a:rPr>
              <a:t>kiri</a:t>
            </a:r>
            <a:r>
              <a:rPr lang="en-US" b="1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202124"/>
                </a:solidFill>
                <a:latin typeface="inherit"/>
              </a:rPr>
              <a:t>bawah</a:t>
            </a:r>
            <a:r>
              <a:rPr lang="en-US" b="1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b="1" dirty="0" err="1" smtClean="0">
                <a:solidFill>
                  <a:srgbClr val="202124"/>
                </a:solidFill>
                <a:latin typeface="inherit"/>
              </a:rPr>
              <a:t>teks</a:t>
            </a:r>
            <a:r>
              <a:rPr lang="en-US" b="1" dirty="0" smtClean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pada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gambar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. </a:t>
            </a:r>
            <a:r>
              <a:rPr lang="en-US" dirty="0" err="1" smtClean="0">
                <a:solidFill>
                  <a:srgbClr val="202124"/>
                </a:solidFill>
                <a:latin typeface="inherit"/>
              </a:rPr>
              <a:t>Koordinat</a:t>
            </a:r>
            <a:r>
              <a:rPr lang="en-US" dirty="0" smtClean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 smtClean="0">
                <a:solidFill>
                  <a:srgbClr val="202124"/>
                </a:solidFill>
                <a:latin typeface="inherit"/>
              </a:rPr>
              <a:t>ini</a:t>
            </a:r>
            <a:r>
              <a:rPr lang="en-US" dirty="0" smtClean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 smtClean="0">
                <a:solidFill>
                  <a:srgbClr val="202124"/>
                </a:solidFill>
                <a:latin typeface="inherit"/>
              </a:rPr>
              <a:t>nilai</a:t>
            </a:r>
            <a:r>
              <a:rPr lang="en-US" dirty="0" smtClean="0">
                <a:solidFill>
                  <a:srgbClr val="202124"/>
                </a:solidFill>
                <a:latin typeface="inherit"/>
              </a:rPr>
              <a:t> (</a:t>
            </a:r>
            <a:r>
              <a:rPr lang="en-US" b="1" dirty="0" err="1" smtClean="0">
                <a:solidFill>
                  <a:srgbClr val="202124"/>
                </a:solidFill>
                <a:latin typeface="inherit"/>
              </a:rPr>
              <a:t>nilai</a:t>
            </a:r>
            <a:r>
              <a:rPr lang="en-US" b="1" dirty="0" smtClean="0">
                <a:solidFill>
                  <a:srgbClr val="202124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202124"/>
                </a:solidFill>
                <a:latin typeface="inherit"/>
              </a:rPr>
              <a:t>koordinat</a:t>
            </a:r>
            <a:r>
              <a:rPr lang="en-US" b="1" dirty="0">
                <a:solidFill>
                  <a:srgbClr val="202124"/>
                </a:solidFill>
                <a:latin typeface="inherit"/>
              </a:rPr>
              <a:t> X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, </a:t>
            </a:r>
            <a:r>
              <a:rPr lang="en-US" b="1" dirty="0" err="1">
                <a:solidFill>
                  <a:srgbClr val="202124"/>
                </a:solidFill>
                <a:latin typeface="inherit"/>
              </a:rPr>
              <a:t>nilai</a:t>
            </a:r>
            <a:r>
              <a:rPr lang="en-US" b="1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202124"/>
                </a:solidFill>
                <a:latin typeface="inherit"/>
              </a:rPr>
              <a:t>koordinat</a:t>
            </a:r>
            <a:r>
              <a:rPr lang="en-US" b="1" dirty="0">
                <a:solidFill>
                  <a:srgbClr val="202124"/>
                </a:solidFill>
                <a:latin typeface="inherit"/>
              </a:rPr>
              <a:t> Y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).</a:t>
            </a:r>
            <a:r>
              <a:rPr lang="en-US" sz="600" dirty="0"/>
              <a:t> 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92452" y="4036013"/>
            <a:ext cx="3874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Menunjukan</a:t>
            </a:r>
            <a:r>
              <a:rPr lang="en-US" dirty="0" smtClean="0"/>
              <a:t> </a:t>
            </a:r>
            <a:r>
              <a:rPr lang="en-US" b="1" dirty="0" err="1" smtClean="0"/>
              <a:t>jenis</a:t>
            </a:r>
            <a:r>
              <a:rPr lang="en-US" b="1" dirty="0" smtClean="0"/>
              <a:t> Font text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792452" y="5198533"/>
            <a:ext cx="40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ketebalan</a:t>
            </a:r>
            <a:r>
              <a:rPr lang="en-US" dirty="0" smtClean="0"/>
              <a:t> </a:t>
            </a:r>
            <a:r>
              <a:rPr lang="en-US" dirty="0" err="1" smtClean="0"/>
              <a:t>tulisan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792452" y="4478774"/>
            <a:ext cx="4081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202124"/>
                </a:solidFill>
                <a:latin typeface="inherit"/>
              </a:rPr>
              <a:t>Faktor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skala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font yang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dikalikan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dengan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ukuran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dasar</a:t>
            </a:r>
            <a:r>
              <a:rPr lang="en-US" dirty="0">
                <a:solidFill>
                  <a:srgbClr val="202124"/>
                </a:solidFill>
                <a:latin typeface="inherit"/>
              </a:rPr>
              <a:t> font-</a:t>
            </a:r>
            <a:r>
              <a:rPr lang="en-US" dirty="0" err="1">
                <a:solidFill>
                  <a:srgbClr val="202124"/>
                </a:solidFill>
                <a:latin typeface="inherit"/>
              </a:rPr>
              <a:t>spesifik</a:t>
            </a:r>
            <a:r>
              <a:rPr lang="en-US" sz="600" dirty="0"/>
              <a:t> 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93533" y="5842535"/>
            <a:ext cx="6121667" cy="5197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15200" y="6179419"/>
            <a:ext cx="4772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92452" y="5779251"/>
            <a:ext cx="4081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Menciptakan</a:t>
            </a:r>
            <a:r>
              <a:rPr lang="en-US" dirty="0" smtClean="0"/>
              <a:t> </a:t>
            </a:r>
            <a:r>
              <a:rPr lang="en-US" dirty="0" err="1" smtClean="0"/>
              <a:t>tulisan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b="1" dirty="0" smtClean="0"/>
              <a:t>cv2.putText()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5266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Dasar</a:t>
            </a:r>
            <a:r>
              <a:rPr lang="en-US" b="1" dirty="0" smtClean="0"/>
              <a:t> – </a:t>
            </a:r>
            <a:r>
              <a:rPr lang="en-US" b="1" dirty="0" err="1" smtClean="0"/>
              <a:t>Dasar</a:t>
            </a:r>
            <a:r>
              <a:rPr lang="en-US" b="1" dirty="0" smtClean="0"/>
              <a:t> </a:t>
            </a:r>
            <a:r>
              <a:rPr lang="en-US" b="1" dirty="0" err="1" smtClean="0"/>
              <a:t>Gambar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91890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Contoh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Progam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183077" y="2030930"/>
            <a:ext cx="292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Hasil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57" y="2492595"/>
            <a:ext cx="6255071" cy="41848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928" y="2492595"/>
            <a:ext cx="3835597" cy="2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79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1323" y="4348340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Selamat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Belajar</a:t>
            </a:r>
            <a:r>
              <a:rPr lang="en-US" sz="2400" dirty="0" smtClean="0">
                <a:solidFill>
                  <a:schemeClr val="bg1"/>
                </a:solidFill>
              </a:rPr>
              <a:t>..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4873beb7-5857-4685-be1f-d57550cc96c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1619</TotalTime>
  <Words>794</Words>
  <Application>Microsoft Office PowerPoint</Application>
  <PresentationFormat>Widescreen</PresentationFormat>
  <Paragraphs>116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inherit</vt:lpstr>
      <vt:lpstr>Segoe UI</vt:lpstr>
      <vt:lpstr>Segoe UI (Body)</vt:lpstr>
      <vt:lpstr>Segoe UI Light</vt:lpstr>
      <vt:lpstr>WelcomeDoc</vt:lpstr>
      <vt:lpstr>Pengolahan Citra Digital</vt:lpstr>
      <vt:lpstr>Apa itu OpenCV?</vt:lpstr>
      <vt:lpstr>Fitur – Fitur OpenCV</vt:lpstr>
      <vt:lpstr>Fitur – Fitur OpenCV</vt:lpstr>
      <vt:lpstr>Install OpenCV di python</vt:lpstr>
      <vt:lpstr>Install OpenCV di python</vt:lpstr>
      <vt:lpstr>Dasar – Dasar Gambar</vt:lpstr>
      <vt:lpstr>Dasar-Dasar Gambar</vt:lpstr>
      <vt:lpstr>Dasar-Dasar Gambar</vt:lpstr>
      <vt:lpstr>Dasar-Dasar Gambar</vt:lpstr>
      <vt:lpstr>Dasar – Dasar Gambar</vt:lpstr>
      <vt:lpstr>Dasar – Dasar Gambar</vt:lpstr>
      <vt:lpstr>Dasar – Dasar Gambar</vt:lpstr>
      <vt:lpstr>Dasar – Dasar Gambar</vt:lpstr>
      <vt:lpstr>Dasar – Dasar Gambar</vt:lpstr>
      <vt:lpstr>Dasar – Dasar Gambar</vt:lpstr>
      <vt:lpstr>Dasar – Dasar Gambar</vt:lpstr>
      <vt:lpstr>Dasar – Dasar Gambar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211</cp:revision>
  <dcterms:created xsi:type="dcterms:W3CDTF">2022-03-01T01:11:31Z</dcterms:created>
  <dcterms:modified xsi:type="dcterms:W3CDTF">2022-03-22T04:25:46Z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